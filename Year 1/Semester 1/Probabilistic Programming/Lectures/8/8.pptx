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3672" r:id="rId4"/>
  </p:sldMasterIdLst>
  <p:notesMasterIdLst>
    <p:notesMasterId r:id="rId29"/>
  </p:notesMasterIdLst>
  <p:handoutMasterIdLst>
    <p:handoutMasterId r:id="rId30"/>
  </p:handoutMasterIdLst>
  <p:sldIdLst>
    <p:sldId id="256" r:id="rId5"/>
    <p:sldId id="257" r:id="rId6"/>
    <p:sldId id="267" r:id="rId7"/>
    <p:sldId id="268" r:id="rId8"/>
    <p:sldId id="313" r:id="rId9"/>
    <p:sldId id="269" r:id="rId10"/>
    <p:sldId id="270" r:id="rId11"/>
    <p:sldId id="271" r:id="rId12"/>
    <p:sldId id="272" r:id="rId13"/>
    <p:sldId id="273" r:id="rId14"/>
    <p:sldId id="274" r:id="rId15"/>
    <p:sldId id="276" r:id="rId16"/>
    <p:sldId id="275" r:id="rId17"/>
    <p:sldId id="314" r:id="rId18"/>
    <p:sldId id="315" r:id="rId19"/>
    <p:sldId id="277" r:id="rId20"/>
    <p:sldId id="319" r:id="rId21"/>
    <p:sldId id="320" r:id="rId22"/>
    <p:sldId id="322" r:id="rId23"/>
    <p:sldId id="280" r:id="rId24"/>
    <p:sldId id="321" r:id="rId25"/>
    <p:sldId id="323" r:id="rId26"/>
    <p:sldId id="324" r:id="rId27"/>
    <p:sldId id="325" r:id="rId2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E3E3E"/>
    <a:srgbClr val="6D0000"/>
  </p:clrMru>
  <p:extLst>
    <p:ext uri="{E76CE94A-603C-4142-B9EB-6D1370010A27}">
      <p14:discardImageEditData xmlns:p14="http://schemas.microsoft.com/office/powerpoint/2010/main" val="0"/>
    </p:ext>
    <p:ext uri="{D31A062A-798A-4329-ABDD-BBA856620510}">
      <p14:defaultImageDpi xmlns:p14="http://schemas.microsoft.com/office/powerpoint/2010/main" val="96"/>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9C7853C-536D-4A76-A0AE-DD22124D55A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84346" autoAdjust="0"/>
  </p:normalViewPr>
  <p:slideViewPr>
    <p:cSldViewPr snapToGrid="0">
      <p:cViewPr varScale="1">
        <p:scale>
          <a:sx n="98" d="100"/>
          <a:sy n="98" d="100"/>
        </p:scale>
        <p:origin x="1074" y="312"/>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55" d="100"/>
          <a:sy n="55" d="100"/>
        </p:scale>
        <p:origin x="2880" y="9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handoutMaster" Target="handoutMasters/handoutMaster1.xml"/><Relationship Id="rId8" Type="http://schemas.openxmlformats.org/officeDocument/2006/relationships/slide" Target="slides/slide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73EDD3B8-5E68-48E9-AAB1-5DE570C28ED1}"/>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4A897E35-4312-4077-83D3-69953080BC2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E836F02-AF67-416B-AB85-08CFF698F86D}" type="datetimeFigureOut">
              <a:rPr lang="en-US" smtClean="0"/>
              <a:t>1/26/2026</a:t>
            </a:fld>
            <a:endParaRPr lang="en-US" dirty="0"/>
          </a:p>
        </p:txBody>
      </p:sp>
      <p:sp>
        <p:nvSpPr>
          <p:cNvPr id="4" name="Footer Placeholder 3">
            <a:extLst>
              <a:ext uri="{FF2B5EF4-FFF2-40B4-BE49-F238E27FC236}">
                <a16:creationId xmlns:a16="http://schemas.microsoft.com/office/drawing/2014/main" id="{75853C52-2B92-4B9E-86F4-DB78684BEC8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D20E0EA4-BAD2-4335-9446-CA4CCFEC14A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D65BC62-3B36-43F8-8B69-D6E5E743DA31}" type="slidenum">
              <a:rPr lang="en-US" smtClean="0"/>
              <a:t>‹#›</a:t>
            </a:fld>
            <a:endParaRPr lang="en-US" dirty="0"/>
          </a:p>
        </p:txBody>
      </p:sp>
    </p:spTree>
    <p:extLst>
      <p:ext uri="{BB962C8B-B14F-4D97-AF65-F5344CB8AC3E}">
        <p14:creationId xmlns:p14="http://schemas.microsoft.com/office/powerpoint/2010/main" val="331651848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5B7E8F0-931C-4E43-98D1-A3CD0E0034DC}" type="datetimeFigureOut">
              <a:rPr lang="en-US" smtClean="0"/>
              <a:t>1/26/2026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6AEB063-7F11-4E3B-BA52-07405B1C2D95}" type="slidenum">
              <a:rPr lang="en-US" smtClean="0"/>
              <a:t>‹#›</a:t>
            </a:fld>
            <a:endParaRPr lang="en-US" dirty="0"/>
          </a:p>
        </p:txBody>
      </p:sp>
    </p:spTree>
    <p:extLst>
      <p:ext uri="{BB962C8B-B14F-4D97-AF65-F5344CB8AC3E}">
        <p14:creationId xmlns:p14="http://schemas.microsoft.com/office/powerpoint/2010/main" val="18629302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6AEB063-7F11-4E3B-BA52-07405B1C2D95}" type="slidenum">
              <a:rPr lang="en-US" smtClean="0"/>
              <a:t>1</a:t>
            </a:fld>
            <a:endParaRPr lang="en-US" dirty="0"/>
          </a:p>
        </p:txBody>
      </p:sp>
    </p:spTree>
    <p:extLst>
      <p:ext uri="{BB962C8B-B14F-4D97-AF65-F5344CB8AC3E}">
        <p14:creationId xmlns:p14="http://schemas.microsoft.com/office/powerpoint/2010/main" val="20651671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E381388F-6D01-4763-9497-2C5F78AF5477}"/>
              </a:ext>
            </a:extLst>
          </p:cNvPr>
          <p:cNvSpPr/>
          <p:nvPr userDrawn="1"/>
        </p:nvSpPr>
        <p:spPr>
          <a:xfrm>
            <a:off x="0" y="4818185"/>
            <a:ext cx="12192000" cy="203981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6"/>
          <p:cNvSpPr/>
          <p:nvPr/>
        </p:nvSpPr>
        <p:spPr bwMode="ltGray">
          <a:xfrm>
            <a:off x="0" y="-3175"/>
            <a:ext cx="12192000" cy="5203825"/>
          </a:xfrm>
          <a:custGeom>
            <a:avLst/>
            <a:gdLst/>
            <a:ahLst/>
            <a:cxnLst/>
            <a:rect l="0" t="0" r="r" b="b"/>
            <a:pathLst>
              <a:path w="5760" h="3278">
                <a:moveTo>
                  <a:pt x="5760" y="0"/>
                </a:moveTo>
                <a:lnTo>
                  <a:pt x="0" y="0"/>
                </a:lnTo>
                <a:lnTo>
                  <a:pt x="0" y="3090"/>
                </a:lnTo>
                <a:lnTo>
                  <a:pt x="943" y="3090"/>
                </a:lnTo>
                <a:lnTo>
                  <a:pt x="1123" y="3270"/>
                </a:lnTo>
                <a:lnTo>
                  <a:pt x="1123" y="3270"/>
                </a:lnTo>
                <a:lnTo>
                  <a:pt x="1127" y="3272"/>
                </a:lnTo>
                <a:lnTo>
                  <a:pt x="1133" y="3275"/>
                </a:lnTo>
                <a:lnTo>
                  <a:pt x="1139" y="3278"/>
                </a:lnTo>
                <a:lnTo>
                  <a:pt x="1144" y="3278"/>
                </a:lnTo>
                <a:lnTo>
                  <a:pt x="1150" y="3278"/>
                </a:lnTo>
                <a:lnTo>
                  <a:pt x="1155" y="3275"/>
                </a:lnTo>
                <a:lnTo>
                  <a:pt x="1161" y="3272"/>
                </a:lnTo>
                <a:lnTo>
                  <a:pt x="1165" y="3270"/>
                </a:lnTo>
                <a:lnTo>
                  <a:pt x="1345" y="3090"/>
                </a:lnTo>
                <a:lnTo>
                  <a:pt x="5760" y="3090"/>
                </a:lnTo>
                <a:lnTo>
                  <a:pt x="5760" y="0"/>
                </a:lnTo>
                <a:close/>
              </a:path>
            </a:pathLst>
          </a:custGeom>
          <a:ln/>
          <a:effectLst>
            <a:innerShdw blurRad="63500" dist="50800" dir="5400000">
              <a:prstClr val="black">
                <a:alpha val="50000"/>
              </a:prstClr>
            </a:innerShdw>
          </a:effectLst>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p:cNvSpPr>
            <a:spLocks noGrp="1"/>
          </p:cNvSpPr>
          <p:nvPr>
            <p:ph type="ctrTitle"/>
          </p:nvPr>
        </p:nvSpPr>
        <p:spPr>
          <a:xfrm>
            <a:off x="810001" y="1449147"/>
            <a:ext cx="10572000" cy="2971051"/>
          </a:xfrm>
        </p:spPr>
        <p:txBody>
          <a:bodyPr/>
          <a:lstStyle>
            <a:lvl1pPr algn="ctr">
              <a:defRPr sz="5400" b="0"/>
            </a:lvl1pPr>
          </a:lstStyle>
          <a:p>
            <a:r>
              <a:rPr lang="en-US"/>
              <a:t>Click to edit Master title style</a:t>
            </a:r>
            <a:endParaRPr lang="en-US" dirty="0"/>
          </a:p>
        </p:txBody>
      </p:sp>
      <p:sp>
        <p:nvSpPr>
          <p:cNvPr id="3" name="Subtitle 2"/>
          <p:cNvSpPr>
            <a:spLocks noGrp="1"/>
          </p:cNvSpPr>
          <p:nvPr>
            <p:ph type="subTitle" idx="1"/>
          </p:nvPr>
        </p:nvSpPr>
        <p:spPr>
          <a:xfrm>
            <a:off x="810001" y="5280847"/>
            <a:ext cx="10572000" cy="434974"/>
          </a:xfrm>
        </p:spPr>
        <p:txBody>
          <a:bodyPr anchor="t">
            <a:noAutofit/>
          </a:bodyPr>
          <a:lstStyle>
            <a:lvl1pPr marL="0" indent="0" algn="ctr">
              <a:buNone/>
              <a:defRPr sz="24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FB7F6C47-B260-4BB6-8230-7D14D5CDE026}" type="datetimeFigureOut">
              <a:rPr lang="en-US" smtClean="0"/>
              <a:t>1/26/2026</a:t>
            </a:fld>
            <a:endParaRPr lang="en-US" dirty="0"/>
          </a:p>
        </p:txBody>
      </p:sp>
      <p:sp>
        <p:nvSpPr>
          <p:cNvPr id="5" name="Footer Placeholder 4"/>
          <p:cNvSpPr>
            <a:spLocks noGrp="1"/>
          </p:cNvSpPr>
          <p:nvPr>
            <p:ph type="ftr" sz="quarter" idx="11"/>
          </p:nvPr>
        </p:nvSpPr>
        <p:spPr/>
        <p:txBody>
          <a:bodyPr/>
          <a:lstStyle/>
          <a:p>
            <a:r>
              <a:rPr lang="en-ZA" dirty="0"/>
              <a:t>Add a footer </a:t>
            </a:r>
            <a:endParaRPr lang="en-US" dirty="0"/>
          </a:p>
        </p:txBody>
      </p:sp>
      <p:sp>
        <p:nvSpPr>
          <p:cNvPr id="6" name="Slide Number Placeholder 5"/>
          <p:cNvSpPr>
            <a:spLocks noGrp="1"/>
          </p:cNvSpPr>
          <p:nvPr>
            <p:ph type="sldNum" sz="quarter" idx="12"/>
          </p:nvPr>
        </p:nvSpPr>
        <p:spPr/>
        <p:txBody>
          <a:bodyPr/>
          <a:lstStyle/>
          <a:p>
            <a:fld id="{A4942799-31AF-4FF8-9D79-C1A3E01FB207}" type="slidenum">
              <a:rPr lang="en-US" smtClean="0"/>
              <a:t>‹#›</a:t>
            </a:fld>
            <a:endParaRPr lang="en-US" dirty="0"/>
          </a:p>
        </p:txBody>
      </p:sp>
    </p:spTree>
    <p:extLst>
      <p:ext uri="{BB962C8B-B14F-4D97-AF65-F5344CB8AC3E}">
        <p14:creationId xmlns:p14="http://schemas.microsoft.com/office/powerpoint/2010/main" val="27743267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8" name="Freeform 6"/>
          <p:cNvSpPr/>
          <p:nvPr/>
        </p:nvSpPr>
        <p:spPr bwMode="ltGray">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ffectLst>
            <a:innerShdw blurRad="63500" dist="50800" dir="5400000">
              <a:prstClr val="black">
                <a:alpha val="50000"/>
              </a:prstClr>
            </a:innerShdw>
          </a:effectLst>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nchor="ctr" anchorCtr="0"/>
          <a:lstStyle>
            <a:lvl1pPr>
              <a:defRPr b="0"/>
            </a:lvl1pPr>
          </a:lstStyle>
          <a:p>
            <a:r>
              <a:rPr lang="en-US"/>
              <a:t>Click to edit Master title style</a:t>
            </a:r>
            <a:endParaRPr lang="en-US" dirty="0"/>
          </a:p>
        </p:txBody>
      </p:sp>
      <p:sp>
        <p:nvSpPr>
          <p:cNvPr id="4" name="Content Placeholder 3"/>
          <p:cNvSpPr>
            <a:spLocks noGrp="1"/>
          </p:cNvSpPr>
          <p:nvPr>
            <p:ph sz="half" idx="2"/>
          </p:nvPr>
        </p:nvSpPr>
        <p:spPr>
          <a:xfrm>
            <a:off x="6187415" y="2222287"/>
            <a:ext cx="5194583" cy="3638764"/>
          </a:xfrm>
          <a:noFill/>
          <a:ln w="25400">
            <a:gradFill>
              <a:gsLst>
                <a:gs pos="50000">
                  <a:schemeClr val="bg2"/>
                </a:gs>
                <a:gs pos="0">
                  <a:schemeClr val="bg2"/>
                </a:gs>
                <a:gs pos="100000">
                  <a:schemeClr val="accent1"/>
                </a:gs>
              </a:gsLst>
              <a:lin ang="5400000" scaled="1"/>
            </a:gradFill>
          </a:ln>
          <a:effectLst>
            <a:outerShdw blurRad="63500" sx="102000" sy="102000" algn="ctr" rotWithShape="0">
              <a:prstClr val="black">
                <a:alpha val="40000"/>
              </a:prstClr>
            </a:outerShdw>
          </a:effectLst>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B7F6C47-B260-4BB6-8230-7D14D5CDE026}" type="datetimeFigureOut">
              <a:rPr lang="en-US" smtClean="0"/>
              <a:t>1/26/2026</a:t>
            </a:fld>
            <a:endParaRPr lang="en-US" dirty="0"/>
          </a:p>
        </p:txBody>
      </p:sp>
      <p:sp>
        <p:nvSpPr>
          <p:cNvPr id="6" name="Footer Placeholder 5"/>
          <p:cNvSpPr>
            <a:spLocks noGrp="1"/>
          </p:cNvSpPr>
          <p:nvPr>
            <p:ph type="ftr" sz="quarter" idx="11"/>
          </p:nvPr>
        </p:nvSpPr>
        <p:spPr/>
        <p:txBody>
          <a:bodyPr/>
          <a:lstStyle/>
          <a:p>
            <a:r>
              <a:rPr lang="en-ZA" dirty="0"/>
              <a:t>Add a footer </a:t>
            </a:r>
            <a:endParaRPr lang="en-US" dirty="0"/>
          </a:p>
        </p:txBody>
      </p:sp>
      <p:sp>
        <p:nvSpPr>
          <p:cNvPr id="7" name="Slide Number Placeholder 6"/>
          <p:cNvSpPr>
            <a:spLocks noGrp="1"/>
          </p:cNvSpPr>
          <p:nvPr>
            <p:ph type="sldNum" sz="quarter" idx="12"/>
          </p:nvPr>
        </p:nvSpPr>
        <p:spPr/>
        <p:txBody>
          <a:bodyPr/>
          <a:lstStyle/>
          <a:p>
            <a:fld id="{A4942799-31AF-4FF8-9D79-C1A3E01FB207}" type="slidenum">
              <a:rPr lang="en-US" smtClean="0"/>
              <a:t>‹#›</a:t>
            </a:fld>
            <a:endParaRPr lang="en-US" dirty="0"/>
          </a:p>
        </p:txBody>
      </p:sp>
      <p:sp>
        <p:nvSpPr>
          <p:cNvPr id="9" name="Content Placeholder 2">
            <a:extLst>
              <a:ext uri="{FF2B5EF4-FFF2-40B4-BE49-F238E27FC236}">
                <a16:creationId xmlns:a16="http://schemas.microsoft.com/office/drawing/2014/main" id="{2A4059F8-A688-4FFE-AA79-3B6D811FA987}"/>
              </a:ext>
            </a:extLst>
          </p:cNvPr>
          <p:cNvSpPr>
            <a:spLocks noGrp="1"/>
          </p:cNvSpPr>
          <p:nvPr>
            <p:ph sz="half" idx="1"/>
          </p:nvPr>
        </p:nvSpPr>
        <p:spPr>
          <a:xfrm>
            <a:off x="838200" y="2222287"/>
            <a:ext cx="5181600" cy="363876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3649104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Section Content Only ">
    <p:spTree>
      <p:nvGrpSpPr>
        <p:cNvPr id="1" name=""/>
        <p:cNvGrpSpPr/>
        <p:nvPr/>
      </p:nvGrpSpPr>
      <p:grpSpPr>
        <a:xfrm>
          <a:off x="0" y="0"/>
          <a:ext cx="0" cy="0"/>
          <a:chOff x="0" y="0"/>
          <a:chExt cx="0" cy="0"/>
        </a:xfrm>
      </p:grpSpPr>
      <p:sp>
        <p:nvSpPr>
          <p:cNvPr id="10" name="Freeform 7"/>
          <p:cNvSpPr/>
          <p:nvPr/>
        </p:nvSpPr>
        <p:spPr bwMode="ltGray">
          <a:xfrm>
            <a:off x="0" y="1"/>
            <a:ext cx="12192000" cy="6251330"/>
          </a:xfrm>
          <a:custGeom>
            <a:avLst/>
            <a:gdLst/>
            <a:ahLst/>
            <a:cxnLst/>
            <a:rect l="0" t="0" r="r" b="b"/>
            <a:pathLst>
              <a:path w="5760" h="3278">
                <a:moveTo>
                  <a:pt x="0" y="0"/>
                </a:moveTo>
                <a:lnTo>
                  <a:pt x="5760" y="0"/>
                </a:lnTo>
                <a:lnTo>
                  <a:pt x="5760" y="3090"/>
                </a:lnTo>
                <a:lnTo>
                  <a:pt x="4817" y="3090"/>
                </a:lnTo>
                <a:lnTo>
                  <a:pt x="4637" y="3270"/>
                </a:lnTo>
                <a:lnTo>
                  <a:pt x="4637" y="3270"/>
                </a:lnTo>
                <a:lnTo>
                  <a:pt x="4633" y="3272"/>
                </a:lnTo>
                <a:lnTo>
                  <a:pt x="4627" y="3275"/>
                </a:lnTo>
                <a:lnTo>
                  <a:pt x="4621" y="3278"/>
                </a:lnTo>
                <a:lnTo>
                  <a:pt x="4616" y="3278"/>
                </a:lnTo>
                <a:lnTo>
                  <a:pt x="4610" y="3278"/>
                </a:lnTo>
                <a:lnTo>
                  <a:pt x="4605" y="3275"/>
                </a:lnTo>
                <a:lnTo>
                  <a:pt x="4599" y="3272"/>
                </a:lnTo>
                <a:lnTo>
                  <a:pt x="4595" y="3270"/>
                </a:lnTo>
                <a:lnTo>
                  <a:pt x="4415" y="3090"/>
                </a:lnTo>
                <a:lnTo>
                  <a:pt x="0" y="3090"/>
                </a:lnTo>
                <a:lnTo>
                  <a:pt x="0" y="0"/>
                </a:lnTo>
                <a:lnTo>
                  <a:pt x="0" y="0"/>
                </a:lnTo>
                <a:close/>
              </a:path>
            </a:pathLst>
          </a:custGeom>
          <a:ln>
            <a:headEnd/>
            <a:tailEnd/>
          </a:ln>
          <a:effectLst>
            <a:innerShdw blurRad="63500" dist="50800" dir="5400000">
              <a:prstClr val="black">
                <a:alpha val="50000"/>
              </a:prstClr>
            </a:innerShdw>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451514" y="451513"/>
            <a:ext cx="11288972" cy="5149187"/>
          </a:xfrm>
        </p:spPr>
        <p:txBody>
          <a:bodyPr anchor="ctr" anchorCtr="0"/>
          <a:lstStyle>
            <a:lvl1pPr algn="ctr">
              <a:defRPr sz="4800" b="0" cap="none"/>
            </a:lvl1pPr>
          </a:lstStyle>
          <a:p>
            <a:r>
              <a:rPr lang="en-US"/>
              <a:t>Click to edit Master title style</a:t>
            </a:r>
            <a:endParaRPr lang="en-US" dirty="0"/>
          </a:p>
        </p:txBody>
      </p:sp>
      <p:sp>
        <p:nvSpPr>
          <p:cNvPr id="4" name="Date Placeholder 3"/>
          <p:cNvSpPr>
            <a:spLocks noGrp="1"/>
          </p:cNvSpPr>
          <p:nvPr>
            <p:ph type="dt" sz="half" idx="10"/>
          </p:nvPr>
        </p:nvSpPr>
        <p:spPr/>
        <p:txBody>
          <a:bodyPr/>
          <a:lstStyle/>
          <a:p>
            <a:fld id="{FB7F6C47-B260-4BB6-8230-7D14D5CDE026}" type="datetimeFigureOut">
              <a:rPr lang="en-US" smtClean="0"/>
              <a:t>1/26/2026</a:t>
            </a:fld>
            <a:endParaRPr lang="en-US" dirty="0"/>
          </a:p>
        </p:txBody>
      </p:sp>
      <p:sp>
        <p:nvSpPr>
          <p:cNvPr id="5" name="Footer Placeholder 4"/>
          <p:cNvSpPr>
            <a:spLocks noGrp="1"/>
          </p:cNvSpPr>
          <p:nvPr>
            <p:ph type="ftr" sz="quarter" idx="11"/>
          </p:nvPr>
        </p:nvSpPr>
        <p:spPr/>
        <p:txBody>
          <a:bodyPr/>
          <a:lstStyle/>
          <a:p>
            <a:r>
              <a:rPr lang="en-ZA" dirty="0"/>
              <a:t>Add a footer </a:t>
            </a:r>
            <a:endParaRPr lang="en-US" dirty="0"/>
          </a:p>
        </p:txBody>
      </p:sp>
      <p:sp>
        <p:nvSpPr>
          <p:cNvPr id="6" name="Slide Number Placeholder 5"/>
          <p:cNvSpPr>
            <a:spLocks noGrp="1"/>
          </p:cNvSpPr>
          <p:nvPr>
            <p:ph type="sldNum" sz="quarter" idx="12"/>
          </p:nvPr>
        </p:nvSpPr>
        <p:spPr/>
        <p:txBody>
          <a:bodyPr/>
          <a:lstStyle/>
          <a:p>
            <a:fld id="{A4942799-31AF-4FF8-9D79-C1A3E01FB207}" type="slidenum">
              <a:rPr lang="en-US" smtClean="0"/>
              <a:t>‹#›</a:t>
            </a:fld>
            <a:endParaRPr lang="en-US" dirty="0"/>
          </a:p>
        </p:txBody>
      </p:sp>
    </p:spTree>
    <p:extLst>
      <p:ext uri="{BB962C8B-B14F-4D97-AF65-F5344CB8AC3E}">
        <p14:creationId xmlns:p14="http://schemas.microsoft.com/office/powerpoint/2010/main" val="29731931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sp>
        <p:nvSpPr>
          <p:cNvPr id="8" name="Freeform 6"/>
          <p:cNvSpPr/>
          <p:nvPr/>
        </p:nvSpPr>
        <p:spPr bwMode="ltGray">
          <a:xfrm flipH="1">
            <a:off x="12699" y="0"/>
            <a:ext cx="6004585" cy="2041975"/>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ffectLst>
            <a:innerShdw blurRad="63500" dist="50800" dir="8100000">
              <a:prstClr val="black">
                <a:alpha val="50000"/>
              </a:prstClr>
            </a:innerShdw>
          </a:effectLst>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451514" y="375313"/>
            <a:ext cx="5114017" cy="1139895"/>
          </a:xfrm>
        </p:spPr>
        <p:txBody>
          <a:bodyPr/>
          <a:lstStyle>
            <a:lvl1pPr algn="l">
              <a:defRPr b="0"/>
            </a:lvl1pPr>
          </a:lstStyle>
          <a:p>
            <a:r>
              <a:rPr lang="en-US"/>
              <a:t>Click to edit Master title style</a:t>
            </a:r>
            <a:endParaRPr lang="en-US" dirty="0"/>
          </a:p>
        </p:txBody>
      </p:sp>
      <p:sp>
        <p:nvSpPr>
          <p:cNvPr id="3" name="Content Placeholder 2"/>
          <p:cNvSpPr>
            <a:spLocks noGrp="1"/>
          </p:cNvSpPr>
          <p:nvPr>
            <p:ph sz="half" idx="1"/>
          </p:nvPr>
        </p:nvSpPr>
        <p:spPr>
          <a:xfrm>
            <a:off x="451514" y="2222287"/>
            <a:ext cx="5553071" cy="3638763"/>
          </a:xfrm>
          <a:ln w="25400">
            <a:gradFill>
              <a:gsLst>
                <a:gs pos="0">
                  <a:schemeClr val="bg2"/>
                </a:gs>
                <a:gs pos="50000">
                  <a:srgbClr val="4A3030"/>
                </a:gs>
                <a:gs pos="100000">
                  <a:schemeClr val="accent1"/>
                </a:gs>
              </a:gsLst>
              <a:lin ang="5400000" scaled="1"/>
            </a:gradFill>
          </a:ln>
          <a:effectLst>
            <a:outerShdw blurRad="63500" sx="102000" sy="102000" algn="ctr" rotWithShape="0">
              <a:prstClr val="black">
                <a:alpha val="40000"/>
              </a:prstClr>
            </a:outerShdw>
          </a:effectLst>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B7F6C47-B260-4BB6-8230-7D14D5CDE026}" type="datetimeFigureOut">
              <a:rPr lang="en-US" smtClean="0"/>
              <a:t>1/26/2026</a:t>
            </a:fld>
            <a:endParaRPr lang="en-US" dirty="0"/>
          </a:p>
        </p:txBody>
      </p:sp>
      <p:sp>
        <p:nvSpPr>
          <p:cNvPr id="6" name="Footer Placeholder 5"/>
          <p:cNvSpPr>
            <a:spLocks noGrp="1"/>
          </p:cNvSpPr>
          <p:nvPr>
            <p:ph type="ftr" sz="quarter" idx="11"/>
          </p:nvPr>
        </p:nvSpPr>
        <p:spPr/>
        <p:txBody>
          <a:bodyPr/>
          <a:lstStyle/>
          <a:p>
            <a:r>
              <a:rPr lang="en-ZA" dirty="0"/>
              <a:t>Add a footer </a:t>
            </a:r>
            <a:endParaRPr lang="en-US" dirty="0"/>
          </a:p>
        </p:txBody>
      </p:sp>
      <p:sp>
        <p:nvSpPr>
          <p:cNvPr id="7" name="Slide Number Placeholder 6"/>
          <p:cNvSpPr>
            <a:spLocks noGrp="1"/>
          </p:cNvSpPr>
          <p:nvPr>
            <p:ph type="sldNum" sz="quarter" idx="12"/>
          </p:nvPr>
        </p:nvSpPr>
        <p:spPr/>
        <p:txBody>
          <a:bodyPr/>
          <a:lstStyle/>
          <a:p>
            <a:fld id="{A4942799-31AF-4FF8-9D79-C1A3E01FB207}" type="slidenum">
              <a:rPr lang="en-US" smtClean="0"/>
              <a:t>‹#›</a:t>
            </a:fld>
            <a:endParaRPr lang="en-US" dirty="0"/>
          </a:p>
        </p:txBody>
      </p:sp>
      <p:sp>
        <p:nvSpPr>
          <p:cNvPr id="9" name="Content Placeholder 9">
            <a:extLst>
              <a:ext uri="{FF2B5EF4-FFF2-40B4-BE49-F238E27FC236}">
                <a16:creationId xmlns:a16="http://schemas.microsoft.com/office/drawing/2014/main" id="{C95D556F-51D2-4EF4-B60F-D319BF232882}"/>
              </a:ext>
            </a:extLst>
          </p:cNvPr>
          <p:cNvSpPr>
            <a:spLocks noGrp="1"/>
          </p:cNvSpPr>
          <p:nvPr>
            <p:ph sz="quarter" idx="13"/>
          </p:nvPr>
        </p:nvSpPr>
        <p:spPr>
          <a:xfrm>
            <a:off x="6456099" y="375312"/>
            <a:ext cx="5186363" cy="5485737"/>
          </a:xfrm>
        </p:spPr>
        <p:txBody>
          <a:bodyPr anchor="t" anchorCtr="0">
            <a:normAutofit/>
          </a:bodyPr>
          <a:lstStyle>
            <a:lvl1pPr>
              <a:defRPr sz="2800"/>
            </a:lvl1pPr>
            <a:lvl2pPr>
              <a:defRPr sz="2400"/>
            </a:lvl2pPr>
            <a:lvl3pPr>
              <a:defRPr sz="2000"/>
            </a:lvl3pPr>
            <a:lvl4pPr>
              <a:defRPr sz="1800"/>
            </a:lvl4pPr>
            <a:lvl5pPr>
              <a:defRPr sz="18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5446428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2_Two Content">
    <p:spTree>
      <p:nvGrpSpPr>
        <p:cNvPr id="1" name=""/>
        <p:cNvGrpSpPr/>
        <p:nvPr/>
      </p:nvGrpSpPr>
      <p:grpSpPr>
        <a:xfrm>
          <a:off x="0" y="0"/>
          <a:ext cx="0" cy="0"/>
          <a:chOff x="0" y="0"/>
          <a:chExt cx="0" cy="0"/>
        </a:xfrm>
      </p:grpSpPr>
      <p:sp>
        <p:nvSpPr>
          <p:cNvPr id="8" name="Freeform 6"/>
          <p:cNvSpPr/>
          <p:nvPr/>
        </p:nvSpPr>
        <p:spPr bwMode="ltGray">
          <a:xfrm flipH="1">
            <a:off x="6187414" y="0"/>
            <a:ext cx="6004583" cy="2041975"/>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ffectLst>
            <a:innerShdw blurRad="63500" dist="50800" dir="2700000">
              <a:prstClr val="black">
                <a:alpha val="50000"/>
              </a:prstClr>
            </a:innerShdw>
          </a:effectLst>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6632696" y="359551"/>
            <a:ext cx="5114017" cy="1139895"/>
          </a:xfrm>
        </p:spPr>
        <p:txBody>
          <a:bodyPr/>
          <a:lstStyle>
            <a:lvl1pPr algn="l">
              <a:defRPr b="0"/>
            </a:lvl1pPr>
          </a:lstStyle>
          <a:p>
            <a:r>
              <a:rPr lang="en-US"/>
              <a:t>Click to edit Master title style</a:t>
            </a:r>
            <a:endParaRPr lang="en-US" dirty="0"/>
          </a:p>
        </p:txBody>
      </p:sp>
      <p:sp>
        <p:nvSpPr>
          <p:cNvPr id="3" name="Content Placeholder 2"/>
          <p:cNvSpPr>
            <a:spLocks noGrp="1"/>
          </p:cNvSpPr>
          <p:nvPr>
            <p:ph sz="half" idx="1" hasCustomPrompt="1"/>
          </p:nvPr>
        </p:nvSpPr>
        <p:spPr>
          <a:xfrm>
            <a:off x="451514" y="451513"/>
            <a:ext cx="5553071" cy="5409537"/>
          </a:xfrm>
        </p:spPr>
        <p:txBody>
          <a:bodyPr anchor="t" anchorCtr="0">
            <a:normAutofit/>
          </a:bodyPr>
          <a:lstStyle>
            <a:lvl1pPr>
              <a:defRPr sz="2800"/>
            </a:lvl1pPr>
            <a:lvl2pPr>
              <a:defRPr sz="2800"/>
            </a:lvl2pPr>
            <a:lvl3pPr>
              <a:defRPr sz="2800"/>
            </a:lvl3pPr>
            <a:lvl4pPr>
              <a:defRPr sz="2800"/>
            </a:lvl4pPr>
            <a:lvl5pPr>
              <a:defRPr sz="28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354563" y="2222287"/>
            <a:ext cx="5553071" cy="3638764"/>
          </a:xfrm>
          <a:ln>
            <a:gradFill>
              <a:gsLst>
                <a:gs pos="0">
                  <a:schemeClr val="bg2"/>
                </a:gs>
                <a:gs pos="50000">
                  <a:schemeClr val="bg2"/>
                </a:gs>
                <a:gs pos="100000">
                  <a:schemeClr val="accent1"/>
                </a:gs>
              </a:gsLst>
              <a:lin ang="5400000" scaled="1"/>
            </a:gradFill>
          </a:ln>
          <a:effectLst>
            <a:outerShdw blurRad="63500" sx="102000" sy="102000" algn="ctr" rotWithShape="0">
              <a:prstClr val="black">
                <a:alpha val="40000"/>
              </a:prstClr>
            </a:outerShdw>
          </a:effectLst>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B7F6C47-B260-4BB6-8230-7D14D5CDE026}" type="datetimeFigureOut">
              <a:rPr lang="en-US" smtClean="0"/>
              <a:t>1/26/2026</a:t>
            </a:fld>
            <a:endParaRPr lang="en-US" dirty="0"/>
          </a:p>
        </p:txBody>
      </p:sp>
      <p:sp>
        <p:nvSpPr>
          <p:cNvPr id="6" name="Footer Placeholder 5"/>
          <p:cNvSpPr>
            <a:spLocks noGrp="1"/>
          </p:cNvSpPr>
          <p:nvPr>
            <p:ph type="ftr" sz="quarter" idx="11"/>
          </p:nvPr>
        </p:nvSpPr>
        <p:spPr/>
        <p:txBody>
          <a:bodyPr/>
          <a:lstStyle/>
          <a:p>
            <a:r>
              <a:rPr lang="en-ZA" dirty="0"/>
              <a:t>Add a footer </a:t>
            </a:r>
            <a:endParaRPr lang="en-US" dirty="0"/>
          </a:p>
        </p:txBody>
      </p:sp>
      <p:sp>
        <p:nvSpPr>
          <p:cNvPr id="7" name="Slide Number Placeholder 6"/>
          <p:cNvSpPr>
            <a:spLocks noGrp="1"/>
          </p:cNvSpPr>
          <p:nvPr>
            <p:ph type="sldNum" sz="quarter" idx="12"/>
          </p:nvPr>
        </p:nvSpPr>
        <p:spPr/>
        <p:txBody>
          <a:bodyPr/>
          <a:lstStyle/>
          <a:p>
            <a:fld id="{A4942799-31AF-4FF8-9D79-C1A3E01FB207}" type="slidenum">
              <a:rPr lang="en-US" smtClean="0"/>
              <a:t>‹#›</a:t>
            </a:fld>
            <a:endParaRPr lang="en-US" dirty="0"/>
          </a:p>
        </p:txBody>
      </p:sp>
    </p:spTree>
    <p:extLst>
      <p:ext uri="{BB962C8B-B14F-4D97-AF65-F5344CB8AC3E}">
        <p14:creationId xmlns:p14="http://schemas.microsoft.com/office/powerpoint/2010/main" val="36870313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B2B99B50-4971-48A5-8202-4CC55C7F97A2}"/>
              </a:ext>
            </a:extLst>
          </p:cNvPr>
          <p:cNvSpPr>
            <a:spLocks noGrp="1"/>
          </p:cNvSpPr>
          <p:nvPr>
            <p:ph type="pic" idx="1"/>
          </p:nvPr>
        </p:nvSpPr>
        <p:spPr>
          <a:xfrm>
            <a:off x="6096000" y="0"/>
            <a:ext cx="6096000" cy="6857999"/>
          </a:xfrm>
          <a:custGeom>
            <a:avLst/>
            <a:gdLst>
              <a:gd name="connsiteX0" fmla="*/ 404916 w 6526400"/>
              <a:gd name="connsiteY0" fmla="*/ 0 h 6857999"/>
              <a:gd name="connsiteX1" fmla="*/ 1425163 w 6526400"/>
              <a:gd name="connsiteY1" fmla="*/ 0 h 6857999"/>
              <a:gd name="connsiteX2" fmla="*/ 2955534 w 6526400"/>
              <a:gd name="connsiteY2" fmla="*/ 0 h 6857999"/>
              <a:gd name="connsiteX3" fmla="*/ 6526400 w 6526400"/>
              <a:gd name="connsiteY3" fmla="*/ 0 h 6857999"/>
              <a:gd name="connsiteX4" fmla="*/ 6526400 w 6526400"/>
              <a:gd name="connsiteY4" fmla="*/ 6857999 h 6857999"/>
              <a:gd name="connsiteX5" fmla="*/ 404916 w 6526400"/>
              <a:gd name="connsiteY5" fmla="*/ 6857999 h 6857999"/>
              <a:gd name="connsiteX6" fmla="*/ 377830 w 6526400"/>
              <a:gd name="connsiteY6" fmla="*/ 2463800 h 6857999"/>
              <a:gd name="connsiteX7" fmla="*/ 0 w 6526400"/>
              <a:gd name="connsiteY7" fmla="*/ 2203407 h 6857999"/>
              <a:gd name="connsiteX8" fmla="*/ 391373 w 6526400"/>
              <a:gd name="connsiteY8" fmla="*/ 1854200 h 6857999"/>
              <a:gd name="connsiteX9" fmla="*/ 404916 w 6526400"/>
              <a:gd name="connsiteY9" fmla="*/ 0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526400" h="6857999">
                <a:moveTo>
                  <a:pt x="404916" y="0"/>
                </a:moveTo>
                <a:lnTo>
                  <a:pt x="1425163" y="0"/>
                </a:lnTo>
                <a:lnTo>
                  <a:pt x="2955534" y="0"/>
                </a:lnTo>
                <a:lnTo>
                  <a:pt x="6526400" y="0"/>
                </a:lnTo>
                <a:lnTo>
                  <a:pt x="6526400" y="6857999"/>
                </a:lnTo>
                <a:lnTo>
                  <a:pt x="404916" y="6857999"/>
                </a:lnTo>
                <a:lnTo>
                  <a:pt x="377830" y="2463800"/>
                </a:lnTo>
                <a:lnTo>
                  <a:pt x="0" y="2203407"/>
                </a:lnTo>
                <a:lnTo>
                  <a:pt x="391373" y="1854200"/>
                </a:lnTo>
                <a:cubicBezTo>
                  <a:pt x="395887" y="1282700"/>
                  <a:pt x="400402" y="571500"/>
                  <a:pt x="404916" y="0"/>
                </a:cubicBezTo>
                <a:close/>
              </a:path>
            </a:pathLst>
          </a:custGeom>
          <a:ln/>
          <a:effectLst>
            <a:innerShdw blurRad="63500" dist="50800" dir="2700000">
              <a:prstClr val="black">
                <a:alpha val="50000"/>
              </a:prstClr>
            </a:innerShdw>
          </a:effectLst>
        </p:spPr>
        <p:style>
          <a:lnRef idx="1">
            <a:schemeClr val="accent1"/>
          </a:lnRef>
          <a:fillRef idx="3">
            <a:schemeClr val="accent1"/>
          </a:fillRef>
          <a:effectRef idx="2">
            <a:schemeClr val="accent1"/>
          </a:effectRef>
          <a:fontRef idx="minor">
            <a:schemeClr val="lt1"/>
          </a:fontRef>
        </p:style>
        <p:txBody>
          <a:bodyPr wrap="square">
            <a:noAutofit/>
          </a:bodyPr>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2" name="Title 1"/>
          <p:cNvSpPr>
            <a:spLocks noGrp="1"/>
          </p:cNvSpPr>
          <p:nvPr>
            <p:ph type="title"/>
          </p:nvPr>
        </p:nvSpPr>
        <p:spPr>
          <a:xfrm>
            <a:off x="590396" y="311813"/>
            <a:ext cx="5334448" cy="1453488"/>
          </a:xfrm>
          <a:effectLst/>
        </p:spPr>
        <p:txBody>
          <a:bodyPr anchor="b">
            <a:normAutofit/>
          </a:bodyPr>
          <a:lstStyle>
            <a:lvl1pPr algn="l">
              <a:defRPr sz="4000" b="0">
                <a:ln>
                  <a:noFill/>
                </a:ln>
                <a:solidFill>
                  <a:schemeClr val="tx1"/>
                </a:solidFill>
                <a:effectLst/>
              </a:defRPr>
            </a:lvl1pPr>
          </a:lstStyle>
          <a:p>
            <a:r>
              <a:rPr lang="en-US"/>
              <a:t>Click to edit Master title style</a:t>
            </a:r>
            <a:endParaRPr lang="en-US" dirty="0"/>
          </a:p>
        </p:txBody>
      </p:sp>
      <p:sp>
        <p:nvSpPr>
          <p:cNvPr id="5" name="Date Placeholder 4"/>
          <p:cNvSpPr>
            <a:spLocks noGrp="1"/>
          </p:cNvSpPr>
          <p:nvPr>
            <p:ph type="dt" sz="half" idx="10"/>
          </p:nvPr>
        </p:nvSpPr>
        <p:spPr>
          <a:xfrm>
            <a:off x="3885810" y="6041362"/>
            <a:ext cx="976879" cy="365125"/>
          </a:xfrm>
        </p:spPr>
        <p:txBody>
          <a:bodyPr/>
          <a:lstStyle/>
          <a:p>
            <a:fld id="{FB7F6C47-B260-4BB6-8230-7D14D5CDE026}" type="datetimeFigureOut">
              <a:rPr lang="en-US" smtClean="0"/>
              <a:t>1/26/2026</a:t>
            </a:fld>
            <a:endParaRPr lang="en-US" dirty="0"/>
          </a:p>
        </p:txBody>
      </p:sp>
      <p:sp>
        <p:nvSpPr>
          <p:cNvPr id="6" name="Footer Placeholder 5"/>
          <p:cNvSpPr>
            <a:spLocks noGrp="1"/>
          </p:cNvSpPr>
          <p:nvPr>
            <p:ph type="ftr" sz="quarter" idx="11"/>
          </p:nvPr>
        </p:nvSpPr>
        <p:spPr>
          <a:xfrm>
            <a:off x="590396" y="6041362"/>
            <a:ext cx="3295413" cy="365125"/>
          </a:xfrm>
        </p:spPr>
        <p:txBody>
          <a:bodyPr/>
          <a:lstStyle/>
          <a:p>
            <a:r>
              <a:rPr lang="en-ZA" dirty="0"/>
              <a:t>Add a footer </a:t>
            </a:r>
            <a:endParaRPr lang="en-US" dirty="0"/>
          </a:p>
        </p:txBody>
      </p:sp>
      <p:sp>
        <p:nvSpPr>
          <p:cNvPr id="7" name="Slide Number Placeholder 6"/>
          <p:cNvSpPr>
            <a:spLocks noGrp="1"/>
          </p:cNvSpPr>
          <p:nvPr>
            <p:ph type="sldNum" sz="quarter" idx="12"/>
          </p:nvPr>
        </p:nvSpPr>
        <p:spPr>
          <a:xfrm>
            <a:off x="4862689" y="5915888"/>
            <a:ext cx="1062155" cy="490599"/>
          </a:xfrm>
        </p:spPr>
        <p:txBody>
          <a:bodyPr/>
          <a:lstStyle/>
          <a:p>
            <a:fld id="{A4942799-31AF-4FF8-9D79-C1A3E01FB207}" type="slidenum">
              <a:rPr lang="en-US" smtClean="0"/>
              <a:t>‹#›</a:t>
            </a:fld>
            <a:endParaRPr lang="en-US" dirty="0"/>
          </a:p>
        </p:txBody>
      </p:sp>
      <p:sp>
        <p:nvSpPr>
          <p:cNvPr id="12" name="Text Placeholder 3">
            <a:extLst>
              <a:ext uri="{FF2B5EF4-FFF2-40B4-BE49-F238E27FC236}">
                <a16:creationId xmlns:a16="http://schemas.microsoft.com/office/drawing/2014/main" id="{EB4FB892-38DF-40F9-B034-BC1E61FC6BF0}"/>
              </a:ext>
            </a:extLst>
          </p:cNvPr>
          <p:cNvSpPr>
            <a:spLocks noGrp="1"/>
          </p:cNvSpPr>
          <p:nvPr>
            <p:ph type="body" sz="half" idx="2"/>
          </p:nvPr>
        </p:nvSpPr>
        <p:spPr>
          <a:xfrm>
            <a:off x="590396" y="2057400"/>
            <a:ext cx="5334448" cy="3811588"/>
          </a:xfrm>
        </p:spPr>
        <p:txBody>
          <a:bodyPr anchor="t">
            <a:normAutofit/>
          </a:bodyPr>
          <a:lstStyle>
            <a:lvl1pPr marL="0" indent="0">
              <a:buNone/>
              <a:defRPr sz="2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Tree>
    <p:extLst>
      <p:ext uri="{BB962C8B-B14F-4D97-AF65-F5344CB8AC3E}">
        <p14:creationId xmlns:p14="http://schemas.microsoft.com/office/powerpoint/2010/main" val="11973055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 Title and Content">
    <p:spTree>
      <p:nvGrpSpPr>
        <p:cNvPr id="1" name=""/>
        <p:cNvGrpSpPr/>
        <p:nvPr/>
      </p:nvGrpSpPr>
      <p:grpSpPr>
        <a:xfrm>
          <a:off x="0" y="0"/>
          <a:ext cx="0" cy="0"/>
          <a:chOff x="0" y="0"/>
          <a:chExt cx="0" cy="0"/>
        </a:xfrm>
      </p:grpSpPr>
      <p:sp>
        <p:nvSpPr>
          <p:cNvPr id="8" name="Freeform 6"/>
          <p:cNvSpPr/>
          <p:nvPr/>
        </p:nvSpPr>
        <p:spPr bwMode="ltGray">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ffectLst>
            <a:innerShdw blurRad="63500" dist="50800" dir="5400000">
              <a:prstClr val="black">
                <a:alpha val="50000"/>
              </a:prstClr>
            </a:innerShdw>
          </a:effectLst>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nchor="ctr" anchorCtr="0"/>
          <a:lstStyle>
            <a:lvl1pPr>
              <a:defRPr b="0"/>
            </a:lvl1pPr>
          </a:lstStyle>
          <a:p>
            <a:r>
              <a:rPr lang="en-US"/>
              <a:t>Click to edit Master title style</a:t>
            </a:r>
            <a:endParaRPr lang="en-US" dirty="0"/>
          </a:p>
        </p:txBody>
      </p:sp>
      <p:sp>
        <p:nvSpPr>
          <p:cNvPr id="4" name="Content Placeholder 3"/>
          <p:cNvSpPr>
            <a:spLocks noGrp="1"/>
          </p:cNvSpPr>
          <p:nvPr>
            <p:ph sz="half" idx="2" hasCustomPrompt="1"/>
          </p:nvPr>
        </p:nvSpPr>
        <p:spPr>
          <a:xfrm>
            <a:off x="810001" y="2222287"/>
            <a:ext cx="10571998" cy="3638764"/>
          </a:xfrm>
        </p:spPr>
        <p:txBody>
          <a:bodyPr>
            <a:normAutofit/>
          </a:bodyPr>
          <a:lstStyle>
            <a:lvl1pPr>
              <a:defRPr sz="2800"/>
            </a:lvl1pPr>
            <a:lvl2pPr>
              <a:defRPr sz="2800"/>
            </a:lvl2pPr>
            <a:lvl3pPr>
              <a:defRPr sz="2800"/>
            </a:lvl3pPr>
            <a:lvl4pPr>
              <a:defRPr sz="2800"/>
            </a:lvl4pPr>
            <a:lvl5pPr>
              <a:defRPr sz="28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fld id="{FB7F6C47-B260-4BB6-8230-7D14D5CDE026}" type="datetimeFigureOut">
              <a:rPr lang="en-US" smtClean="0"/>
              <a:t>1/26/2026</a:t>
            </a:fld>
            <a:endParaRPr lang="en-US" dirty="0"/>
          </a:p>
        </p:txBody>
      </p:sp>
      <p:sp>
        <p:nvSpPr>
          <p:cNvPr id="6" name="Footer Placeholder 5"/>
          <p:cNvSpPr>
            <a:spLocks noGrp="1"/>
          </p:cNvSpPr>
          <p:nvPr>
            <p:ph type="ftr" sz="quarter" idx="11"/>
          </p:nvPr>
        </p:nvSpPr>
        <p:spPr/>
        <p:txBody>
          <a:bodyPr/>
          <a:lstStyle/>
          <a:p>
            <a:r>
              <a:rPr lang="en-ZA" dirty="0"/>
              <a:t>Add a footer </a:t>
            </a:r>
            <a:endParaRPr lang="en-US" dirty="0"/>
          </a:p>
        </p:txBody>
      </p:sp>
      <p:sp>
        <p:nvSpPr>
          <p:cNvPr id="7" name="Slide Number Placeholder 6"/>
          <p:cNvSpPr>
            <a:spLocks noGrp="1"/>
          </p:cNvSpPr>
          <p:nvPr>
            <p:ph type="sldNum" sz="quarter" idx="12"/>
          </p:nvPr>
        </p:nvSpPr>
        <p:spPr/>
        <p:txBody>
          <a:bodyPr/>
          <a:lstStyle/>
          <a:p>
            <a:fld id="{A4942799-31AF-4FF8-9D79-C1A3E01FB207}" type="slidenum">
              <a:rPr lang="en-US" smtClean="0"/>
              <a:t>‹#›</a:t>
            </a:fld>
            <a:endParaRPr lang="en-US" dirty="0"/>
          </a:p>
        </p:txBody>
      </p:sp>
    </p:spTree>
    <p:extLst>
      <p:ext uri="{BB962C8B-B14F-4D97-AF65-F5344CB8AC3E}">
        <p14:creationId xmlns:p14="http://schemas.microsoft.com/office/powerpoint/2010/main" val="13376882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10000" y="4489884"/>
            <a:ext cx="10561418" cy="1426004"/>
          </a:xfrm>
        </p:spPr>
        <p:txBody>
          <a:bodyPr anchor="ctr" anchorCtr="0">
            <a:normAutofit/>
          </a:bodyPr>
          <a:lstStyle>
            <a:lvl1pPr algn="ctr">
              <a:defRPr sz="4000" b="0">
                <a:ln>
                  <a:noFill/>
                </a:ln>
                <a:solidFill>
                  <a:schemeClr val="tx1"/>
                </a:solidFill>
                <a:latin typeface="+mj-lt"/>
              </a:defRPr>
            </a:lvl1pPr>
          </a:lstStyle>
          <a:p>
            <a:r>
              <a:rPr lang="en-US"/>
              <a:t>Click to edit Master title style</a:t>
            </a:r>
            <a:endParaRPr lang="en-US" dirty="0"/>
          </a:p>
        </p:txBody>
      </p:sp>
      <p:sp>
        <p:nvSpPr>
          <p:cNvPr id="5" name="Date Placeholder 4"/>
          <p:cNvSpPr>
            <a:spLocks noGrp="1"/>
          </p:cNvSpPr>
          <p:nvPr>
            <p:ph type="dt" sz="half" idx="10"/>
          </p:nvPr>
        </p:nvSpPr>
        <p:spPr/>
        <p:txBody>
          <a:bodyPr/>
          <a:lstStyle/>
          <a:p>
            <a:fld id="{FB7F6C47-B260-4BB6-8230-7D14D5CDE026}" type="datetimeFigureOut">
              <a:rPr lang="en-US" smtClean="0"/>
              <a:t>1/26/2026</a:t>
            </a:fld>
            <a:endParaRPr lang="en-US" dirty="0"/>
          </a:p>
        </p:txBody>
      </p:sp>
      <p:sp>
        <p:nvSpPr>
          <p:cNvPr id="6" name="Footer Placeholder 5"/>
          <p:cNvSpPr>
            <a:spLocks noGrp="1"/>
          </p:cNvSpPr>
          <p:nvPr>
            <p:ph type="ftr" sz="quarter" idx="11"/>
          </p:nvPr>
        </p:nvSpPr>
        <p:spPr/>
        <p:txBody>
          <a:bodyPr/>
          <a:lstStyle/>
          <a:p>
            <a:r>
              <a:rPr lang="en-ZA" dirty="0"/>
              <a:t>Add a footer </a:t>
            </a:r>
            <a:endParaRPr lang="en-US" dirty="0"/>
          </a:p>
        </p:txBody>
      </p:sp>
      <p:sp>
        <p:nvSpPr>
          <p:cNvPr id="7" name="Slide Number Placeholder 6"/>
          <p:cNvSpPr>
            <a:spLocks noGrp="1"/>
          </p:cNvSpPr>
          <p:nvPr>
            <p:ph type="sldNum" sz="quarter" idx="12"/>
          </p:nvPr>
        </p:nvSpPr>
        <p:spPr/>
        <p:txBody>
          <a:bodyPr/>
          <a:lstStyle/>
          <a:p>
            <a:fld id="{A4942799-31AF-4FF8-9D79-C1A3E01FB207}" type="slidenum">
              <a:rPr lang="en-US" smtClean="0"/>
              <a:t>‹#›</a:t>
            </a:fld>
            <a:endParaRPr lang="en-US" dirty="0"/>
          </a:p>
        </p:txBody>
      </p:sp>
      <p:sp>
        <p:nvSpPr>
          <p:cNvPr id="9" name="Content Placeholder 8">
            <a:extLst>
              <a:ext uri="{FF2B5EF4-FFF2-40B4-BE49-F238E27FC236}">
                <a16:creationId xmlns:a16="http://schemas.microsoft.com/office/drawing/2014/main" id="{EC1FEB3F-0898-4AE0-B8C4-970BF80A3766}"/>
              </a:ext>
            </a:extLst>
          </p:cNvPr>
          <p:cNvSpPr>
            <a:spLocks noGrp="1"/>
          </p:cNvSpPr>
          <p:nvPr>
            <p:ph sz="quarter" idx="14"/>
          </p:nvPr>
        </p:nvSpPr>
        <p:spPr bwMode="ltGray">
          <a:xfrm>
            <a:off x="-5291" y="-57584"/>
            <a:ext cx="12192000" cy="4851400"/>
          </a:xfrm>
          <a:custGeom>
            <a:avLst/>
            <a:gdLst>
              <a:gd name="connsiteX0" fmla="*/ 0 w 10561638"/>
              <a:gd name="connsiteY0" fmla="*/ 0 h 3937000"/>
              <a:gd name="connsiteX1" fmla="*/ 1760273 w 10561638"/>
              <a:gd name="connsiteY1" fmla="*/ 0 h 3937000"/>
              <a:gd name="connsiteX2" fmla="*/ 1760273 w 10561638"/>
              <a:gd name="connsiteY2" fmla="*/ 0 h 3937000"/>
              <a:gd name="connsiteX3" fmla="*/ 4400683 w 10561638"/>
              <a:gd name="connsiteY3" fmla="*/ 0 h 3937000"/>
              <a:gd name="connsiteX4" fmla="*/ 10561638 w 10561638"/>
              <a:gd name="connsiteY4" fmla="*/ 0 h 3937000"/>
              <a:gd name="connsiteX5" fmla="*/ 10561638 w 10561638"/>
              <a:gd name="connsiteY5" fmla="*/ 2296583 h 3937000"/>
              <a:gd name="connsiteX6" fmla="*/ 10561638 w 10561638"/>
              <a:gd name="connsiteY6" fmla="*/ 2296583 h 3937000"/>
              <a:gd name="connsiteX7" fmla="*/ 10561638 w 10561638"/>
              <a:gd name="connsiteY7" fmla="*/ 3280833 h 3937000"/>
              <a:gd name="connsiteX8" fmla="*/ 10561638 w 10561638"/>
              <a:gd name="connsiteY8" fmla="*/ 3937000 h 3937000"/>
              <a:gd name="connsiteX9" fmla="*/ 4400683 w 10561638"/>
              <a:gd name="connsiteY9" fmla="*/ 3937000 h 3937000"/>
              <a:gd name="connsiteX10" fmla="*/ 2077263 w 10561638"/>
              <a:gd name="connsiteY10" fmla="*/ 4251330 h 3937000"/>
              <a:gd name="connsiteX11" fmla="*/ 1760273 w 10561638"/>
              <a:gd name="connsiteY11" fmla="*/ 3937000 h 3937000"/>
              <a:gd name="connsiteX12" fmla="*/ 0 w 10561638"/>
              <a:gd name="connsiteY12" fmla="*/ 3937000 h 3937000"/>
              <a:gd name="connsiteX13" fmla="*/ 0 w 10561638"/>
              <a:gd name="connsiteY13" fmla="*/ 3280833 h 3937000"/>
              <a:gd name="connsiteX14" fmla="*/ 0 w 10561638"/>
              <a:gd name="connsiteY14" fmla="*/ 2296583 h 3937000"/>
              <a:gd name="connsiteX15" fmla="*/ 0 w 10561638"/>
              <a:gd name="connsiteY15" fmla="*/ 2296583 h 3937000"/>
              <a:gd name="connsiteX16" fmla="*/ 0 w 10561638"/>
              <a:gd name="connsiteY16" fmla="*/ 0 h 3937000"/>
              <a:gd name="connsiteX0" fmla="*/ 0 w 10561638"/>
              <a:gd name="connsiteY0" fmla="*/ 0 h 4251330"/>
              <a:gd name="connsiteX1" fmla="*/ 1760273 w 10561638"/>
              <a:gd name="connsiteY1" fmla="*/ 0 h 4251330"/>
              <a:gd name="connsiteX2" fmla="*/ 1760273 w 10561638"/>
              <a:gd name="connsiteY2" fmla="*/ 0 h 4251330"/>
              <a:gd name="connsiteX3" fmla="*/ 4400683 w 10561638"/>
              <a:gd name="connsiteY3" fmla="*/ 0 h 4251330"/>
              <a:gd name="connsiteX4" fmla="*/ 10561638 w 10561638"/>
              <a:gd name="connsiteY4" fmla="*/ 0 h 4251330"/>
              <a:gd name="connsiteX5" fmla="*/ 10561638 w 10561638"/>
              <a:gd name="connsiteY5" fmla="*/ 2296583 h 4251330"/>
              <a:gd name="connsiteX6" fmla="*/ 10561638 w 10561638"/>
              <a:gd name="connsiteY6" fmla="*/ 2296583 h 4251330"/>
              <a:gd name="connsiteX7" fmla="*/ 10561638 w 10561638"/>
              <a:gd name="connsiteY7" fmla="*/ 3280833 h 4251330"/>
              <a:gd name="connsiteX8" fmla="*/ 10561638 w 10561638"/>
              <a:gd name="connsiteY8" fmla="*/ 3937000 h 4251330"/>
              <a:gd name="connsiteX9" fmla="*/ 2482983 w 10561638"/>
              <a:gd name="connsiteY9" fmla="*/ 3975100 h 4251330"/>
              <a:gd name="connsiteX10" fmla="*/ 2077263 w 10561638"/>
              <a:gd name="connsiteY10" fmla="*/ 4251330 h 4251330"/>
              <a:gd name="connsiteX11" fmla="*/ 1760273 w 10561638"/>
              <a:gd name="connsiteY11" fmla="*/ 3937000 h 4251330"/>
              <a:gd name="connsiteX12" fmla="*/ 0 w 10561638"/>
              <a:gd name="connsiteY12" fmla="*/ 3937000 h 4251330"/>
              <a:gd name="connsiteX13" fmla="*/ 0 w 10561638"/>
              <a:gd name="connsiteY13" fmla="*/ 3280833 h 4251330"/>
              <a:gd name="connsiteX14" fmla="*/ 0 w 10561638"/>
              <a:gd name="connsiteY14" fmla="*/ 2296583 h 4251330"/>
              <a:gd name="connsiteX15" fmla="*/ 0 w 10561638"/>
              <a:gd name="connsiteY15" fmla="*/ 2296583 h 4251330"/>
              <a:gd name="connsiteX16" fmla="*/ 0 w 10561638"/>
              <a:gd name="connsiteY16" fmla="*/ 0 h 4251330"/>
              <a:gd name="connsiteX0" fmla="*/ 0 w 10561638"/>
              <a:gd name="connsiteY0" fmla="*/ 0 h 4251330"/>
              <a:gd name="connsiteX1" fmla="*/ 1760273 w 10561638"/>
              <a:gd name="connsiteY1" fmla="*/ 0 h 4251330"/>
              <a:gd name="connsiteX2" fmla="*/ 1760273 w 10561638"/>
              <a:gd name="connsiteY2" fmla="*/ 0 h 4251330"/>
              <a:gd name="connsiteX3" fmla="*/ 4400683 w 10561638"/>
              <a:gd name="connsiteY3" fmla="*/ 0 h 4251330"/>
              <a:gd name="connsiteX4" fmla="*/ 10561638 w 10561638"/>
              <a:gd name="connsiteY4" fmla="*/ 0 h 4251330"/>
              <a:gd name="connsiteX5" fmla="*/ 10561638 w 10561638"/>
              <a:gd name="connsiteY5" fmla="*/ 2296583 h 4251330"/>
              <a:gd name="connsiteX6" fmla="*/ 10561638 w 10561638"/>
              <a:gd name="connsiteY6" fmla="*/ 2296583 h 4251330"/>
              <a:gd name="connsiteX7" fmla="*/ 10561638 w 10561638"/>
              <a:gd name="connsiteY7" fmla="*/ 3280833 h 4251330"/>
              <a:gd name="connsiteX8" fmla="*/ 10561638 w 10561638"/>
              <a:gd name="connsiteY8" fmla="*/ 3937000 h 4251330"/>
              <a:gd name="connsiteX9" fmla="*/ 2343283 w 10561638"/>
              <a:gd name="connsiteY9" fmla="*/ 3987800 h 4251330"/>
              <a:gd name="connsiteX10" fmla="*/ 2077263 w 10561638"/>
              <a:gd name="connsiteY10" fmla="*/ 4251330 h 4251330"/>
              <a:gd name="connsiteX11" fmla="*/ 1760273 w 10561638"/>
              <a:gd name="connsiteY11" fmla="*/ 3937000 h 4251330"/>
              <a:gd name="connsiteX12" fmla="*/ 0 w 10561638"/>
              <a:gd name="connsiteY12" fmla="*/ 3937000 h 4251330"/>
              <a:gd name="connsiteX13" fmla="*/ 0 w 10561638"/>
              <a:gd name="connsiteY13" fmla="*/ 3280833 h 4251330"/>
              <a:gd name="connsiteX14" fmla="*/ 0 w 10561638"/>
              <a:gd name="connsiteY14" fmla="*/ 2296583 h 4251330"/>
              <a:gd name="connsiteX15" fmla="*/ 0 w 10561638"/>
              <a:gd name="connsiteY15" fmla="*/ 2296583 h 4251330"/>
              <a:gd name="connsiteX16" fmla="*/ 0 w 10561638"/>
              <a:gd name="connsiteY16" fmla="*/ 0 h 4251330"/>
              <a:gd name="connsiteX0" fmla="*/ 0 w 10561638"/>
              <a:gd name="connsiteY0" fmla="*/ 0 h 4251330"/>
              <a:gd name="connsiteX1" fmla="*/ 1760273 w 10561638"/>
              <a:gd name="connsiteY1" fmla="*/ 0 h 4251330"/>
              <a:gd name="connsiteX2" fmla="*/ 1760273 w 10561638"/>
              <a:gd name="connsiteY2" fmla="*/ 0 h 4251330"/>
              <a:gd name="connsiteX3" fmla="*/ 4400683 w 10561638"/>
              <a:gd name="connsiteY3" fmla="*/ 0 h 4251330"/>
              <a:gd name="connsiteX4" fmla="*/ 10561638 w 10561638"/>
              <a:gd name="connsiteY4" fmla="*/ 0 h 4251330"/>
              <a:gd name="connsiteX5" fmla="*/ 10561638 w 10561638"/>
              <a:gd name="connsiteY5" fmla="*/ 2296583 h 4251330"/>
              <a:gd name="connsiteX6" fmla="*/ 10561638 w 10561638"/>
              <a:gd name="connsiteY6" fmla="*/ 2296583 h 4251330"/>
              <a:gd name="connsiteX7" fmla="*/ 10561638 w 10561638"/>
              <a:gd name="connsiteY7" fmla="*/ 3280833 h 4251330"/>
              <a:gd name="connsiteX8" fmla="*/ 10561638 w 10561638"/>
              <a:gd name="connsiteY8" fmla="*/ 3937000 h 4251330"/>
              <a:gd name="connsiteX9" fmla="*/ 2343283 w 10561638"/>
              <a:gd name="connsiteY9" fmla="*/ 3962400 h 4251330"/>
              <a:gd name="connsiteX10" fmla="*/ 2077263 w 10561638"/>
              <a:gd name="connsiteY10" fmla="*/ 4251330 h 4251330"/>
              <a:gd name="connsiteX11" fmla="*/ 1760273 w 10561638"/>
              <a:gd name="connsiteY11" fmla="*/ 3937000 h 4251330"/>
              <a:gd name="connsiteX12" fmla="*/ 0 w 10561638"/>
              <a:gd name="connsiteY12" fmla="*/ 3937000 h 4251330"/>
              <a:gd name="connsiteX13" fmla="*/ 0 w 10561638"/>
              <a:gd name="connsiteY13" fmla="*/ 3280833 h 4251330"/>
              <a:gd name="connsiteX14" fmla="*/ 0 w 10561638"/>
              <a:gd name="connsiteY14" fmla="*/ 2296583 h 4251330"/>
              <a:gd name="connsiteX15" fmla="*/ 0 w 10561638"/>
              <a:gd name="connsiteY15" fmla="*/ 2296583 h 4251330"/>
              <a:gd name="connsiteX16" fmla="*/ 0 w 10561638"/>
              <a:gd name="connsiteY16" fmla="*/ 0 h 4251330"/>
              <a:gd name="connsiteX0" fmla="*/ 0 w 10561638"/>
              <a:gd name="connsiteY0" fmla="*/ 0 h 4251330"/>
              <a:gd name="connsiteX1" fmla="*/ 1760273 w 10561638"/>
              <a:gd name="connsiteY1" fmla="*/ 0 h 4251330"/>
              <a:gd name="connsiteX2" fmla="*/ 1760273 w 10561638"/>
              <a:gd name="connsiteY2" fmla="*/ 0 h 4251330"/>
              <a:gd name="connsiteX3" fmla="*/ 4400683 w 10561638"/>
              <a:gd name="connsiteY3" fmla="*/ 0 h 4251330"/>
              <a:gd name="connsiteX4" fmla="*/ 10561638 w 10561638"/>
              <a:gd name="connsiteY4" fmla="*/ 0 h 4251330"/>
              <a:gd name="connsiteX5" fmla="*/ 10561638 w 10561638"/>
              <a:gd name="connsiteY5" fmla="*/ 2296583 h 4251330"/>
              <a:gd name="connsiteX6" fmla="*/ 10561638 w 10561638"/>
              <a:gd name="connsiteY6" fmla="*/ 2296583 h 4251330"/>
              <a:gd name="connsiteX7" fmla="*/ 10561638 w 10561638"/>
              <a:gd name="connsiteY7" fmla="*/ 3280833 h 4251330"/>
              <a:gd name="connsiteX8" fmla="*/ 10561638 w 10561638"/>
              <a:gd name="connsiteY8" fmla="*/ 3937000 h 4251330"/>
              <a:gd name="connsiteX9" fmla="*/ 2343283 w 10561638"/>
              <a:gd name="connsiteY9" fmla="*/ 3924300 h 4251330"/>
              <a:gd name="connsiteX10" fmla="*/ 2077263 w 10561638"/>
              <a:gd name="connsiteY10" fmla="*/ 4251330 h 4251330"/>
              <a:gd name="connsiteX11" fmla="*/ 1760273 w 10561638"/>
              <a:gd name="connsiteY11" fmla="*/ 3937000 h 4251330"/>
              <a:gd name="connsiteX12" fmla="*/ 0 w 10561638"/>
              <a:gd name="connsiteY12" fmla="*/ 3937000 h 4251330"/>
              <a:gd name="connsiteX13" fmla="*/ 0 w 10561638"/>
              <a:gd name="connsiteY13" fmla="*/ 3280833 h 4251330"/>
              <a:gd name="connsiteX14" fmla="*/ 0 w 10561638"/>
              <a:gd name="connsiteY14" fmla="*/ 2296583 h 4251330"/>
              <a:gd name="connsiteX15" fmla="*/ 0 w 10561638"/>
              <a:gd name="connsiteY15" fmla="*/ 2296583 h 4251330"/>
              <a:gd name="connsiteX16" fmla="*/ 0 w 10561638"/>
              <a:gd name="connsiteY16" fmla="*/ 0 h 42513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561638" h="4251330">
                <a:moveTo>
                  <a:pt x="0" y="0"/>
                </a:moveTo>
                <a:lnTo>
                  <a:pt x="1760273" y="0"/>
                </a:lnTo>
                <a:lnTo>
                  <a:pt x="1760273" y="0"/>
                </a:lnTo>
                <a:lnTo>
                  <a:pt x="4400683" y="0"/>
                </a:lnTo>
                <a:lnTo>
                  <a:pt x="10561638" y="0"/>
                </a:lnTo>
                <a:lnTo>
                  <a:pt x="10561638" y="2296583"/>
                </a:lnTo>
                <a:lnTo>
                  <a:pt x="10561638" y="2296583"/>
                </a:lnTo>
                <a:lnTo>
                  <a:pt x="10561638" y="3280833"/>
                </a:lnTo>
                <a:lnTo>
                  <a:pt x="10561638" y="3937000"/>
                </a:lnTo>
                <a:lnTo>
                  <a:pt x="2343283" y="3924300"/>
                </a:lnTo>
                <a:lnTo>
                  <a:pt x="2077263" y="4251330"/>
                </a:lnTo>
                <a:lnTo>
                  <a:pt x="1760273" y="3937000"/>
                </a:lnTo>
                <a:lnTo>
                  <a:pt x="0" y="3937000"/>
                </a:lnTo>
                <a:lnTo>
                  <a:pt x="0" y="3280833"/>
                </a:lnTo>
                <a:lnTo>
                  <a:pt x="0" y="2296583"/>
                </a:lnTo>
                <a:lnTo>
                  <a:pt x="0" y="2296583"/>
                </a:lnTo>
                <a:lnTo>
                  <a:pt x="0" y="0"/>
                </a:lnTo>
                <a:close/>
              </a:path>
            </a:pathLst>
          </a:custGeom>
          <a:blipFill>
            <a:blip r:embed="rId2">
              <a:duotone>
                <a:schemeClr val="accent1">
                  <a:tint val="98000"/>
                  <a:lumMod val="102000"/>
                </a:schemeClr>
                <a:schemeClr val="accent1">
                  <a:shade val="98000"/>
                  <a:lumMod val="98000"/>
                </a:schemeClr>
              </a:duotone>
            </a:blip>
            <a:tile tx="0" ty="0" sx="100000" sy="100000" flip="none" algn="tl"/>
          </a:blipFill>
          <a:effectLst>
            <a:innerShdw blurRad="63500" dist="50800" dir="5400000">
              <a:prstClr val="black">
                <a:alpha val="50000"/>
              </a:prstClr>
            </a:innerShdw>
          </a:effectLst>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3311174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1" name="Freeform 6"/>
          <p:cNvSpPr/>
          <p:nvPr/>
        </p:nvSpPr>
        <p:spPr bwMode="ltGray">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ffectLst>
            <a:innerShdw blurRad="63500" dist="50800" dir="5400000">
              <a:prstClr val="black">
                <a:alpha val="50000"/>
              </a:prstClr>
            </a:innerShdw>
          </a:effectLst>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10000" y="447188"/>
            <a:ext cx="10571998" cy="970450"/>
          </a:xfrm>
        </p:spPr>
        <p:txBody>
          <a:bodyPr anchor="ctr" anchorCtr="0"/>
          <a:lstStyle>
            <a:lvl1pPr>
              <a:defRPr b="0"/>
            </a:lvl1pPr>
          </a:lstStyle>
          <a:p>
            <a:r>
              <a:rPr lang="en-US"/>
              <a:t>Click to edit Master title style</a:t>
            </a:r>
            <a:endParaRPr lang="en-US" dirty="0"/>
          </a:p>
        </p:txBody>
      </p:sp>
      <p:sp>
        <p:nvSpPr>
          <p:cNvPr id="3" name="Content Placeholder 2"/>
          <p:cNvSpPr>
            <a:spLocks noGrp="1"/>
          </p:cNvSpPr>
          <p:nvPr>
            <p:ph idx="1"/>
          </p:nvPr>
        </p:nvSpPr>
        <p:spPr>
          <a:xfrm>
            <a:off x="818712" y="2222287"/>
            <a:ext cx="10554574" cy="363651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B7F6C47-B260-4BB6-8230-7D14D5CDE026}" type="datetimeFigureOut">
              <a:rPr lang="en-US" smtClean="0"/>
              <a:t>1/26/2026</a:t>
            </a:fld>
            <a:endParaRPr lang="en-US" dirty="0"/>
          </a:p>
        </p:txBody>
      </p:sp>
      <p:sp>
        <p:nvSpPr>
          <p:cNvPr id="5" name="Footer Placeholder 4"/>
          <p:cNvSpPr>
            <a:spLocks noGrp="1"/>
          </p:cNvSpPr>
          <p:nvPr>
            <p:ph type="ftr" sz="quarter" idx="11"/>
          </p:nvPr>
        </p:nvSpPr>
        <p:spPr/>
        <p:txBody>
          <a:bodyPr/>
          <a:lstStyle/>
          <a:p>
            <a:r>
              <a:rPr lang="en-ZA" dirty="0"/>
              <a:t>Add a footer </a:t>
            </a:r>
            <a:endParaRPr lang="en-US" dirty="0"/>
          </a:p>
        </p:txBody>
      </p:sp>
      <p:sp>
        <p:nvSpPr>
          <p:cNvPr id="6" name="Slide Number Placeholder 5"/>
          <p:cNvSpPr>
            <a:spLocks noGrp="1"/>
          </p:cNvSpPr>
          <p:nvPr>
            <p:ph type="sldNum" sz="quarter" idx="12"/>
          </p:nvPr>
        </p:nvSpPr>
        <p:spPr/>
        <p:txBody>
          <a:bodyPr/>
          <a:lstStyle/>
          <a:p>
            <a:fld id="{A4942799-31AF-4FF8-9D79-C1A3E01FB207}" type="slidenum">
              <a:rPr lang="en-US" smtClean="0"/>
              <a:t>‹#›</a:t>
            </a:fld>
            <a:endParaRPr lang="en-US" dirty="0"/>
          </a:p>
        </p:txBody>
      </p:sp>
    </p:spTree>
    <p:extLst>
      <p:ext uri="{BB962C8B-B14F-4D97-AF65-F5344CB8AC3E}">
        <p14:creationId xmlns:p14="http://schemas.microsoft.com/office/powerpoint/2010/main" val="42402816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0" name="Freeform 7"/>
          <p:cNvSpPr/>
          <p:nvPr/>
        </p:nvSpPr>
        <p:spPr bwMode="ltGray">
          <a:xfrm>
            <a:off x="0" y="1"/>
            <a:ext cx="12192000" cy="5203825"/>
          </a:xfrm>
          <a:custGeom>
            <a:avLst/>
            <a:gdLst/>
            <a:ahLst/>
            <a:cxnLst/>
            <a:rect l="0" t="0" r="r" b="b"/>
            <a:pathLst>
              <a:path w="5760" h="3278">
                <a:moveTo>
                  <a:pt x="0" y="0"/>
                </a:moveTo>
                <a:lnTo>
                  <a:pt x="5760" y="0"/>
                </a:lnTo>
                <a:lnTo>
                  <a:pt x="5760" y="3090"/>
                </a:lnTo>
                <a:lnTo>
                  <a:pt x="4817" y="3090"/>
                </a:lnTo>
                <a:lnTo>
                  <a:pt x="4637" y="3270"/>
                </a:lnTo>
                <a:lnTo>
                  <a:pt x="4637" y="3270"/>
                </a:lnTo>
                <a:lnTo>
                  <a:pt x="4633" y="3272"/>
                </a:lnTo>
                <a:lnTo>
                  <a:pt x="4627" y="3275"/>
                </a:lnTo>
                <a:lnTo>
                  <a:pt x="4621" y="3278"/>
                </a:lnTo>
                <a:lnTo>
                  <a:pt x="4616" y="3278"/>
                </a:lnTo>
                <a:lnTo>
                  <a:pt x="4610" y="3278"/>
                </a:lnTo>
                <a:lnTo>
                  <a:pt x="4605" y="3275"/>
                </a:lnTo>
                <a:lnTo>
                  <a:pt x="4599" y="3272"/>
                </a:lnTo>
                <a:lnTo>
                  <a:pt x="4595" y="3270"/>
                </a:lnTo>
                <a:lnTo>
                  <a:pt x="4415" y="3090"/>
                </a:lnTo>
                <a:lnTo>
                  <a:pt x="0" y="3090"/>
                </a:lnTo>
                <a:lnTo>
                  <a:pt x="0" y="0"/>
                </a:lnTo>
                <a:lnTo>
                  <a:pt x="0" y="0"/>
                </a:lnTo>
                <a:close/>
              </a:path>
            </a:pathLst>
          </a:custGeom>
          <a:ln>
            <a:headEnd/>
            <a:tailEnd/>
          </a:ln>
          <a:effectLst>
            <a:innerShdw blurRad="63500" dist="50800" dir="5400000">
              <a:prstClr val="black">
                <a:alpha val="50000"/>
              </a:prstClr>
            </a:innerShdw>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10000" y="606669"/>
            <a:ext cx="10561418" cy="3813527"/>
          </a:xfrm>
        </p:spPr>
        <p:txBody>
          <a:bodyPr anchor="ctr" anchorCtr="0"/>
          <a:lstStyle>
            <a:lvl1pPr algn="ctr">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810000" y="5281201"/>
            <a:ext cx="10561418" cy="433955"/>
          </a:xfrm>
        </p:spPr>
        <p:txBody>
          <a:bodyPr anchor="ctr" anchorCtr="0">
            <a:noAutofit/>
          </a:bodyPr>
          <a:lstStyle>
            <a:lvl1pPr marL="0" indent="0" algn="r">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FB7F6C47-B260-4BB6-8230-7D14D5CDE026}" type="datetimeFigureOut">
              <a:rPr lang="en-US" smtClean="0"/>
              <a:t>1/26/2026</a:t>
            </a:fld>
            <a:endParaRPr lang="en-US" dirty="0"/>
          </a:p>
        </p:txBody>
      </p:sp>
      <p:sp>
        <p:nvSpPr>
          <p:cNvPr id="5" name="Footer Placeholder 4"/>
          <p:cNvSpPr>
            <a:spLocks noGrp="1"/>
          </p:cNvSpPr>
          <p:nvPr>
            <p:ph type="ftr" sz="quarter" idx="11"/>
          </p:nvPr>
        </p:nvSpPr>
        <p:spPr/>
        <p:txBody>
          <a:bodyPr/>
          <a:lstStyle/>
          <a:p>
            <a:r>
              <a:rPr lang="en-ZA" dirty="0"/>
              <a:t>Add a footer </a:t>
            </a:r>
            <a:endParaRPr lang="en-US" dirty="0"/>
          </a:p>
        </p:txBody>
      </p:sp>
      <p:sp>
        <p:nvSpPr>
          <p:cNvPr id="6" name="Slide Number Placeholder 5"/>
          <p:cNvSpPr>
            <a:spLocks noGrp="1"/>
          </p:cNvSpPr>
          <p:nvPr>
            <p:ph type="sldNum" sz="quarter" idx="12"/>
          </p:nvPr>
        </p:nvSpPr>
        <p:spPr/>
        <p:txBody>
          <a:bodyPr/>
          <a:lstStyle/>
          <a:p>
            <a:fld id="{A4942799-31AF-4FF8-9D79-C1A3E01FB207}" type="slidenum">
              <a:rPr lang="en-US" smtClean="0"/>
              <a:t>‹#›</a:t>
            </a:fld>
            <a:endParaRPr lang="en-US" dirty="0"/>
          </a:p>
        </p:txBody>
      </p:sp>
    </p:spTree>
    <p:extLst>
      <p:ext uri="{BB962C8B-B14F-4D97-AF65-F5344CB8AC3E}">
        <p14:creationId xmlns:p14="http://schemas.microsoft.com/office/powerpoint/2010/main" val="35764053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Freeform 6"/>
          <p:cNvSpPr/>
          <p:nvPr/>
        </p:nvSpPr>
        <p:spPr bwMode="ltGray">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ffectLst>
            <a:innerShdw blurRad="63500" dist="50800" dir="5400000">
              <a:prstClr val="black">
                <a:alpha val="50000"/>
              </a:prstClr>
            </a:innerShdw>
          </a:effectLst>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nchor="ctr" anchorCtr="0"/>
          <a:lstStyle>
            <a:lvl1pPr>
              <a:defRPr b="0"/>
            </a:lvl1pPr>
          </a:lstStyle>
          <a:p>
            <a:r>
              <a:rPr lang="en-US"/>
              <a:t>Click to edit Master title style</a:t>
            </a:r>
            <a:endParaRPr lang="en-US" dirty="0"/>
          </a:p>
        </p:txBody>
      </p:sp>
      <p:sp>
        <p:nvSpPr>
          <p:cNvPr id="3" name="Text Placeholder 2"/>
          <p:cNvSpPr>
            <a:spLocks noGrp="1"/>
          </p:cNvSpPr>
          <p:nvPr>
            <p:ph type="body" idx="1"/>
          </p:nvPr>
        </p:nvSpPr>
        <p:spPr>
          <a:xfrm>
            <a:off x="814728" y="2174875"/>
            <a:ext cx="5189857" cy="576262"/>
          </a:xfrm>
        </p:spPr>
        <p:txBody>
          <a:bodyPr anchor="b">
            <a:noAutofit/>
          </a:bodyPr>
          <a:lstStyle>
            <a:lvl1pPr marL="0" indent="0" algn="ctr">
              <a:buNone/>
              <a:defRPr sz="20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14729" y="2751138"/>
            <a:ext cx="5189856" cy="3109913"/>
          </a:xfrm>
        </p:spPr>
        <p:txBody>
          <a:bodyPr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7415" y="2174875"/>
            <a:ext cx="5194583" cy="576262"/>
          </a:xfrm>
        </p:spPr>
        <p:txBody>
          <a:bodyPr anchor="b">
            <a:noAutofit/>
          </a:bodyPr>
          <a:lstStyle>
            <a:lvl1pPr marL="0" indent="0" algn="ctr">
              <a:buNone/>
              <a:defRPr sz="20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87415" y="2751138"/>
            <a:ext cx="5194583" cy="3109913"/>
          </a:xfrm>
        </p:spPr>
        <p:txBody>
          <a:bodyPr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B7F6C47-B260-4BB6-8230-7D14D5CDE026}" type="datetimeFigureOut">
              <a:rPr lang="en-US" smtClean="0"/>
              <a:t>1/26/2026</a:t>
            </a:fld>
            <a:endParaRPr lang="en-US" dirty="0"/>
          </a:p>
        </p:txBody>
      </p:sp>
      <p:sp>
        <p:nvSpPr>
          <p:cNvPr id="8" name="Footer Placeholder 7"/>
          <p:cNvSpPr>
            <a:spLocks noGrp="1"/>
          </p:cNvSpPr>
          <p:nvPr>
            <p:ph type="ftr" sz="quarter" idx="11"/>
          </p:nvPr>
        </p:nvSpPr>
        <p:spPr/>
        <p:txBody>
          <a:bodyPr/>
          <a:lstStyle/>
          <a:p>
            <a:r>
              <a:rPr lang="en-ZA" dirty="0"/>
              <a:t>Add a footer </a:t>
            </a:r>
            <a:endParaRPr lang="en-US" dirty="0"/>
          </a:p>
        </p:txBody>
      </p:sp>
      <p:sp>
        <p:nvSpPr>
          <p:cNvPr id="9" name="Slide Number Placeholder 8"/>
          <p:cNvSpPr>
            <a:spLocks noGrp="1"/>
          </p:cNvSpPr>
          <p:nvPr>
            <p:ph type="sldNum" sz="quarter" idx="12"/>
          </p:nvPr>
        </p:nvSpPr>
        <p:spPr/>
        <p:txBody>
          <a:bodyPr/>
          <a:lstStyle/>
          <a:p>
            <a:fld id="{A4942799-31AF-4FF8-9D79-C1A3E01FB207}" type="slidenum">
              <a:rPr lang="en-US" smtClean="0"/>
              <a:t>‹#›</a:t>
            </a:fld>
            <a:endParaRPr lang="en-US" dirty="0"/>
          </a:p>
        </p:txBody>
      </p:sp>
    </p:spTree>
    <p:extLst>
      <p:ext uri="{BB962C8B-B14F-4D97-AF65-F5344CB8AC3E}">
        <p14:creationId xmlns:p14="http://schemas.microsoft.com/office/powerpoint/2010/main" val="3355062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Freeform 6"/>
          <p:cNvSpPr/>
          <p:nvPr/>
        </p:nvSpPr>
        <p:spPr bwMode="ltGray">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ffectLst>
            <a:innerShdw blurRad="63500" dist="50800" dir="5400000">
              <a:prstClr val="black">
                <a:alpha val="50000"/>
              </a:prstClr>
            </a:innerShdw>
          </a:effectLst>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nchor="ctr" anchorCtr="0"/>
          <a:lstStyle>
            <a:lvl1pPr>
              <a:defRPr b="0"/>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B7F6C47-B260-4BB6-8230-7D14D5CDE026}" type="datetimeFigureOut">
              <a:rPr lang="en-US" smtClean="0"/>
              <a:t>1/26/2026</a:t>
            </a:fld>
            <a:endParaRPr lang="en-US" dirty="0"/>
          </a:p>
        </p:txBody>
      </p:sp>
      <p:sp>
        <p:nvSpPr>
          <p:cNvPr id="4" name="Footer Placeholder 3"/>
          <p:cNvSpPr>
            <a:spLocks noGrp="1"/>
          </p:cNvSpPr>
          <p:nvPr>
            <p:ph type="ftr" sz="quarter" idx="11"/>
          </p:nvPr>
        </p:nvSpPr>
        <p:spPr/>
        <p:txBody>
          <a:bodyPr/>
          <a:lstStyle/>
          <a:p>
            <a:r>
              <a:rPr lang="en-ZA" dirty="0"/>
              <a:t>Add a footer </a:t>
            </a:r>
            <a:endParaRPr lang="en-US" dirty="0"/>
          </a:p>
        </p:txBody>
      </p:sp>
      <p:sp>
        <p:nvSpPr>
          <p:cNvPr id="5" name="Slide Number Placeholder 4"/>
          <p:cNvSpPr>
            <a:spLocks noGrp="1"/>
          </p:cNvSpPr>
          <p:nvPr>
            <p:ph type="sldNum" sz="quarter" idx="12"/>
          </p:nvPr>
        </p:nvSpPr>
        <p:spPr/>
        <p:txBody>
          <a:bodyPr/>
          <a:lstStyle/>
          <a:p>
            <a:fld id="{A4942799-31AF-4FF8-9D79-C1A3E01FB207}" type="slidenum">
              <a:rPr lang="en-US" smtClean="0"/>
              <a:t>‹#›</a:t>
            </a:fld>
            <a:endParaRPr lang="en-US" dirty="0"/>
          </a:p>
        </p:txBody>
      </p:sp>
    </p:spTree>
    <p:extLst>
      <p:ext uri="{BB962C8B-B14F-4D97-AF65-F5344CB8AC3E}">
        <p14:creationId xmlns:p14="http://schemas.microsoft.com/office/powerpoint/2010/main" val="189812685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B7F6C47-B260-4BB6-8230-7D14D5CDE026}" type="datetimeFigureOut">
              <a:rPr lang="en-US" smtClean="0"/>
              <a:t>1/26/2026</a:t>
            </a:fld>
            <a:endParaRPr lang="en-US" dirty="0"/>
          </a:p>
        </p:txBody>
      </p:sp>
      <p:sp>
        <p:nvSpPr>
          <p:cNvPr id="3" name="Footer Placeholder 2"/>
          <p:cNvSpPr>
            <a:spLocks noGrp="1"/>
          </p:cNvSpPr>
          <p:nvPr>
            <p:ph type="ftr" sz="quarter" idx="11"/>
          </p:nvPr>
        </p:nvSpPr>
        <p:spPr/>
        <p:txBody>
          <a:bodyPr/>
          <a:lstStyle/>
          <a:p>
            <a:r>
              <a:rPr lang="en-ZA" dirty="0"/>
              <a:t>Add a footer </a:t>
            </a:r>
            <a:endParaRPr lang="en-US" dirty="0"/>
          </a:p>
        </p:txBody>
      </p:sp>
      <p:sp>
        <p:nvSpPr>
          <p:cNvPr id="4" name="Slide Number Placeholder 3"/>
          <p:cNvSpPr>
            <a:spLocks noGrp="1"/>
          </p:cNvSpPr>
          <p:nvPr>
            <p:ph type="sldNum" sz="quarter" idx="12"/>
          </p:nvPr>
        </p:nvSpPr>
        <p:spPr/>
        <p:txBody>
          <a:bodyPr/>
          <a:lstStyle/>
          <a:p>
            <a:fld id="{A4942799-31AF-4FF8-9D79-C1A3E01FB207}" type="slidenum">
              <a:rPr lang="en-US" smtClean="0"/>
              <a:t>‹#›</a:t>
            </a:fld>
            <a:endParaRPr lang="en-US" dirty="0"/>
          </a:p>
        </p:txBody>
      </p:sp>
    </p:spTree>
    <p:extLst>
      <p:ext uri="{BB962C8B-B14F-4D97-AF65-F5344CB8AC3E}">
        <p14:creationId xmlns:p14="http://schemas.microsoft.com/office/powerpoint/2010/main" val="334036570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2" name="Freeform 6"/>
          <p:cNvSpPr>
            <a:spLocks noChangeAspect="1"/>
          </p:cNvSpPr>
          <p:nvPr/>
        </p:nvSpPr>
        <p:spPr bwMode="ltGray">
          <a:xfrm>
            <a:off x="1073151" y="446087"/>
            <a:ext cx="3547533" cy="2838449"/>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effectLst>
            <a:innerShdw blurRad="114300">
              <a:prstClr val="black"/>
            </a:innerShdw>
          </a:effectLst>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1073151" y="446088"/>
            <a:ext cx="3547533" cy="2576512"/>
          </a:xfrm>
        </p:spPr>
        <p:txBody>
          <a:bodyPr anchor="ctr" anchorCtr="0"/>
          <a:lstStyle>
            <a:lvl1pPr algn="l">
              <a:defRPr sz="4000" b="0"/>
            </a:lvl1pPr>
          </a:lstStyle>
          <a:p>
            <a:r>
              <a:rPr lang="en-US"/>
              <a:t>Click to edit Master title style</a:t>
            </a:r>
            <a:endParaRPr lang="en-US" dirty="0"/>
          </a:p>
        </p:txBody>
      </p:sp>
      <p:sp>
        <p:nvSpPr>
          <p:cNvPr id="3" name="Content Placeholder 2"/>
          <p:cNvSpPr>
            <a:spLocks noGrp="1"/>
          </p:cNvSpPr>
          <p:nvPr>
            <p:ph idx="1"/>
          </p:nvPr>
        </p:nvSpPr>
        <p:spPr>
          <a:xfrm>
            <a:off x="4855633" y="446088"/>
            <a:ext cx="6252633" cy="5414963"/>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73151" y="3022600"/>
            <a:ext cx="3547533" cy="2838449"/>
          </a:xfrm>
        </p:spPr>
        <p:txBody>
          <a:bodyPr>
            <a:normAutofit/>
          </a:bodyPr>
          <a:lstStyle>
            <a:lvl1pPr marL="0" indent="0">
              <a:buNone/>
              <a:defRPr sz="2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FB7F6C47-B260-4BB6-8230-7D14D5CDE026}" type="datetimeFigureOut">
              <a:rPr lang="en-US" smtClean="0"/>
              <a:t>1/26/2026</a:t>
            </a:fld>
            <a:endParaRPr lang="en-US" dirty="0"/>
          </a:p>
        </p:txBody>
      </p:sp>
      <p:sp>
        <p:nvSpPr>
          <p:cNvPr id="6" name="Footer Placeholder 5"/>
          <p:cNvSpPr>
            <a:spLocks noGrp="1"/>
          </p:cNvSpPr>
          <p:nvPr>
            <p:ph type="ftr" sz="quarter" idx="11"/>
          </p:nvPr>
        </p:nvSpPr>
        <p:spPr/>
        <p:txBody>
          <a:bodyPr/>
          <a:lstStyle/>
          <a:p>
            <a:r>
              <a:rPr lang="en-ZA" dirty="0"/>
              <a:t>Add a footer </a:t>
            </a:r>
            <a:endParaRPr lang="en-US" dirty="0"/>
          </a:p>
        </p:txBody>
      </p:sp>
      <p:sp>
        <p:nvSpPr>
          <p:cNvPr id="7" name="Slide Number Placeholder 6"/>
          <p:cNvSpPr>
            <a:spLocks noGrp="1"/>
          </p:cNvSpPr>
          <p:nvPr>
            <p:ph type="sldNum" sz="quarter" idx="12"/>
          </p:nvPr>
        </p:nvSpPr>
        <p:spPr/>
        <p:txBody>
          <a:bodyPr/>
          <a:lstStyle/>
          <a:p>
            <a:fld id="{A4942799-31AF-4FF8-9D79-C1A3E01FB207}" type="slidenum">
              <a:rPr lang="en-US" smtClean="0"/>
              <a:t>‹#›</a:t>
            </a:fld>
            <a:endParaRPr lang="en-US" dirty="0"/>
          </a:p>
        </p:txBody>
      </p:sp>
    </p:spTree>
    <p:extLst>
      <p:ext uri="{BB962C8B-B14F-4D97-AF65-F5344CB8AC3E}">
        <p14:creationId xmlns:p14="http://schemas.microsoft.com/office/powerpoint/2010/main" val="310561175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8" name="Freeform 6"/>
          <p:cNvSpPr>
            <a:spLocks noChangeAspect="1"/>
          </p:cNvSpPr>
          <p:nvPr/>
        </p:nvSpPr>
        <p:spPr bwMode="ltGray">
          <a:xfrm>
            <a:off x="631697" y="1081456"/>
            <a:ext cx="6332416" cy="3239188"/>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solidFill>
              <a:schemeClr val="accent1"/>
            </a:solidFill>
          </a:ln>
          <a:effectLst>
            <a:innerShdw blurRad="114300">
              <a:prstClr val="black"/>
            </a:innerShdw>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50985" y="1238502"/>
            <a:ext cx="5893840" cy="2645912"/>
          </a:xfrm>
        </p:spPr>
        <p:txBody>
          <a:bodyPr anchor="ctr" anchorCtr="0"/>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853190" y="4443680"/>
            <a:ext cx="5891636" cy="713241"/>
          </a:xfrm>
        </p:spPr>
        <p:txBody>
          <a:bodyPr anchor="t">
            <a:no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9" name="Text Placeholder 5"/>
          <p:cNvSpPr>
            <a:spLocks noGrp="1"/>
          </p:cNvSpPr>
          <p:nvPr>
            <p:ph type="body" sz="quarter" idx="16"/>
          </p:nvPr>
        </p:nvSpPr>
        <p:spPr>
          <a:xfrm>
            <a:off x="7574642" y="1081456"/>
            <a:ext cx="3810001" cy="4075465"/>
          </a:xfrm>
        </p:spPr>
        <p:txBody>
          <a:bodyPr anchor="t" anchorCtr="0">
            <a:normAutofit/>
          </a:bodyPr>
          <a:lstStyle>
            <a:lvl1pPr marL="0" indent="0" algn="l">
              <a:buFontTx/>
              <a:buNone/>
              <a:defRPr sz="2800"/>
            </a:lvl1pPr>
          </a:lstStyle>
          <a:p>
            <a:pPr lvl="0"/>
            <a:r>
              <a:rPr lang="en-US"/>
              <a:t>Edit Master text styles</a:t>
            </a:r>
          </a:p>
        </p:txBody>
      </p:sp>
      <p:sp>
        <p:nvSpPr>
          <p:cNvPr id="4" name="Date Placeholder 3"/>
          <p:cNvSpPr>
            <a:spLocks noGrp="1"/>
          </p:cNvSpPr>
          <p:nvPr>
            <p:ph type="dt" sz="half" idx="10"/>
          </p:nvPr>
        </p:nvSpPr>
        <p:spPr/>
        <p:txBody>
          <a:bodyPr/>
          <a:lstStyle/>
          <a:p>
            <a:fld id="{FB7F6C47-B260-4BB6-8230-7D14D5CDE026}" type="datetimeFigureOut">
              <a:rPr lang="en-US" smtClean="0"/>
              <a:t>1/26/2026</a:t>
            </a:fld>
            <a:endParaRPr lang="en-US" dirty="0"/>
          </a:p>
        </p:txBody>
      </p:sp>
      <p:sp>
        <p:nvSpPr>
          <p:cNvPr id="5" name="Footer Placeholder 4"/>
          <p:cNvSpPr>
            <a:spLocks noGrp="1"/>
          </p:cNvSpPr>
          <p:nvPr>
            <p:ph type="ftr" sz="quarter" idx="11"/>
          </p:nvPr>
        </p:nvSpPr>
        <p:spPr/>
        <p:txBody>
          <a:bodyPr/>
          <a:lstStyle/>
          <a:p>
            <a:r>
              <a:rPr lang="en-ZA" dirty="0"/>
              <a:t>Add a footer </a:t>
            </a:r>
            <a:endParaRPr lang="en-US" dirty="0"/>
          </a:p>
        </p:txBody>
      </p:sp>
      <p:sp>
        <p:nvSpPr>
          <p:cNvPr id="6" name="Slide Number Placeholder 5"/>
          <p:cNvSpPr>
            <a:spLocks noGrp="1"/>
          </p:cNvSpPr>
          <p:nvPr>
            <p:ph type="sldNum" sz="quarter" idx="12"/>
          </p:nvPr>
        </p:nvSpPr>
        <p:spPr/>
        <p:txBody>
          <a:bodyPr/>
          <a:lstStyle/>
          <a:p>
            <a:fld id="{A4942799-31AF-4FF8-9D79-C1A3E01FB207}" type="slidenum">
              <a:rPr lang="en-US" smtClean="0"/>
              <a:t>‹#›</a:t>
            </a:fld>
            <a:endParaRPr lang="en-US" dirty="0"/>
          </a:p>
        </p:txBody>
      </p:sp>
    </p:spTree>
    <p:extLst>
      <p:ext uri="{BB962C8B-B14F-4D97-AF65-F5344CB8AC3E}">
        <p14:creationId xmlns:p14="http://schemas.microsoft.com/office/powerpoint/2010/main" val="414096451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9" name="Freeform 6"/>
          <p:cNvSpPr>
            <a:spLocks noChangeAspect="1"/>
          </p:cNvSpPr>
          <p:nvPr/>
        </p:nvSpPr>
        <p:spPr bwMode="ltGray">
          <a:xfrm>
            <a:off x="1140884" y="2286585"/>
            <a:ext cx="4895115" cy="2503972"/>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solidFill>
              <a:schemeClr val="accent1"/>
            </a:solidFill>
          </a:ln>
          <a:effectLst>
            <a:innerShdw blurRad="114300">
              <a:prstClr val="black"/>
            </a:innerShdw>
          </a:effectLst>
        </p:spPr>
        <p:style>
          <a:lnRef idx="1">
            <a:schemeClr val="accent1"/>
          </a:lnRef>
          <a:fillRef idx="3">
            <a:schemeClr val="accent1"/>
          </a:fillRef>
          <a:effectRef idx="2">
            <a:schemeClr val="accent1"/>
          </a:effectRef>
          <a:fontRef idx="minor">
            <a:schemeClr val="lt1"/>
          </a:fontRef>
        </p:style>
      </p:sp>
      <p:sp>
        <p:nvSpPr>
          <p:cNvPr id="38" name="Title 1"/>
          <p:cNvSpPr>
            <a:spLocks noGrp="1"/>
          </p:cNvSpPr>
          <p:nvPr>
            <p:ph type="title"/>
          </p:nvPr>
        </p:nvSpPr>
        <p:spPr>
          <a:xfrm>
            <a:off x="1357089" y="2435957"/>
            <a:ext cx="4382521" cy="2007789"/>
          </a:xfrm>
        </p:spPr>
        <p:txBody>
          <a:bodyPr anchor="ctr" anchorCtr="0"/>
          <a:lstStyle>
            <a:lvl1pPr algn="l">
              <a:defRPr sz="4000" b="0"/>
            </a:lvl1pPr>
          </a:lstStyle>
          <a:p>
            <a:r>
              <a:rPr lang="en-US"/>
              <a:t>Click to edit Master title style</a:t>
            </a:r>
            <a:endParaRPr lang="en-US" dirty="0"/>
          </a:p>
        </p:txBody>
      </p:sp>
      <p:sp>
        <p:nvSpPr>
          <p:cNvPr id="6" name="Text Placeholder 5"/>
          <p:cNvSpPr>
            <a:spLocks noGrp="1"/>
          </p:cNvSpPr>
          <p:nvPr>
            <p:ph type="body" sz="quarter" idx="16"/>
          </p:nvPr>
        </p:nvSpPr>
        <p:spPr>
          <a:xfrm>
            <a:off x="6156000" y="2286000"/>
            <a:ext cx="4880300" cy="2295525"/>
          </a:xfrm>
        </p:spPr>
        <p:txBody>
          <a:bodyPr anchor="ctr" anchorCtr="0">
            <a:normAutofit/>
          </a:bodyPr>
          <a:lstStyle>
            <a:lvl1pPr marL="0" indent="0" algn="ctr">
              <a:buFontTx/>
              <a:buNone/>
              <a:defRPr sz="2800"/>
            </a:lvl1pPr>
          </a:lstStyle>
          <a:p>
            <a:pPr lvl="0"/>
            <a:r>
              <a:rPr lang="en-US"/>
              <a:t>Edit Master text styles</a:t>
            </a:r>
          </a:p>
        </p:txBody>
      </p:sp>
      <p:sp>
        <p:nvSpPr>
          <p:cNvPr id="2" name="Date Placeholder 1"/>
          <p:cNvSpPr>
            <a:spLocks noGrp="1"/>
          </p:cNvSpPr>
          <p:nvPr>
            <p:ph type="dt" sz="half" idx="10"/>
          </p:nvPr>
        </p:nvSpPr>
        <p:spPr/>
        <p:txBody>
          <a:bodyPr/>
          <a:lstStyle/>
          <a:p>
            <a:fld id="{FB7F6C47-B260-4BB6-8230-7D14D5CDE026}" type="datetimeFigureOut">
              <a:rPr lang="en-US" smtClean="0"/>
              <a:t>1/26/2026</a:t>
            </a:fld>
            <a:endParaRPr lang="en-US" dirty="0"/>
          </a:p>
        </p:txBody>
      </p:sp>
      <p:sp>
        <p:nvSpPr>
          <p:cNvPr id="3" name="Footer Placeholder 2"/>
          <p:cNvSpPr>
            <a:spLocks noGrp="1"/>
          </p:cNvSpPr>
          <p:nvPr>
            <p:ph type="ftr" sz="quarter" idx="11"/>
          </p:nvPr>
        </p:nvSpPr>
        <p:spPr/>
        <p:txBody>
          <a:bodyPr/>
          <a:lstStyle/>
          <a:p>
            <a:r>
              <a:rPr lang="en-ZA" dirty="0"/>
              <a:t>Add a footer </a:t>
            </a:r>
            <a:endParaRPr lang="en-US" dirty="0"/>
          </a:p>
        </p:txBody>
      </p:sp>
      <p:sp>
        <p:nvSpPr>
          <p:cNvPr id="4" name="Slide Number Placeholder 3"/>
          <p:cNvSpPr>
            <a:spLocks noGrp="1"/>
          </p:cNvSpPr>
          <p:nvPr>
            <p:ph type="sldNum" sz="quarter" idx="12"/>
          </p:nvPr>
        </p:nvSpPr>
        <p:spPr/>
        <p:txBody>
          <a:bodyPr/>
          <a:lstStyle/>
          <a:p>
            <a:fld id="{A4942799-31AF-4FF8-9D79-C1A3E01FB207}" type="slidenum">
              <a:rPr lang="en-US" smtClean="0"/>
              <a:t>‹#›</a:t>
            </a:fld>
            <a:endParaRPr lang="en-US" dirty="0"/>
          </a:p>
        </p:txBody>
      </p:sp>
    </p:spTree>
    <p:extLst>
      <p:ext uri="{BB962C8B-B14F-4D97-AF65-F5344CB8AC3E}">
        <p14:creationId xmlns:p14="http://schemas.microsoft.com/office/powerpoint/2010/main" val="31684614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2" name="Freeform 6"/>
          <p:cNvSpPr>
            <a:spLocks noChangeAspect="1"/>
          </p:cNvSpPr>
          <p:nvPr/>
        </p:nvSpPr>
        <p:spPr bwMode="ltGray">
          <a:xfrm>
            <a:off x="7669651" y="0"/>
            <a:ext cx="4522349" cy="5861051"/>
          </a:xfrm>
          <a:custGeom>
            <a:avLst/>
            <a:gdLst/>
            <a:ahLst/>
            <a:cxnLst/>
            <a:rect l="0" t="0" r="r" b="b"/>
            <a:pathLst>
              <a:path w="2879" h="4320">
                <a:moveTo>
                  <a:pt x="183" y="0"/>
                </a:moveTo>
                <a:lnTo>
                  <a:pt x="183" y="1197"/>
                </a:lnTo>
                <a:lnTo>
                  <a:pt x="8" y="1372"/>
                </a:lnTo>
                <a:lnTo>
                  <a:pt x="8" y="1372"/>
                </a:lnTo>
                <a:lnTo>
                  <a:pt x="6" y="1376"/>
                </a:lnTo>
                <a:lnTo>
                  <a:pt x="3" y="1382"/>
                </a:lnTo>
                <a:lnTo>
                  <a:pt x="0" y="1387"/>
                </a:lnTo>
                <a:lnTo>
                  <a:pt x="0" y="1393"/>
                </a:lnTo>
                <a:lnTo>
                  <a:pt x="0" y="1399"/>
                </a:lnTo>
                <a:lnTo>
                  <a:pt x="3" y="1404"/>
                </a:lnTo>
                <a:lnTo>
                  <a:pt x="6" y="1410"/>
                </a:lnTo>
                <a:lnTo>
                  <a:pt x="8" y="1414"/>
                </a:lnTo>
                <a:lnTo>
                  <a:pt x="183" y="1589"/>
                </a:lnTo>
                <a:lnTo>
                  <a:pt x="183" y="4320"/>
                </a:lnTo>
                <a:lnTo>
                  <a:pt x="2879" y="4320"/>
                </a:lnTo>
                <a:lnTo>
                  <a:pt x="2879" y="0"/>
                </a:lnTo>
                <a:lnTo>
                  <a:pt x="183" y="0"/>
                </a:lnTo>
                <a:close/>
              </a:path>
            </a:pathLst>
          </a:custGeom>
          <a:ln/>
          <a:effectLst>
            <a:innerShdw blurRad="63500" dist="50800" dir="8100000">
              <a:prstClr val="black">
                <a:alpha val="50000"/>
              </a:prstClr>
            </a:innerShdw>
          </a:effectLst>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183540" y="586171"/>
            <a:ext cx="3754460" cy="5134798"/>
          </a:xfrm>
        </p:spPr>
        <p:txBody>
          <a:bodyPr vert="horz" anchor="ctr" anchorCtr="1"/>
          <a:lstStyle>
            <a:lvl1pPr algn="l">
              <a:defRPr b="0"/>
            </a:lvl1pPr>
          </a:lstStyle>
          <a:p>
            <a:r>
              <a:rPr lang="en-US"/>
              <a:t>Click to edit Master title style</a:t>
            </a:r>
            <a:endParaRPr lang="en-US" dirty="0"/>
          </a:p>
        </p:txBody>
      </p:sp>
      <p:sp>
        <p:nvSpPr>
          <p:cNvPr id="3" name="Vertical Text Placeholder 2"/>
          <p:cNvSpPr>
            <a:spLocks noGrp="1"/>
          </p:cNvSpPr>
          <p:nvPr>
            <p:ph type="body" orient="vert" idx="1"/>
          </p:nvPr>
        </p:nvSpPr>
        <p:spPr>
          <a:xfrm>
            <a:off x="810001" y="446089"/>
            <a:ext cx="6611540" cy="5414962"/>
          </a:xfrm>
        </p:spPr>
        <p:txBody>
          <a:bodyPr vert="horz" anchor="ctr" anchorCtr="1"/>
          <a:lstStyle>
            <a:lvl1pPr algn="ctr">
              <a:defRPr/>
            </a:lvl1pPr>
            <a:lvl2pPr algn="ctr">
              <a:defRPr/>
            </a:lvl2pPr>
            <a:lvl3pPr algn="ctr">
              <a:defRPr/>
            </a:lvl3pPr>
            <a:lvl4pPr algn="ctr">
              <a:defRPr/>
            </a:lvl4pPr>
            <a:lvl5pPr algn="ctr">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B7F6C47-B260-4BB6-8230-7D14D5CDE026}" type="datetimeFigureOut">
              <a:rPr lang="en-US" smtClean="0"/>
              <a:t>1/26/2026</a:t>
            </a:fld>
            <a:endParaRPr lang="en-US" dirty="0"/>
          </a:p>
        </p:txBody>
      </p:sp>
      <p:sp>
        <p:nvSpPr>
          <p:cNvPr id="5" name="Footer Placeholder 4"/>
          <p:cNvSpPr>
            <a:spLocks noGrp="1"/>
          </p:cNvSpPr>
          <p:nvPr>
            <p:ph type="ftr" sz="quarter" idx="11"/>
          </p:nvPr>
        </p:nvSpPr>
        <p:spPr/>
        <p:txBody>
          <a:bodyPr/>
          <a:lstStyle/>
          <a:p>
            <a:r>
              <a:rPr lang="en-ZA" dirty="0"/>
              <a:t>Add a footer </a:t>
            </a:r>
            <a:endParaRPr lang="en-US" dirty="0"/>
          </a:p>
        </p:txBody>
      </p:sp>
      <p:sp>
        <p:nvSpPr>
          <p:cNvPr id="6" name="Slide Number Placeholder 5"/>
          <p:cNvSpPr>
            <a:spLocks noGrp="1"/>
          </p:cNvSpPr>
          <p:nvPr>
            <p:ph type="sldNum" sz="quarter" idx="12"/>
          </p:nvPr>
        </p:nvSpPr>
        <p:spPr/>
        <p:txBody>
          <a:bodyPr/>
          <a:lstStyle/>
          <a:p>
            <a:fld id="{A4942799-31AF-4FF8-9D79-C1A3E01FB207}" type="slidenum">
              <a:rPr lang="en-US" smtClean="0"/>
              <a:t>‹#›</a:t>
            </a:fld>
            <a:endParaRPr lang="en-US" dirty="0"/>
          </a:p>
        </p:txBody>
      </p:sp>
    </p:spTree>
    <p:extLst>
      <p:ext uri="{BB962C8B-B14F-4D97-AF65-F5344CB8AC3E}">
        <p14:creationId xmlns:p14="http://schemas.microsoft.com/office/powerpoint/2010/main" val="11836948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blackWhite">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0000" y="447188"/>
            <a:ext cx="10571998" cy="970450"/>
          </a:xfrm>
          <a:prstGeom prst="rect">
            <a:avLst/>
          </a:prstGeom>
          <a:effectLst/>
        </p:spPr>
        <p:txBody>
          <a:bodyPr vert="horz" lIns="91440" tIns="45720" rIns="91440" bIns="45720" rtlCol="0" anchor="ctr" anchorCtr="0">
            <a:noAutofit/>
          </a:bodyPr>
          <a:lstStyle/>
          <a:p>
            <a:r>
              <a:rPr lang="en-US"/>
              <a:t>Click to edit Master title style</a:t>
            </a:r>
            <a:endParaRPr lang="en-US" dirty="0"/>
          </a:p>
        </p:txBody>
      </p:sp>
      <p:sp>
        <p:nvSpPr>
          <p:cNvPr id="3" name="Text Placeholder 2"/>
          <p:cNvSpPr>
            <a:spLocks noGrp="1"/>
          </p:cNvSpPr>
          <p:nvPr>
            <p:ph type="body" idx="1"/>
          </p:nvPr>
        </p:nvSpPr>
        <p:spPr>
          <a:xfrm>
            <a:off x="810000" y="2184401"/>
            <a:ext cx="10563285" cy="3674397"/>
          </a:xfrm>
          <a:prstGeom prst="rect">
            <a:avLst/>
          </a:prstGeom>
          <a:effectLst/>
        </p:spPr>
        <p:txBody>
          <a:bodyPr vert="horz" lIns="91440" tIns="45720" rIns="91440" bIns="45720" rtlCol="0"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3"/>
          </p:nvPr>
        </p:nvSpPr>
        <p:spPr>
          <a:xfrm>
            <a:off x="451514" y="6041362"/>
            <a:ext cx="8644320" cy="365125"/>
          </a:xfrm>
          <a:prstGeom prst="rect">
            <a:avLst/>
          </a:prstGeom>
        </p:spPr>
        <p:txBody>
          <a:bodyPr vert="horz" lIns="91440" tIns="45720" rIns="91440" bIns="45720" rtlCol="0" anchor="b"/>
          <a:lstStyle>
            <a:lvl1pPr algn="l">
              <a:defRPr sz="900">
                <a:solidFill>
                  <a:schemeClr val="tx1"/>
                </a:solidFill>
              </a:defRPr>
            </a:lvl1pPr>
          </a:lstStyle>
          <a:p>
            <a:r>
              <a:rPr lang="en-ZA" dirty="0"/>
              <a:t>Add a footer</a:t>
            </a:r>
            <a:endParaRPr lang="en-US" dirty="0"/>
          </a:p>
        </p:txBody>
      </p:sp>
      <p:sp>
        <p:nvSpPr>
          <p:cNvPr id="4" name="Date Placeholder 3"/>
          <p:cNvSpPr>
            <a:spLocks noGrp="1"/>
          </p:cNvSpPr>
          <p:nvPr>
            <p:ph type="dt" sz="half" idx="2"/>
          </p:nvPr>
        </p:nvSpPr>
        <p:spPr>
          <a:xfrm>
            <a:off x="9334626" y="6041362"/>
            <a:ext cx="1343706" cy="365125"/>
          </a:xfrm>
          <a:prstGeom prst="rect">
            <a:avLst/>
          </a:prstGeom>
        </p:spPr>
        <p:txBody>
          <a:bodyPr vert="horz" lIns="91440" tIns="45720" rIns="91440" bIns="45720" rtlCol="0" anchor="b"/>
          <a:lstStyle>
            <a:lvl1pPr algn="r">
              <a:defRPr sz="900">
                <a:solidFill>
                  <a:schemeClr val="tx1"/>
                </a:solidFill>
              </a:defRPr>
            </a:lvl1pPr>
          </a:lstStyle>
          <a:p>
            <a:fld id="{FB7F6C47-B260-4BB6-8230-7D14D5CDE026}" type="datetimeFigureOut">
              <a:rPr lang="en-US" smtClean="0"/>
              <a:t>1/26/2026</a:t>
            </a:fld>
            <a:endParaRPr lang="en-US" dirty="0"/>
          </a:p>
        </p:txBody>
      </p:sp>
      <p:sp>
        <p:nvSpPr>
          <p:cNvPr id="6" name="Slide Number Placeholder 5"/>
          <p:cNvSpPr>
            <a:spLocks noGrp="1"/>
          </p:cNvSpPr>
          <p:nvPr>
            <p:ph type="sldNum" sz="quarter" idx="4"/>
          </p:nvPr>
        </p:nvSpPr>
        <p:spPr>
          <a:xfrm>
            <a:off x="10678331" y="5915888"/>
            <a:ext cx="1062155" cy="490599"/>
          </a:xfrm>
          <a:prstGeom prst="rect">
            <a:avLst/>
          </a:prstGeom>
        </p:spPr>
        <p:txBody>
          <a:bodyPr vert="horz" lIns="91440" tIns="45720" rIns="91440" bIns="10800" rtlCol="0" anchor="b"/>
          <a:lstStyle>
            <a:lvl1pPr algn="r">
              <a:defRPr sz="2000">
                <a:solidFill>
                  <a:schemeClr val="accent1"/>
                </a:solidFill>
              </a:defRPr>
            </a:lvl1pPr>
          </a:lstStyle>
          <a:p>
            <a:fld id="{A4942799-31AF-4FF8-9D79-C1A3E01FB207}" type="slidenum">
              <a:rPr lang="en-US" smtClean="0"/>
              <a:t>‹#›</a:t>
            </a:fld>
            <a:endParaRPr lang="en-US" dirty="0"/>
          </a:p>
        </p:txBody>
      </p:sp>
    </p:spTree>
    <p:extLst>
      <p:ext uri="{BB962C8B-B14F-4D97-AF65-F5344CB8AC3E}">
        <p14:creationId xmlns:p14="http://schemas.microsoft.com/office/powerpoint/2010/main" val="3689481523"/>
      </p:ext>
    </p:extLst>
  </p:cSld>
  <p:clrMap bg1="lt1" tx1="dk1" bg2="lt2" tx2="dk2" accent1="accent1" accent2="accent2" accent3="accent3" accent4="accent4" accent5="accent5" accent6="accent6" hlink="hlink" folHlink="folHlink"/>
  <p:sldLayoutIdLst>
    <p:sldLayoutId id="2147483673" r:id="rId1"/>
    <p:sldLayoutId id="2147483676" r:id="rId2"/>
    <p:sldLayoutId id="2147483687" r:id="rId3"/>
    <p:sldLayoutId id="2147483688" r:id="rId4"/>
    <p:sldLayoutId id="2147483689" r:id="rId5"/>
    <p:sldLayoutId id="2147483681" r:id="rId6"/>
    <p:sldLayoutId id="2147483690" r:id="rId7"/>
    <p:sldLayoutId id="2147483682" r:id="rId8"/>
    <p:sldLayoutId id="2147483674" r:id="rId9"/>
    <p:sldLayoutId id="2147483675" r:id="rId10"/>
    <p:sldLayoutId id="2147483677" r:id="rId11"/>
    <p:sldLayoutId id="2147483678" r:id="rId12"/>
    <p:sldLayoutId id="2147483679" r:id="rId13"/>
    <p:sldLayoutId id="2147483680" r:id="rId14"/>
    <p:sldLayoutId id="2147483683" r:id="rId15"/>
    <p:sldLayoutId id="2147483684" r:id="rId16"/>
    <p:sldLayoutId id="2147483686" r:id="rId17"/>
  </p:sldLayoutIdLst>
  <p:txStyles>
    <p:titleStyle>
      <a:lvl1pPr algn="l" defTabSz="457200" rtl="0" eaLnBrk="1" latinLnBrk="0" hangingPunct="1">
        <a:spcBef>
          <a:spcPct val="0"/>
        </a:spcBef>
        <a:buNone/>
        <a:defRPr sz="4000" b="0" kern="1200">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ct val="20000"/>
        </a:spcBef>
        <a:spcAft>
          <a:spcPts val="600"/>
        </a:spcAft>
        <a:buClr>
          <a:schemeClr val="accent1"/>
        </a:buClr>
        <a:buSzPct val="80000"/>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SzPct val="80000"/>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SzPct val="80000"/>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SzPct val="80000"/>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SzPct val="80000"/>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popescunmarius@gmail.com"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1.xml"/><Relationship Id="rId5" Type="http://schemas.openxmlformats.org/officeDocument/2006/relationships/image" Target="../media/image2.emf"/><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2" Type="http://schemas.openxmlformats.org/officeDocument/2006/relationships/image" Target="../media/image210.png"/><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emf"/><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0.png"/><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70.png"/><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image" Target="../media/image8.png"/><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3BBD2A-60FD-4D0C-8344-28D7E6E38BA0}"/>
              </a:ext>
            </a:extLst>
          </p:cNvPr>
          <p:cNvSpPr>
            <a:spLocks noGrp="1"/>
          </p:cNvSpPr>
          <p:nvPr>
            <p:ph type="ctrTitle"/>
          </p:nvPr>
        </p:nvSpPr>
        <p:spPr/>
        <p:txBody>
          <a:bodyPr/>
          <a:lstStyle/>
          <a:p>
            <a:r>
              <a:rPr lang="en-US" dirty="0"/>
              <a:t>Probabilistic Programming</a:t>
            </a:r>
          </a:p>
        </p:txBody>
      </p:sp>
      <p:sp>
        <p:nvSpPr>
          <p:cNvPr id="3" name="Subtitle 2">
            <a:extLst>
              <a:ext uri="{FF2B5EF4-FFF2-40B4-BE49-F238E27FC236}">
                <a16:creationId xmlns:a16="http://schemas.microsoft.com/office/drawing/2014/main" id="{805F24E6-2AE8-4FD8-B92D-FE2CE716A235}"/>
              </a:ext>
            </a:extLst>
          </p:cNvPr>
          <p:cNvSpPr>
            <a:spLocks noGrp="1"/>
          </p:cNvSpPr>
          <p:nvPr>
            <p:ph type="subTitle" idx="1"/>
          </p:nvPr>
        </p:nvSpPr>
        <p:spPr>
          <a:xfrm>
            <a:off x="810001" y="5280846"/>
            <a:ext cx="10572000" cy="1398249"/>
          </a:xfrm>
        </p:spPr>
        <p:txBody>
          <a:bodyPr/>
          <a:lstStyle/>
          <a:p>
            <a:r>
              <a:rPr lang="en-US" dirty="0"/>
              <a:t>Marius Popescu</a:t>
            </a:r>
          </a:p>
          <a:p>
            <a:r>
              <a:rPr lang="en-US" sz="1800" dirty="0">
                <a:hlinkClick r:id="rId3"/>
              </a:rPr>
              <a:t>popescunmarius@gmail.com</a:t>
            </a:r>
            <a:endParaRPr lang="en-US" sz="1800" dirty="0"/>
          </a:p>
          <a:p>
            <a:r>
              <a:rPr lang="en-US"/>
              <a:t>2025 - 2026</a:t>
            </a:r>
            <a:endParaRPr lang="en-US" dirty="0"/>
          </a:p>
          <a:p>
            <a:endParaRPr lang="en-US" dirty="0"/>
          </a:p>
        </p:txBody>
      </p:sp>
    </p:spTree>
    <p:extLst>
      <p:ext uri="{BB962C8B-B14F-4D97-AF65-F5344CB8AC3E}">
        <p14:creationId xmlns:p14="http://schemas.microsoft.com/office/powerpoint/2010/main" val="20938811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13EAC2EE-B2B6-4735-A747-044BF9D8D765}"/>
              </a:ext>
            </a:extLst>
          </p:cNvPr>
          <p:cNvSpPr>
            <a:spLocks noGrp="1"/>
          </p:cNvSpPr>
          <p:nvPr>
            <p:ph type="title"/>
          </p:nvPr>
        </p:nvSpPr>
        <p:spPr/>
        <p:txBody>
          <a:bodyPr/>
          <a:lstStyle/>
          <a:p>
            <a:r>
              <a:rPr lang="en-US" dirty="0"/>
              <a:t>Variational Bayesian Methods</a:t>
            </a:r>
          </a:p>
        </p:txBody>
      </p:sp>
      <p:sp>
        <p:nvSpPr>
          <p:cNvPr id="6" name="Text Placeholder 5">
            <a:extLst>
              <a:ext uri="{FF2B5EF4-FFF2-40B4-BE49-F238E27FC236}">
                <a16:creationId xmlns:a16="http://schemas.microsoft.com/office/drawing/2014/main" id="{965F981C-A5E8-4681-BEE2-11DF796F41C8}"/>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1835458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BFFD2AE-3833-47CF-A611-C1E8AE1644F0}"/>
              </a:ext>
            </a:extLst>
          </p:cNvPr>
          <p:cNvSpPr>
            <a:spLocks noGrp="1"/>
          </p:cNvSpPr>
          <p:nvPr>
            <p:ph type="title"/>
          </p:nvPr>
        </p:nvSpPr>
        <p:spPr/>
        <p:txBody>
          <a:bodyPr/>
          <a:lstStyle/>
          <a:p>
            <a:r>
              <a:rPr lang="en-US" dirty="0"/>
              <a:t>Variational Bayesian Methods</a:t>
            </a:r>
          </a:p>
        </p:txBody>
      </p:sp>
      <p:sp>
        <p:nvSpPr>
          <p:cNvPr id="5" name="Content Placeholder 4">
            <a:extLst>
              <a:ext uri="{FF2B5EF4-FFF2-40B4-BE49-F238E27FC236}">
                <a16:creationId xmlns:a16="http://schemas.microsoft.com/office/drawing/2014/main" id="{C2BAB64A-966A-44E8-8F8A-EF42C20B1B1B}"/>
              </a:ext>
            </a:extLst>
          </p:cNvPr>
          <p:cNvSpPr>
            <a:spLocks noGrp="1"/>
          </p:cNvSpPr>
          <p:nvPr>
            <p:ph idx="1"/>
          </p:nvPr>
        </p:nvSpPr>
        <p:spPr>
          <a:xfrm>
            <a:off x="818712" y="2222287"/>
            <a:ext cx="10554574" cy="4635713"/>
          </a:xfrm>
        </p:spPr>
        <p:txBody>
          <a:bodyPr/>
          <a:lstStyle/>
          <a:p>
            <a:pPr algn="just"/>
            <a:r>
              <a:rPr lang="en-US" dirty="0"/>
              <a:t>Variational Bayesian methods are a family of techniques for approximating </a:t>
            </a:r>
            <a:r>
              <a:rPr lang="en-US" i="1" dirty="0"/>
              <a:t>intractable integrals</a:t>
            </a:r>
            <a:r>
              <a:rPr lang="en-US" dirty="0"/>
              <a:t> arising in Bayesian inference and machine learning. They are typically used in complex statistical models consisting of observed variables (usually termed "data") as well as unknown parameters and latent variables, with various sorts of relationships among the three types of random variables.</a:t>
            </a:r>
          </a:p>
          <a:p>
            <a:pPr algn="just"/>
            <a:r>
              <a:rPr lang="en-US" dirty="0"/>
              <a:t>Variational Bayesian methods are primarily used for two purposes:</a:t>
            </a:r>
          </a:p>
          <a:p>
            <a:pPr marL="685800" lvl="1" algn="just"/>
            <a:r>
              <a:rPr lang="en-US" dirty="0"/>
              <a:t>To provide an analytical approximation to the posterior probability of the unobserved variables, in order to do statistical inference over these variables.</a:t>
            </a:r>
          </a:p>
          <a:p>
            <a:pPr marL="685800" lvl="1" algn="just"/>
            <a:r>
              <a:rPr lang="en-US" dirty="0"/>
              <a:t>To derive a lower bound for the marginal likelihood (sometimes called the "evidence") of the observed data (i.e. the marginal probability of the data given the model, with marginalization performed over unobserved variables). This is typically used for performing model selection, the general idea being that a higher marginal likelihood for a given model indicates a better fit of the data by that model and hence a greater probability that the model in question was the one that generated the data. </a:t>
            </a:r>
          </a:p>
        </p:txBody>
      </p:sp>
    </p:spTree>
    <p:extLst>
      <p:ext uri="{BB962C8B-B14F-4D97-AF65-F5344CB8AC3E}">
        <p14:creationId xmlns:p14="http://schemas.microsoft.com/office/powerpoint/2010/main" val="7804186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C84A935-E47B-4823-9F73-D2C0C52223EE}"/>
              </a:ext>
            </a:extLst>
          </p:cNvPr>
          <p:cNvSpPr>
            <a:spLocks noGrp="1"/>
          </p:cNvSpPr>
          <p:nvPr>
            <p:ph type="title"/>
          </p:nvPr>
        </p:nvSpPr>
        <p:spPr/>
        <p:txBody>
          <a:bodyPr/>
          <a:lstStyle/>
          <a:p>
            <a:r>
              <a:rPr lang="en-US" dirty="0"/>
              <a:t>Variational Inference</a:t>
            </a:r>
          </a:p>
        </p:txBody>
      </p:sp>
      <p:sp>
        <p:nvSpPr>
          <p:cNvPr id="5" name="Text Placeholder 4">
            <a:extLst>
              <a:ext uri="{FF2B5EF4-FFF2-40B4-BE49-F238E27FC236}">
                <a16:creationId xmlns:a16="http://schemas.microsoft.com/office/drawing/2014/main" id="{8CC682D7-E569-4825-AF77-76C53ED4DD68}"/>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7035865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56A0C1E-3EFF-4026-8396-8F917F368C6A}"/>
              </a:ext>
            </a:extLst>
          </p:cNvPr>
          <p:cNvSpPr>
            <a:spLocks noGrp="1"/>
          </p:cNvSpPr>
          <p:nvPr>
            <p:ph type="title"/>
          </p:nvPr>
        </p:nvSpPr>
        <p:spPr/>
        <p:txBody>
          <a:bodyPr/>
          <a:lstStyle/>
          <a:p>
            <a:r>
              <a:rPr lang="en-US" dirty="0"/>
              <a:t>Approximate inference</a:t>
            </a:r>
          </a:p>
        </p:txBody>
      </p:sp>
      <p:sp>
        <p:nvSpPr>
          <p:cNvPr id="5" name="Text Placeholder 4">
            <a:extLst>
              <a:ext uri="{FF2B5EF4-FFF2-40B4-BE49-F238E27FC236}">
                <a16:creationId xmlns:a16="http://schemas.microsoft.com/office/drawing/2014/main" id="{776BE021-7308-43EC-AE89-C8EE70C6295D}"/>
              </a:ext>
            </a:extLst>
          </p:cNvPr>
          <p:cNvSpPr>
            <a:spLocks noGrp="1"/>
          </p:cNvSpPr>
          <p:nvPr>
            <p:ph type="body" idx="1"/>
          </p:nvPr>
        </p:nvSpPr>
        <p:spPr>
          <a:xfrm>
            <a:off x="814728" y="2174875"/>
            <a:ext cx="5189857" cy="576262"/>
          </a:xfrm>
        </p:spPr>
        <p:txBody>
          <a:bodyPr/>
          <a:lstStyle/>
          <a:p>
            <a:r>
              <a:rPr lang="en-US" dirty="0"/>
              <a:t>Variational Inference</a:t>
            </a:r>
          </a:p>
        </p:txBody>
      </p:sp>
      <mc:AlternateContent xmlns:mc="http://schemas.openxmlformats.org/markup-compatibility/2006" xmlns:a14="http://schemas.microsoft.com/office/drawing/2010/main">
        <mc:Choice Requires="a14">
          <p:sp>
            <p:nvSpPr>
              <p:cNvPr id="6" name="Content Placeholder 5">
                <a:extLst>
                  <a:ext uri="{FF2B5EF4-FFF2-40B4-BE49-F238E27FC236}">
                    <a16:creationId xmlns:a16="http://schemas.microsoft.com/office/drawing/2014/main" id="{5C74B955-43AC-4672-8751-529B0F4A6F10}"/>
                  </a:ext>
                </a:extLst>
              </p:cNvPr>
              <p:cNvSpPr>
                <a:spLocks noGrp="1"/>
              </p:cNvSpPr>
              <p:nvPr>
                <p:ph sz="half" idx="2"/>
              </p:nvPr>
            </p:nvSpPr>
            <p:spPr>
              <a:xfrm>
                <a:off x="814729" y="2751139"/>
                <a:ext cx="5189856" cy="1355726"/>
              </a:xfrm>
            </p:spPr>
            <p:txBody>
              <a:bodyPr/>
              <a:lstStyle/>
              <a:p>
                <a:pPr marL="0" indent="0">
                  <a:buNone/>
                </a:pPr>
                <a:r>
                  <a:rPr lang="en-US" dirty="0"/>
                  <a:t>Approximate </a:t>
                </a:r>
                <a14:m>
                  <m:oMath xmlns:m="http://schemas.openxmlformats.org/officeDocument/2006/math">
                    <m:r>
                      <a:rPr lang="en-US" b="0" i="1" smtClean="0">
                        <a:latin typeface="Cambria Math" panose="02040503050406030204" pitchFamily="18" charset="0"/>
                      </a:rPr>
                      <m:t>𝑝</m:t>
                    </m:r>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𝜃</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𝑥</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𝑞</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𝜃</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𝒬</m:t>
                    </m:r>
                  </m:oMath>
                </a14:m>
                <a:endParaRPr lang="en-US" dirty="0"/>
              </a:p>
              <a:p>
                <a:r>
                  <a:rPr lang="en-US" dirty="0"/>
                  <a:t>Biased</a:t>
                </a:r>
              </a:p>
              <a:p>
                <a:r>
                  <a:rPr lang="en-US" dirty="0"/>
                  <a:t>Faster and more scalable</a:t>
                </a:r>
              </a:p>
            </p:txBody>
          </p:sp>
        </mc:Choice>
        <mc:Fallback xmlns="">
          <p:sp>
            <p:nvSpPr>
              <p:cNvPr id="6" name="Content Placeholder 5">
                <a:extLst>
                  <a:ext uri="{FF2B5EF4-FFF2-40B4-BE49-F238E27FC236}">
                    <a16:creationId xmlns:a16="http://schemas.microsoft.com/office/drawing/2014/main" id="{5C74B955-43AC-4672-8751-529B0F4A6F10}"/>
                  </a:ext>
                </a:extLst>
              </p:cNvPr>
              <p:cNvSpPr>
                <a:spLocks noGrp="1" noRot="1" noChangeAspect="1" noMove="1" noResize="1" noEditPoints="1" noAdjustHandles="1" noChangeArrowheads="1" noChangeShapeType="1" noTextEdit="1"/>
              </p:cNvSpPr>
              <p:nvPr>
                <p:ph sz="half" idx="2"/>
              </p:nvPr>
            </p:nvSpPr>
            <p:spPr>
              <a:xfrm>
                <a:off x="814729" y="2751139"/>
                <a:ext cx="5189856" cy="1355726"/>
              </a:xfrm>
              <a:blipFill>
                <a:blip r:embed="rId2"/>
                <a:stretch>
                  <a:fillRect l="-1058" t="-2242"/>
                </a:stretch>
              </a:blipFill>
            </p:spPr>
            <p:txBody>
              <a:bodyPr/>
              <a:lstStyle/>
              <a:p>
                <a:r>
                  <a:rPr lang="en-US">
                    <a:noFill/>
                  </a:rPr>
                  <a:t> </a:t>
                </a:r>
              </a:p>
            </p:txBody>
          </p:sp>
        </mc:Fallback>
      </mc:AlternateContent>
      <p:sp>
        <p:nvSpPr>
          <p:cNvPr id="7" name="Text Placeholder 6">
            <a:extLst>
              <a:ext uri="{FF2B5EF4-FFF2-40B4-BE49-F238E27FC236}">
                <a16:creationId xmlns:a16="http://schemas.microsoft.com/office/drawing/2014/main" id="{FA5FF61C-3ECE-4E1D-9D73-3A4E4396626E}"/>
              </a:ext>
            </a:extLst>
          </p:cNvPr>
          <p:cNvSpPr>
            <a:spLocks noGrp="1"/>
          </p:cNvSpPr>
          <p:nvPr>
            <p:ph type="body" sz="quarter" idx="3"/>
          </p:nvPr>
        </p:nvSpPr>
        <p:spPr/>
        <p:txBody>
          <a:bodyPr/>
          <a:lstStyle/>
          <a:p>
            <a:r>
              <a:rPr lang="en-US" dirty="0"/>
              <a:t>MCMC</a:t>
            </a:r>
          </a:p>
        </p:txBody>
      </p:sp>
      <mc:AlternateContent xmlns:mc="http://schemas.openxmlformats.org/markup-compatibility/2006" xmlns:a14="http://schemas.microsoft.com/office/drawing/2010/main">
        <mc:Choice Requires="a14">
          <p:sp>
            <p:nvSpPr>
              <p:cNvPr id="8" name="Content Placeholder 7">
                <a:extLst>
                  <a:ext uri="{FF2B5EF4-FFF2-40B4-BE49-F238E27FC236}">
                    <a16:creationId xmlns:a16="http://schemas.microsoft.com/office/drawing/2014/main" id="{F7B195A1-2AB9-47C9-8E93-ADC8910E149F}"/>
                  </a:ext>
                </a:extLst>
              </p:cNvPr>
              <p:cNvSpPr>
                <a:spLocks noGrp="1"/>
              </p:cNvSpPr>
              <p:nvPr>
                <p:ph sz="quarter" idx="4"/>
              </p:nvPr>
            </p:nvSpPr>
            <p:spPr>
              <a:xfrm>
                <a:off x="6187415" y="2751139"/>
                <a:ext cx="5194583" cy="1355726"/>
              </a:xfrm>
            </p:spPr>
            <p:txBody>
              <a:bodyPr/>
              <a:lstStyle/>
              <a:p>
                <a:pPr marL="0" indent="0">
                  <a:buNone/>
                </a:pPr>
                <a:r>
                  <a:rPr lang="en-US" dirty="0"/>
                  <a:t>Samples from unnormalized </a:t>
                </a:r>
                <a14:m>
                  <m:oMath xmlns:m="http://schemas.openxmlformats.org/officeDocument/2006/math">
                    <m:r>
                      <a:rPr lang="en-US" i="1">
                        <a:latin typeface="Cambria Math" panose="02040503050406030204" pitchFamily="18" charset="0"/>
                      </a:rPr>
                      <m:t>𝑝</m:t>
                    </m:r>
                    <m:r>
                      <a:rPr lang="en-US" i="1">
                        <a:latin typeface="Cambria Math" panose="02040503050406030204" pitchFamily="18" charset="0"/>
                      </a:rPr>
                      <m:t>(</m:t>
                    </m:r>
                    <m:r>
                      <a:rPr lang="en-US" i="1">
                        <a:latin typeface="Cambria Math" panose="02040503050406030204" pitchFamily="18" charset="0"/>
                        <a:ea typeface="Cambria Math" panose="02040503050406030204" pitchFamily="18" charset="0"/>
                      </a:rPr>
                      <m:t>𝜃</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𝑥</m:t>
                    </m:r>
                    <m:r>
                      <a:rPr lang="en-US" i="1">
                        <a:latin typeface="Cambria Math" panose="02040503050406030204" pitchFamily="18" charset="0"/>
                        <a:ea typeface="Cambria Math" panose="02040503050406030204" pitchFamily="18" charset="0"/>
                      </a:rPr>
                      <m:t>)</m:t>
                    </m:r>
                  </m:oMath>
                </a14:m>
                <a:endParaRPr lang="en-US" dirty="0"/>
              </a:p>
              <a:p>
                <a:r>
                  <a:rPr lang="en-US" dirty="0"/>
                  <a:t>Unbiased</a:t>
                </a:r>
              </a:p>
              <a:p>
                <a:r>
                  <a:rPr lang="en-US" dirty="0"/>
                  <a:t>Need a lot of samples</a:t>
                </a:r>
              </a:p>
            </p:txBody>
          </p:sp>
        </mc:Choice>
        <mc:Fallback xmlns="">
          <p:sp>
            <p:nvSpPr>
              <p:cNvPr id="8" name="Content Placeholder 7">
                <a:extLst>
                  <a:ext uri="{FF2B5EF4-FFF2-40B4-BE49-F238E27FC236}">
                    <a16:creationId xmlns:a16="http://schemas.microsoft.com/office/drawing/2014/main" id="{F7B195A1-2AB9-47C9-8E93-ADC8910E149F}"/>
                  </a:ext>
                </a:extLst>
              </p:cNvPr>
              <p:cNvSpPr>
                <a:spLocks noGrp="1" noRot="1" noChangeAspect="1" noMove="1" noResize="1" noEditPoints="1" noAdjustHandles="1" noChangeArrowheads="1" noChangeShapeType="1" noTextEdit="1"/>
              </p:cNvSpPr>
              <p:nvPr>
                <p:ph sz="quarter" idx="4"/>
              </p:nvPr>
            </p:nvSpPr>
            <p:spPr>
              <a:xfrm>
                <a:off x="6187415" y="2751139"/>
                <a:ext cx="5194583" cy="1355726"/>
              </a:xfrm>
              <a:blipFill>
                <a:blip r:embed="rId3"/>
                <a:stretch>
                  <a:fillRect l="-1056" t="-224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5B7265E4-F0F2-415A-81CD-4FE78404D931}"/>
                  </a:ext>
                </a:extLst>
              </p:cNvPr>
              <p:cNvSpPr txBox="1"/>
              <p:nvPr/>
            </p:nvSpPr>
            <p:spPr>
              <a:xfrm>
                <a:off x="3675759" y="1899722"/>
                <a:ext cx="4530727" cy="369332"/>
              </a:xfrm>
              <a:prstGeom prst="rect">
                <a:avLst/>
              </a:prstGeom>
              <a:noFill/>
            </p:spPr>
            <p:txBody>
              <a:bodyPr wrap="none" rtlCol="0">
                <a:spAutoFit/>
              </a:bodyPr>
              <a:lstStyle/>
              <a:p>
                <a:r>
                  <a:rPr lang="en-US" dirty="0"/>
                  <a:t>Probabilistic model: </a:t>
                </a:r>
                <a14:m>
                  <m:oMath xmlns:m="http://schemas.openxmlformats.org/officeDocument/2006/math">
                    <m:r>
                      <a:rPr lang="en-US" b="0" i="1" smtClean="0">
                        <a:latin typeface="Cambria Math" panose="02040503050406030204" pitchFamily="18" charset="0"/>
                      </a:rPr>
                      <m:t>𝑝</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𝜃</m:t>
                        </m:r>
                      </m:e>
                    </m:d>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𝑝</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𝑥</m:t>
                        </m:r>
                      </m:e>
                      <m:e>
                        <m:r>
                          <a:rPr lang="en-US" b="0" i="1" smtClean="0">
                            <a:latin typeface="Cambria Math" panose="02040503050406030204" pitchFamily="18" charset="0"/>
                            <a:ea typeface="Cambria Math" panose="02040503050406030204" pitchFamily="18" charset="0"/>
                          </a:rPr>
                          <m:t>𝜃</m:t>
                        </m:r>
                      </m:e>
                    </m:d>
                    <m:r>
                      <a:rPr lang="en-US" b="0" i="1" smtClean="0">
                        <a:latin typeface="Cambria Math" panose="02040503050406030204" pitchFamily="18" charset="0"/>
                        <a:ea typeface="Cambria Math" panose="02040503050406030204" pitchFamily="18" charset="0"/>
                      </a:rPr>
                      <m:t>𝑝</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𝜃</m:t>
                    </m:r>
                    <m:r>
                      <a:rPr lang="en-US" b="0" i="1" smtClean="0">
                        <a:latin typeface="Cambria Math" panose="02040503050406030204" pitchFamily="18" charset="0"/>
                        <a:ea typeface="Cambria Math" panose="02040503050406030204" pitchFamily="18" charset="0"/>
                      </a:rPr>
                      <m:t>)</m:t>
                    </m:r>
                  </m:oMath>
                </a14:m>
                <a:endParaRPr lang="en-US" dirty="0"/>
              </a:p>
            </p:txBody>
          </p:sp>
        </mc:Choice>
        <mc:Fallback xmlns="">
          <p:sp>
            <p:nvSpPr>
              <p:cNvPr id="9" name="TextBox 8">
                <a:extLst>
                  <a:ext uri="{FF2B5EF4-FFF2-40B4-BE49-F238E27FC236}">
                    <a16:creationId xmlns:a16="http://schemas.microsoft.com/office/drawing/2014/main" id="{5B7265E4-F0F2-415A-81CD-4FE78404D931}"/>
                  </a:ext>
                </a:extLst>
              </p:cNvPr>
              <p:cNvSpPr txBox="1">
                <a:spLocks noRot="1" noChangeAspect="1" noMove="1" noResize="1" noEditPoints="1" noAdjustHandles="1" noChangeArrowheads="1" noChangeShapeType="1" noTextEdit="1"/>
              </p:cNvSpPr>
              <p:nvPr/>
            </p:nvSpPr>
            <p:spPr>
              <a:xfrm>
                <a:off x="3675759" y="1899722"/>
                <a:ext cx="4530727" cy="369332"/>
              </a:xfrm>
              <a:prstGeom prst="rect">
                <a:avLst/>
              </a:prstGeom>
              <a:blipFill>
                <a:blip r:embed="rId4"/>
                <a:stretch>
                  <a:fillRect l="-1211" t="-10000" b="-26667"/>
                </a:stretch>
              </a:blipFill>
            </p:spPr>
            <p:txBody>
              <a:bodyPr/>
              <a:lstStyle/>
              <a:p>
                <a:r>
                  <a:rPr lang="en-US">
                    <a:noFill/>
                  </a:rPr>
                  <a:t> </a:t>
                </a:r>
              </a:p>
            </p:txBody>
          </p:sp>
        </mc:Fallback>
      </mc:AlternateContent>
      <p:pic>
        <p:nvPicPr>
          <p:cNvPr id="10" name="Picture 9">
            <a:extLst>
              <a:ext uri="{FF2B5EF4-FFF2-40B4-BE49-F238E27FC236}">
                <a16:creationId xmlns:a16="http://schemas.microsoft.com/office/drawing/2014/main" id="{3BE16458-8616-4C8C-BBCA-B412B08AD081}"/>
              </a:ext>
            </a:extLst>
          </p:cNvPr>
          <p:cNvPicPr>
            <a:picLocks noChangeAspect="1"/>
          </p:cNvPicPr>
          <p:nvPr/>
        </p:nvPicPr>
        <p:blipFill>
          <a:blip r:embed="rId5"/>
          <a:stretch>
            <a:fillRect/>
          </a:stretch>
        </p:blipFill>
        <p:spPr>
          <a:xfrm>
            <a:off x="2540714" y="4086466"/>
            <a:ext cx="6153835" cy="2375060"/>
          </a:xfrm>
          <a:prstGeom prst="rect">
            <a:avLst/>
          </a:prstGeom>
        </p:spPr>
      </p:pic>
    </p:spTree>
    <p:extLst>
      <p:ext uri="{BB962C8B-B14F-4D97-AF65-F5344CB8AC3E}">
        <p14:creationId xmlns:p14="http://schemas.microsoft.com/office/powerpoint/2010/main" val="13136938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B9C7166-B87B-49D4-9F89-8A65A228021D}"/>
              </a:ext>
            </a:extLst>
          </p:cNvPr>
          <p:cNvSpPr>
            <a:spLocks noGrp="1"/>
          </p:cNvSpPr>
          <p:nvPr>
            <p:ph type="title"/>
          </p:nvPr>
        </p:nvSpPr>
        <p:spPr/>
        <p:txBody>
          <a:bodyPr/>
          <a:lstStyle/>
          <a:p>
            <a:r>
              <a:rPr lang="en-US" dirty="0"/>
              <a:t>Variational Inference</a:t>
            </a:r>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C9761630-0825-40E8-BA53-7C66B95C00C0}"/>
                  </a:ext>
                </a:extLst>
              </p:cNvPr>
              <p:cNvSpPr>
                <a:spLocks noGrp="1"/>
              </p:cNvSpPr>
              <p:nvPr>
                <p:ph idx="1"/>
              </p:nvPr>
            </p:nvSpPr>
            <p:spPr>
              <a:xfrm>
                <a:off x="818712" y="2120349"/>
                <a:ext cx="10554574" cy="4737652"/>
              </a:xfrm>
            </p:spPr>
            <p:txBody>
              <a:bodyPr>
                <a:normAutofit lnSpcReduction="10000"/>
              </a:bodyPr>
              <a:lstStyle/>
              <a:p>
                <a:pPr marL="0" indent="0" algn="just">
                  <a:buNone/>
                </a:pPr>
                <a:r>
                  <a:rPr lang="en-US" dirty="0"/>
                  <a:t>In variational inference, the posterior distribution over a set of unobserved variables </a:t>
                </a:r>
                <a14:m>
                  <m:oMath xmlns:m="http://schemas.openxmlformats.org/officeDocument/2006/math">
                    <m:r>
                      <a:rPr lang="en-US" b="1" i="0" smtClean="0">
                        <a:latin typeface="Cambria Math" panose="02040503050406030204" pitchFamily="18" charset="0"/>
                      </a:rPr>
                      <m:t>𝐙</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𝑍</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𝑍</m:t>
                        </m:r>
                      </m:e>
                      <m:sub>
                        <m:r>
                          <a:rPr lang="en-US" b="0" i="1" smtClean="0">
                            <a:latin typeface="Cambria Math" panose="02040503050406030204" pitchFamily="18" charset="0"/>
                          </a:rPr>
                          <m:t>𝑛</m:t>
                        </m:r>
                      </m:sub>
                    </m:sSub>
                    <m:r>
                      <a:rPr lang="en-US" b="0" i="1" smtClean="0">
                        <a:latin typeface="Cambria Math" panose="02040503050406030204" pitchFamily="18" charset="0"/>
                      </a:rPr>
                      <m:t>}</m:t>
                    </m:r>
                  </m:oMath>
                </a14:m>
                <a:r>
                  <a:rPr lang="en-US" dirty="0"/>
                  <a:t> given some data </a:t>
                </a:r>
                <a14:m>
                  <m:oMath xmlns:m="http://schemas.openxmlformats.org/officeDocument/2006/math">
                    <m:r>
                      <a:rPr lang="en-US" b="1" i="0" smtClean="0">
                        <a:latin typeface="Cambria Math" panose="02040503050406030204" pitchFamily="18" charset="0"/>
                      </a:rPr>
                      <m:t>𝐗</m:t>
                    </m:r>
                  </m:oMath>
                </a14:m>
                <a:r>
                  <a:rPr lang="en-US" dirty="0"/>
                  <a:t>  is approximated by a variational distribution, </a:t>
                </a:r>
                <a14:m>
                  <m:oMath xmlns:m="http://schemas.openxmlformats.org/officeDocument/2006/math">
                    <m:r>
                      <a:rPr lang="en-US" b="0" i="1" smtClean="0">
                        <a:latin typeface="Cambria Math" panose="02040503050406030204" pitchFamily="18" charset="0"/>
                      </a:rPr>
                      <m:t>𝑞</m:t>
                    </m:r>
                    <m:r>
                      <a:rPr lang="en-US" b="0" i="1" smtClean="0">
                        <a:latin typeface="Cambria Math" panose="02040503050406030204" pitchFamily="18" charset="0"/>
                      </a:rPr>
                      <m:t>(</m:t>
                    </m:r>
                    <m:r>
                      <a:rPr lang="en-US" b="1" i="0" smtClean="0">
                        <a:latin typeface="Cambria Math" panose="02040503050406030204" pitchFamily="18" charset="0"/>
                      </a:rPr>
                      <m:t>𝐙</m:t>
                    </m:r>
                    <m:r>
                      <a:rPr lang="en-US" b="0" i="1" smtClean="0">
                        <a:latin typeface="Cambria Math" panose="02040503050406030204" pitchFamily="18" charset="0"/>
                      </a:rPr>
                      <m:t>)</m:t>
                    </m:r>
                  </m:oMath>
                </a14:m>
                <a:r>
                  <a:rPr lang="en-US" dirty="0"/>
                  <a:t>:</a:t>
                </a:r>
              </a:p>
              <a:p>
                <a:pPr marL="0" indent="0" algn="just">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𝑝</m:t>
                      </m:r>
                      <m:r>
                        <a:rPr lang="en-US" b="0" i="1" smtClean="0">
                          <a:latin typeface="Cambria Math" panose="02040503050406030204" pitchFamily="18" charset="0"/>
                        </a:rPr>
                        <m:t>(</m:t>
                      </m:r>
                      <m:r>
                        <a:rPr lang="en-US" b="1" i="0" smtClean="0">
                          <a:latin typeface="Cambria Math" panose="02040503050406030204" pitchFamily="18" charset="0"/>
                        </a:rPr>
                        <m:t>𝐙</m:t>
                      </m:r>
                      <m:r>
                        <a:rPr lang="en-US" b="0" i="1" smtClean="0">
                          <a:latin typeface="Cambria Math" panose="02040503050406030204" pitchFamily="18" charset="0"/>
                        </a:rPr>
                        <m:t>|</m:t>
                      </m:r>
                      <m:r>
                        <a:rPr lang="en-US" b="1" i="0" smtClean="0">
                          <a:latin typeface="Cambria Math" panose="02040503050406030204" pitchFamily="18" charset="0"/>
                        </a:rPr>
                        <m:t>𝐗</m:t>
                      </m:r>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𝑞</m:t>
                      </m:r>
                      <m:r>
                        <a:rPr lang="en-US" b="0" i="1" smtClean="0">
                          <a:latin typeface="Cambria Math" panose="02040503050406030204" pitchFamily="18" charset="0"/>
                          <a:ea typeface="Cambria Math" panose="02040503050406030204" pitchFamily="18" charset="0"/>
                        </a:rPr>
                        <m:t>(</m:t>
                      </m:r>
                      <m:r>
                        <a:rPr lang="en-US" b="1" i="0" smtClean="0">
                          <a:latin typeface="Cambria Math" panose="02040503050406030204" pitchFamily="18" charset="0"/>
                          <a:ea typeface="Cambria Math" panose="02040503050406030204" pitchFamily="18" charset="0"/>
                        </a:rPr>
                        <m:t>𝐙</m:t>
                      </m:r>
                      <m:r>
                        <a:rPr lang="en-US" b="0" i="1" smtClean="0">
                          <a:latin typeface="Cambria Math" panose="02040503050406030204" pitchFamily="18" charset="0"/>
                          <a:ea typeface="Cambria Math" panose="02040503050406030204" pitchFamily="18" charset="0"/>
                        </a:rPr>
                        <m:t>)</m:t>
                      </m:r>
                    </m:oMath>
                  </m:oMathPara>
                </a14:m>
                <a:endParaRPr lang="en-US" dirty="0"/>
              </a:p>
              <a:p>
                <a:pPr marL="0" indent="0" algn="just">
                  <a:buNone/>
                </a:pPr>
                <a:r>
                  <a:rPr lang="en-US" dirty="0"/>
                  <a:t>The distribution </a:t>
                </a:r>
                <a14:m>
                  <m:oMath xmlns:m="http://schemas.openxmlformats.org/officeDocument/2006/math">
                    <m:r>
                      <a:rPr lang="en-US" i="1">
                        <a:latin typeface="Cambria Math" panose="02040503050406030204" pitchFamily="18" charset="0"/>
                      </a:rPr>
                      <m:t>𝑞</m:t>
                    </m:r>
                    <m:r>
                      <a:rPr lang="en-US" i="1">
                        <a:latin typeface="Cambria Math" panose="02040503050406030204" pitchFamily="18" charset="0"/>
                      </a:rPr>
                      <m:t>(</m:t>
                    </m:r>
                    <m:r>
                      <a:rPr lang="en-US" b="1">
                        <a:latin typeface="Cambria Math" panose="02040503050406030204" pitchFamily="18" charset="0"/>
                      </a:rPr>
                      <m:t>𝐙</m:t>
                    </m:r>
                    <m:r>
                      <a:rPr lang="en-US" i="1">
                        <a:latin typeface="Cambria Math" panose="02040503050406030204" pitchFamily="18" charset="0"/>
                      </a:rPr>
                      <m:t>)</m:t>
                    </m:r>
                  </m:oMath>
                </a14:m>
                <a:r>
                  <a:rPr lang="en-US" dirty="0"/>
                  <a:t> is restricted to belong to a family of distributions (with its own </a:t>
                </a:r>
                <a:r>
                  <a:rPr lang="en-US" i="1" dirty="0"/>
                  <a:t>variational parameters </a:t>
                </a:r>
                <a14:m>
                  <m:oMath xmlns:m="http://schemas.openxmlformats.org/officeDocument/2006/math">
                    <m:r>
                      <a:rPr lang="en-US" i="1" smtClean="0">
                        <a:latin typeface="Cambria Math" panose="02040503050406030204" pitchFamily="18" charset="0"/>
                        <a:ea typeface="Cambria Math" panose="02040503050406030204" pitchFamily="18" charset="0"/>
                      </a:rPr>
                      <m:t>𝜆</m:t>
                    </m:r>
                  </m:oMath>
                </a14:m>
                <a:r>
                  <a:rPr lang="en-US" dirty="0"/>
                  <a:t>) of simpler form than </a:t>
                </a:r>
                <a14:m>
                  <m:oMath xmlns:m="http://schemas.openxmlformats.org/officeDocument/2006/math">
                    <m:r>
                      <a:rPr lang="en-US" i="1">
                        <a:latin typeface="Cambria Math" panose="02040503050406030204" pitchFamily="18" charset="0"/>
                      </a:rPr>
                      <m:t>𝑝</m:t>
                    </m:r>
                    <m:r>
                      <a:rPr lang="en-US" i="1">
                        <a:latin typeface="Cambria Math" panose="02040503050406030204" pitchFamily="18" charset="0"/>
                      </a:rPr>
                      <m:t>(</m:t>
                    </m:r>
                    <m:r>
                      <a:rPr lang="en-US" b="1">
                        <a:latin typeface="Cambria Math" panose="02040503050406030204" pitchFamily="18" charset="0"/>
                      </a:rPr>
                      <m:t>𝐙</m:t>
                    </m:r>
                    <m:r>
                      <a:rPr lang="en-US" i="1">
                        <a:latin typeface="Cambria Math" panose="02040503050406030204" pitchFamily="18" charset="0"/>
                      </a:rPr>
                      <m:t>|</m:t>
                    </m:r>
                    <m:r>
                      <a:rPr lang="en-US" b="1">
                        <a:latin typeface="Cambria Math" panose="02040503050406030204" pitchFamily="18" charset="0"/>
                      </a:rPr>
                      <m:t>𝐗</m:t>
                    </m:r>
                    <m:r>
                      <a:rPr lang="en-US" i="1">
                        <a:latin typeface="Cambria Math" panose="02040503050406030204" pitchFamily="18" charset="0"/>
                      </a:rPr>
                      <m:t>)</m:t>
                    </m:r>
                  </m:oMath>
                </a14:m>
                <a:r>
                  <a:rPr lang="en-US" dirty="0"/>
                  <a:t> (typically, the true posterior is not in the variational family).</a:t>
                </a:r>
              </a:p>
              <a:p>
                <a:pPr marL="0" indent="0" algn="just">
                  <a:buNone/>
                </a:pPr>
                <a:r>
                  <a:rPr lang="en-US" dirty="0"/>
                  <a:t>The aim is to find the variational parameters </a:t>
                </a:r>
                <a14:m>
                  <m:oMath xmlns:m="http://schemas.openxmlformats.org/officeDocument/2006/math">
                    <m:r>
                      <a:rPr lang="en-US" i="1" smtClean="0">
                        <a:latin typeface="Cambria Math" panose="02040503050406030204" pitchFamily="18" charset="0"/>
                        <a:ea typeface="Cambria Math" panose="02040503050406030204" pitchFamily="18" charset="0"/>
                      </a:rPr>
                      <m:t>𝜆</m:t>
                    </m:r>
                  </m:oMath>
                </a14:m>
                <a:r>
                  <a:rPr lang="en-US" dirty="0"/>
                  <a:t> that makes </a:t>
                </a:r>
                <a14:m>
                  <m:oMath xmlns:m="http://schemas.openxmlformats.org/officeDocument/2006/math">
                    <m:r>
                      <a:rPr lang="en-US" b="0" i="1" smtClean="0">
                        <a:latin typeface="Cambria Math" panose="02040503050406030204" pitchFamily="18" charset="0"/>
                      </a:rPr>
                      <m:t>𝑞</m:t>
                    </m:r>
                  </m:oMath>
                </a14:m>
                <a:r>
                  <a:rPr lang="en-US" dirty="0"/>
                  <a:t> close to the posterior of interest and use </a:t>
                </a:r>
                <a14:m>
                  <m:oMath xmlns:m="http://schemas.openxmlformats.org/officeDocument/2006/math">
                    <m:r>
                      <a:rPr lang="en-US" b="0" i="1" smtClean="0">
                        <a:latin typeface="Cambria Math" panose="02040503050406030204" pitchFamily="18" charset="0"/>
                      </a:rPr>
                      <m:t>𝑞</m:t>
                    </m:r>
                  </m:oMath>
                </a14:m>
                <a:r>
                  <a:rPr lang="en-US" dirty="0"/>
                  <a:t> with the fitted parameters as a proxy for the posterior, e.g., to form predictions about future data or to investigate the posterior distribution of the hidden variables. </a:t>
                </a:r>
              </a:p>
              <a:p>
                <a:pPr marL="0" indent="0" algn="just">
                  <a:buNone/>
                </a:pPr>
                <a:r>
                  <a:rPr lang="en-US" dirty="0"/>
                  <a:t>The most common type of variational inference uses the </a:t>
                </a:r>
                <a:r>
                  <a:rPr lang="en-US" dirty="0" err="1"/>
                  <a:t>Kullback</a:t>
                </a:r>
                <a:r>
                  <a:rPr lang="en-US" dirty="0"/>
                  <a:t>–</a:t>
                </a:r>
                <a:r>
                  <a:rPr lang="en-US" dirty="0" err="1"/>
                  <a:t>Leibler</a:t>
                </a:r>
                <a:r>
                  <a:rPr lang="en-US" dirty="0"/>
                  <a:t> divergence (KL-divergence) of </a:t>
                </a:r>
                <a:r>
                  <a:rPr lang="en-US" dirty="0" err="1"/>
                  <a:t>of</a:t>
                </a:r>
                <a:r>
                  <a:rPr lang="en-US" dirty="0"/>
                  <a:t> the two distributions as measure of the closeness.</a:t>
                </a:r>
              </a:p>
              <a:p>
                <a:pPr marL="0" indent="0" algn="just">
                  <a:buNone/>
                </a:pPr>
                <a:endParaRPr lang="en-US" dirty="0"/>
              </a:p>
              <a:p>
                <a:pPr marL="0" indent="0" algn="just">
                  <a:buNone/>
                </a:pPr>
                <a:r>
                  <a:rPr lang="en-US" b="1" dirty="0"/>
                  <a:t>Variational inference can be seen as an extension of the maximum a posteriori estimation (MAP) of the single most probable value of each parameter to fully Bayesian estimation which computes (an approximation to) the entire posterior distribution of the latent variables.</a:t>
                </a:r>
              </a:p>
            </p:txBody>
          </p:sp>
        </mc:Choice>
        <mc:Fallback xmlns="">
          <p:sp>
            <p:nvSpPr>
              <p:cNvPr id="5" name="Content Placeholder 4">
                <a:extLst>
                  <a:ext uri="{FF2B5EF4-FFF2-40B4-BE49-F238E27FC236}">
                    <a16:creationId xmlns:a16="http://schemas.microsoft.com/office/drawing/2014/main" id="{C9761630-0825-40E8-BA53-7C66B95C00C0}"/>
                  </a:ext>
                </a:extLst>
              </p:cNvPr>
              <p:cNvSpPr>
                <a:spLocks noGrp="1" noRot="1" noChangeAspect="1" noMove="1" noResize="1" noEditPoints="1" noAdjustHandles="1" noChangeArrowheads="1" noChangeShapeType="1" noTextEdit="1"/>
              </p:cNvSpPr>
              <p:nvPr>
                <p:ph idx="1"/>
              </p:nvPr>
            </p:nvSpPr>
            <p:spPr>
              <a:xfrm>
                <a:off x="818712" y="2120349"/>
                <a:ext cx="10554574" cy="4737652"/>
              </a:xfrm>
              <a:blipFill>
                <a:blip r:embed="rId2"/>
                <a:stretch>
                  <a:fillRect l="-462" r="-462" b="-129"/>
                </a:stretch>
              </a:blipFill>
            </p:spPr>
            <p:txBody>
              <a:bodyPr/>
              <a:lstStyle/>
              <a:p>
                <a:r>
                  <a:rPr lang="en-US">
                    <a:noFill/>
                  </a:rPr>
                  <a:t> </a:t>
                </a:r>
              </a:p>
            </p:txBody>
          </p:sp>
        </mc:Fallback>
      </mc:AlternateContent>
    </p:spTree>
    <p:extLst>
      <p:ext uri="{BB962C8B-B14F-4D97-AF65-F5344CB8AC3E}">
        <p14:creationId xmlns:p14="http://schemas.microsoft.com/office/powerpoint/2010/main" val="413897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14A15F-E638-49D1-A2D9-F9D4DA8DD664}"/>
              </a:ext>
            </a:extLst>
          </p:cNvPr>
          <p:cNvSpPr>
            <a:spLocks noGrp="1"/>
          </p:cNvSpPr>
          <p:nvPr>
            <p:ph type="title"/>
          </p:nvPr>
        </p:nvSpPr>
        <p:spPr>
          <a:xfrm>
            <a:off x="371061" y="447188"/>
            <a:ext cx="11529391" cy="970450"/>
          </a:xfrm>
        </p:spPr>
        <p:txBody>
          <a:bodyPr/>
          <a:lstStyle/>
          <a:p>
            <a:r>
              <a:rPr lang="en-US" dirty="0"/>
              <a:t>KL-divergence comes from Information Theory</a:t>
            </a:r>
          </a:p>
        </p:txBody>
      </p:sp>
      <p:pic>
        <p:nvPicPr>
          <p:cNvPr id="5" name="Picture 4">
            <a:extLst>
              <a:ext uri="{FF2B5EF4-FFF2-40B4-BE49-F238E27FC236}">
                <a16:creationId xmlns:a16="http://schemas.microsoft.com/office/drawing/2014/main" id="{9114D999-2B2A-4945-8F74-C6D1A63F2147}"/>
              </a:ext>
            </a:extLst>
          </p:cNvPr>
          <p:cNvPicPr>
            <a:picLocks noChangeAspect="1"/>
          </p:cNvPicPr>
          <p:nvPr/>
        </p:nvPicPr>
        <p:blipFill>
          <a:blip r:embed="rId2"/>
          <a:stretch>
            <a:fillRect/>
          </a:stretch>
        </p:blipFill>
        <p:spPr>
          <a:xfrm>
            <a:off x="5433390" y="1971737"/>
            <a:ext cx="5627484" cy="4793498"/>
          </a:xfrm>
          <a:prstGeom prst="rect">
            <a:avLst/>
          </a:prstGeom>
        </p:spPr>
      </p:pic>
      <p:pic>
        <p:nvPicPr>
          <p:cNvPr id="6" name="Picture 5">
            <a:extLst>
              <a:ext uri="{FF2B5EF4-FFF2-40B4-BE49-F238E27FC236}">
                <a16:creationId xmlns:a16="http://schemas.microsoft.com/office/drawing/2014/main" id="{6313E84A-649E-4DEE-AFFF-F1D95FB0992F}"/>
              </a:ext>
            </a:extLst>
          </p:cNvPr>
          <p:cNvPicPr>
            <a:picLocks noChangeAspect="1"/>
          </p:cNvPicPr>
          <p:nvPr/>
        </p:nvPicPr>
        <p:blipFill>
          <a:blip r:embed="rId3"/>
          <a:stretch>
            <a:fillRect/>
          </a:stretch>
        </p:blipFill>
        <p:spPr>
          <a:xfrm>
            <a:off x="1131126" y="2194156"/>
            <a:ext cx="2859272" cy="4663844"/>
          </a:xfrm>
          <a:prstGeom prst="rect">
            <a:avLst/>
          </a:prstGeom>
        </p:spPr>
      </p:pic>
    </p:spTree>
    <p:extLst>
      <p:ext uri="{BB962C8B-B14F-4D97-AF65-F5344CB8AC3E}">
        <p14:creationId xmlns:p14="http://schemas.microsoft.com/office/powerpoint/2010/main" val="19621320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9F93BF-77F8-4909-8257-7A4C9CA61DFB}"/>
              </a:ext>
            </a:extLst>
          </p:cNvPr>
          <p:cNvSpPr>
            <a:spLocks noGrp="1"/>
          </p:cNvSpPr>
          <p:nvPr>
            <p:ph type="title"/>
          </p:nvPr>
        </p:nvSpPr>
        <p:spPr/>
        <p:txBody>
          <a:bodyPr/>
          <a:lstStyle/>
          <a:p>
            <a:r>
              <a:rPr lang="en-US" dirty="0"/>
              <a:t>Information Theory</a:t>
            </a:r>
          </a:p>
        </p:txBody>
      </p:sp>
      <p:sp>
        <p:nvSpPr>
          <p:cNvPr id="3" name="Content Placeholder 2">
            <a:extLst>
              <a:ext uri="{FF2B5EF4-FFF2-40B4-BE49-F238E27FC236}">
                <a16:creationId xmlns:a16="http://schemas.microsoft.com/office/drawing/2014/main" id="{CDD3A56A-AA5C-4D57-80A9-8D0675D7F080}"/>
              </a:ext>
            </a:extLst>
          </p:cNvPr>
          <p:cNvSpPr>
            <a:spLocks noGrp="1"/>
          </p:cNvSpPr>
          <p:nvPr>
            <p:ph idx="1"/>
          </p:nvPr>
        </p:nvSpPr>
        <p:spPr>
          <a:xfrm>
            <a:off x="4439477" y="2076513"/>
            <a:ext cx="7659757" cy="4635713"/>
          </a:xfrm>
        </p:spPr>
        <p:txBody>
          <a:bodyPr>
            <a:normAutofit lnSpcReduction="10000"/>
          </a:bodyPr>
          <a:lstStyle/>
          <a:p>
            <a:pPr marL="0" indent="0" algn="just">
              <a:buNone/>
            </a:pPr>
            <a:r>
              <a:rPr lang="en-US" dirty="0"/>
              <a:t>In the early 1940s it was thought to be impossible to send information at a positive rate with negligible probability of error. Shannon surprised the communication theory community by proving that the probability of error could be made nearly zero for all communication rates below channel capacity. The capacity can be computed simply from the noise characteristics of the channel. Shannon further argued that random processes such as music and speech have an irreducible complexity below which the signal cannot be compressed. This he named </a:t>
            </a:r>
            <a:r>
              <a:rPr lang="en-US" i="1" dirty="0"/>
              <a:t>the entropy</a:t>
            </a:r>
            <a:r>
              <a:rPr lang="en-US" dirty="0"/>
              <a:t>, in deference to the parallel use of this word in thermodynamics, and argued that if the entropy of the source is less than the capacity of the channel, asymptotically error-free communication can be achieved.</a:t>
            </a:r>
          </a:p>
          <a:p>
            <a:pPr marL="0" indent="0" algn="just">
              <a:buNone/>
            </a:pPr>
            <a:r>
              <a:rPr lang="en-US" dirty="0"/>
              <a:t>Information theory answers two fundamental questions in communication theory: What is the ultimate data compression (answer: the entropy H), and what is the ultimate transmission rate of communication (answer: the channel capacity C).</a:t>
            </a:r>
          </a:p>
        </p:txBody>
      </p:sp>
      <p:pic>
        <p:nvPicPr>
          <p:cNvPr id="4" name="Picture 3">
            <a:extLst>
              <a:ext uri="{FF2B5EF4-FFF2-40B4-BE49-F238E27FC236}">
                <a16:creationId xmlns:a16="http://schemas.microsoft.com/office/drawing/2014/main" id="{C7B7744F-A925-4F8B-B2A8-8EE80DB8B9F9}"/>
              </a:ext>
            </a:extLst>
          </p:cNvPr>
          <p:cNvPicPr>
            <a:picLocks noChangeAspect="1"/>
          </p:cNvPicPr>
          <p:nvPr/>
        </p:nvPicPr>
        <p:blipFill>
          <a:blip r:embed="rId2"/>
          <a:stretch>
            <a:fillRect/>
          </a:stretch>
        </p:blipFill>
        <p:spPr>
          <a:xfrm>
            <a:off x="1292252" y="2707283"/>
            <a:ext cx="2292295" cy="3139712"/>
          </a:xfrm>
          <a:prstGeom prst="rect">
            <a:avLst/>
          </a:prstGeom>
        </p:spPr>
      </p:pic>
    </p:spTree>
    <p:extLst>
      <p:ext uri="{BB962C8B-B14F-4D97-AF65-F5344CB8AC3E}">
        <p14:creationId xmlns:p14="http://schemas.microsoft.com/office/powerpoint/2010/main" val="35579164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5BF29A-DD07-4363-A027-A6F072A04353}"/>
              </a:ext>
            </a:extLst>
          </p:cNvPr>
          <p:cNvSpPr>
            <a:spLocks noGrp="1"/>
          </p:cNvSpPr>
          <p:nvPr>
            <p:ph type="title"/>
          </p:nvPr>
        </p:nvSpPr>
        <p:spPr/>
        <p:txBody>
          <a:bodyPr/>
          <a:lstStyle/>
          <a:p>
            <a:r>
              <a:rPr lang="en-US" dirty="0"/>
              <a:t>The Entropy</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7AC8BD5-0536-4DF1-9EAF-E18B5A1B48FC}"/>
                  </a:ext>
                </a:extLst>
              </p:cNvPr>
              <p:cNvSpPr>
                <a:spLocks noGrp="1"/>
              </p:cNvSpPr>
              <p:nvPr>
                <p:ph idx="1"/>
              </p:nvPr>
            </p:nvSpPr>
            <p:spPr>
              <a:xfrm>
                <a:off x="209112" y="2103017"/>
                <a:ext cx="5277288" cy="4754983"/>
              </a:xfrm>
            </p:spPr>
            <p:txBody>
              <a:bodyPr>
                <a:normAutofit/>
              </a:bodyPr>
              <a:lstStyle/>
              <a:p>
                <a:pPr marL="0" indent="0" algn="just">
                  <a:buNone/>
                </a:pPr>
                <a:r>
                  <a:rPr lang="en-US" dirty="0"/>
                  <a:t>The entropy </a:t>
                </a:r>
                <a14:m>
                  <m:oMath xmlns:m="http://schemas.openxmlformats.org/officeDocument/2006/math">
                    <m:r>
                      <a:rPr lang="en-US" b="0" i="1" smtClean="0">
                        <a:latin typeface="Cambria Math" panose="02040503050406030204" pitchFamily="18" charset="0"/>
                      </a:rPr>
                      <m:t>𝐻</m:t>
                    </m:r>
                    <m:r>
                      <a:rPr lang="en-US" b="0" i="1" smtClean="0">
                        <a:latin typeface="Cambria Math" panose="02040503050406030204" pitchFamily="18" charset="0"/>
                      </a:rPr>
                      <m:t>(</m:t>
                    </m:r>
                    <m:r>
                      <a:rPr lang="en-US" b="0" i="1" smtClean="0">
                        <a:latin typeface="Cambria Math" panose="02040503050406030204" pitchFamily="18" charset="0"/>
                      </a:rPr>
                      <m:t>𝑋</m:t>
                    </m:r>
                    <m:r>
                      <a:rPr lang="en-US" b="0" i="1" smtClean="0">
                        <a:latin typeface="Cambria Math" panose="02040503050406030204" pitchFamily="18" charset="0"/>
                      </a:rPr>
                      <m:t>)</m:t>
                    </m:r>
                  </m:oMath>
                </a14:m>
                <a:r>
                  <a:rPr lang="en-US" dirty="0"/>
                  <a:t> of a discrete random variable </a:t>
                </a:r>
                <a14:m>
                  <m:oMath xmlns:m="http://schemas.openxmlformats.org/officeDocument/2006/math">
                    <m:r>
                      <a:rPr lang="en-US" b="0" i="1" smtClean="0">
                        <a:latin typeface="Cambria Math" panose="02040503050406030204" pitchFamily="18" charset="0"/>
                      </a:rPr>
                      <m:t>𝑋</m:t>
                    </m:r>
                  </m:oMath>
                </a14:m>
                <a:r>
                  <a:rPr lang="en-US" dirty="0"/>
                  <a:t> is defined by:</a:t>
                </a:r>
              </a:p>
              <a:p>
                <a:pPr marL="0" indent="0" algn="just">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𝐻</m:t>
                      </m:r>
                      <m:d>
                        <m:dPr>
                          <m:ctrlPr>
                            <a:rPr lang="en-US" b="0" i="1" smtClean="0">
                              <a:latin typeface="Cambria Math" panose="02040503050406030204" pitchFamily="18" charset="0"/>
                            </a:rPr>
                          </m:ctrlPr>
                        </m:dPr>
                        <m:e>
                          <m:r>
                            <a:rPr lang="en-US" b="0" i="1" smtClean="0">
                              <a:latin typeface="Cambria Math" panose="02040503050406030204" pitchFamily="18" charset="0"/>
                            </a:rPr>
                            <m:t>𝑋</m:t>
                          </m:r>
                        </m:e>
                      </m:d>
                      <m:r>
                        <a:rPr lang="en-US" b="0" i="1" smtClean="0">
                          <a:latin typeface="Cambria Math" panose="02040503050406030204" pitchFamily="18" charset="0"/>
                        </a:rPr>
                        <m:t>=−</m:t>
                      </m:r>
                      <m:nary>
                        <m:naryPr>
                          <m:chr m:val="∑"/>
                          <m:supHide m:val="on"/>
                          <m:ctrlPr>
                            <a:rPr lang="en-US" b="0" i="1" smtClean="0">
                              <a:latin typeface="Cambria Math" panose="02040503050406030204" pitchFamily="18" charset="0"/>
                            </a:rPr>
                          </m:ctrlPr>
                        </m:naryPr>
                        <m:sub>
                          <m:r>
                            <m:rPr>
                              <m:brk m:alnAt="7"/>
                            </m:rPr>
                            <a:rPr lang="en-US" b="0" i="1" smtClean="0">
                              <a:latin typeface="Cambria Math" panose="02040503050406030204" pitchFamily="18" charset="0"/>
                            </a:rPr>
                            <m:t>𝑥</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𝑋</m:t>
                          </m:r>
                        </m:sub>
                        <m:sup/>
                        <m:e>
                          <m:r>
                            <a:rPr lang="en-US" b="0" i="1" smtClean="0">
                              <a:latin typeface="Cambria Math" panose="02040503050406030204" pitchFamily="18" charset="0"/>
                            </a:rPr>
                            <m:t>𝑝</m:t>
                          </m:r>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func>
                            <m:funcPr>
                              <m:ctrlPr>
                                <a:rPr lang="en-US" b="0" i="1" smtClean="0">
                                  <a:latin typeface="Cambria Math" panose="02040503050406030204" pitchFamily="18" charset="0"/>
                                </a:rPr>
                              </m:ctrlPr>
                            </m:funcPr>
                            <m:fName>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log</m:t>
                                  </m:r>
                                </m:e>
                                <m:sub>
                                  <m:r>
                                    <a:rPr lang="en-US" b="0" i="1" smtClean="0">
                                      <a:latin typeface="Cambria Math" panose="02040503050406030204" pitchFamily="18" charset="0"/>
                                    </a:rPr>
                                    <m:t>2</m:t>
                                  </m:r>
                                </m:sub>
                              </m:sSub>
                            </m:fName>
                            <m:e>
                              <m:r>
                                <a:rPr lang="en-US" b="0" i="1" smtClean="0">
                                  <a:latin typeface="Cambria Math" panose="02040503050406030204" pitchFamily="18" charset="0"/>
                                </a:rPr>
                                <m:t>𝑝</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𝐸</m:t>
                                  </m:r>
                                </m:e>
                                <m:sub>
                                  <m:r>
                                    <a:rPr lang="en-US" b="0" i="1" smtClean="0">
                                      <a:latin typeface="Cambria Math" panose="02040503050406030204" pitchFamily="18" charset="0"/>
                                    </a:rPr>
                                    <m:t>𝑝</m:t>
                                  </m:r>
                                </m:sub>
                              </m:sSub>
                              <m:func>
                                <m:funcPr>
                                  <m:ctrlPr>
                                    <a:rPr lang="en-US" b="0" i="1" smtClean="0">
                                      <a:latin typeface="Cambria Math" panose="02040503050406030204" pitchFamily="18" charset="0"/>
                                    </a:rPr>
                                  </m:ctrlPr>
                                </m:funcPr>
                                <m:fName>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log</m:t>
                                      </m:r>
                                    </m:e>
                                    <m:sub>
                                      <m:r>
                                        <a:rPr lang="en-US" b="0" i="1" smtClean="0">
                                          <a:latin typeface="Cambria Math" panose="02040503050406030204" pitchFamily="18" charset="0"/>
                                        </a:rPr>
                                        <m:t>2</m:t>
                                      </m:r>
                                    </m:sub>
                                  </m:sSub>
                                </m:fName>
                                <m:e>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𝑝</m:t>
                                      </m:r>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den>
                                  </m:f>
                                </m:e>
                              </m:func>
                            </m:e>
                          </m:func>
                        </m:e>
                      </m:nary>
                    </m:oMath>
                  </m:oMathPara>
                </a14:m>
                <a:endParaRPr lang="en-US" dirty="0"/>
              </a:p>
              <a:p>
                <a:pPr marL="0" indent="0" algn="just">
                  <a:buNone/>
                </a:pPr>
                <a:r>
                  <a:rPr lang="en-US" dirty="0"/>
                  <a:t>Intuitively, the entropy </a:t>
                </a:r>
                <a14:m>
                  <m:oMath xmlns:m="http://schemas.openxmlformats.org/officeDocument/2006/math">
                    <m:r>
                      <a:rPr lang="en-US" b="0" i="1" smtClean="0">
                        <a:latin typeface="Cambria Math" panose="02040503050406030204" pitchFamily="18" charset="0"/>
                      </a:rPr>
                      <m:t>𝐻</m:t>
                    </m:r>
                    <m:r>
                      <a:rPr lang="en-US" b="0" i="1" smtClean="0">
                        <a:latin typeface="Cambria Math" panose="02040503050406030204" pitchFamily="18" charset="0"/>
                      </a:rPr>
                      <m:t>(</m:t>
                    </m:r>
                    <m:r>
                      <a:rPr lang="en-US" b="0" i="1" smtClean="0">
                        <a:latin typeface="Cambria Math" panose="02040503050406030204" pitchFamily="18" charset="0"/>
                      </a:rPr>
                      <m:t>𝑋</m:t>
                    </m:r>
                    <m:r>
                      <a:rPr lang="en-US" b="0" i="1" smtClean="0">
                        <a:latin typeface="Cambria Math" panose="02040503050406030204" pitchFamily="18" charset="0"/>
                      </a:rPr>
                      <m:t>)</m:t>
                    </m:r>
                  </m:oMath>
                </a14:m>
                <a:r>
                  <a:rPr lang="en-US" dirty="0"/>
                  <a:t> of a discrete random variable X is a measure of the amount of uncertainty associated with the value of </a:t>
                </a:r>
                <a14:m>
                  <m:oMath xmlns:m="http://schemas.openxmlformats.org/officeDocument/2006/math">
                    <m:r>
                      <a:rPr lang="en-US" b="0" i="1" smtClean="0">
                        <a:latin typeface="Cambria Math" panose="02040503050406030204" pitchFamily="18" charset="0"/>
                      </a:rPr>
                      <m:t>𝑋</m:t>
                    </m:r>
                  </m:oMath>
                </a14:m>
                <a:r>
                  <a:rPr lang="en-US" dirty="0"/>
                  <a:t> when only its distribution is known; it is a measure of the amount of information required on the average to describe the random variable (we could construct a code with average description length </a:t>
                </a:r>
                <a14:m>
                  <m:oMath xmlns:m="http://schemas.openxmlformats.org/officeDocument/2006/math">
                    <m:r>
                      <a:rPr lang="en-US" b="0" i="1" smtClean="0">
                        <a:latin typeface="Cambria Math" panose="02040503050406030204" pitchFamily="18" charset="0"/>
                      </a:rPr>
                      <m:t>𝐻</m:t>
                    </m:r>
                    <m:r>
                      <a:rPr lang="en-US" b="0" i="1" smtClean="0">
                        <a:latin typeface="Cambria Math" panose="02040503050406030204" pitchFamily="18" charset="0"/>
                      </a:rPr>
                      <m:t>(</m:t>
                    </m:r>
                    <m:r>
                      <a:rPr lang="en-US" b="0" i="1" smtClean="0">
                        <a:latin typeface="Cambria Math" panose="02040503050406030204" pitchFamily="18" charset="0"/>
                      </a:rPr>
                      <m:t>𝑋</m:t>
                    </m:r>
                    <m:r>
                      <a:rPr lang="en-US" b="0" i="1" smtClean="0">
                        <a:latin typeface="Cambria Math" panose="02040503050406030204" pitchFamily="18" charset="0"/>
                      </a:rPr>
                      <m:t>)</m:t>
                    </m:r>
                  </m:oMath>
                </a14:m>
                <a:r>
                  <a:rPr lang="en-US" dirty="0"/>
                  <a:t>).</a:t>
                </a:r>
              </a:p>
              <a:p>
                <a:pPr marL="0" indent="0" algn="just">
                  <a:buNone/>
                </a:pPr>
                <a:r>
                  <a:rPr lang="en-US" dirty="0"/>
                  <a:t>The entropy is expressed in bits. For example, the entropy of a fair coin toss is 1 bit.</a:t>
                </a:r>
              </a:p>
            </p:txBody>
          </p:sp>
        </mc:Choice>
        <mc:Fallback xmlns="">
          <p:sp>
            <p:nvSpPr>
              <p:cNvPr id="3" name="Content Placeholder 2">
                <a:extLst>
                  <a:ext uri="{FF2B5EF4-FFF2-40B4-BE49-F238E27FC236}">
                    <a16:creationId xmlns:a16="http://schemas.microsoft.com/office/drawing/2014/main" id="{E7AC8BD5-0536-4DF1-9EAF-E18B5A1B48FC}"/>
                  </a:ext>
                </a:extLst>
              </p:cNvPr>
              <p:cNvSpPr>
                <a:spLocks noGrp="1" noRot="1" noChangeAspect="1" noMove="1" noResize="1" noEditPoints="1" noAdjustHandles="1" noChangeArrowheads="1" noChangeShapeType="1" noTextEdit="1"/>
              </p:cNvSpPr>
              <p:nvPr>
                <p:ph idx="1"/>
              </p:nvPr>
            </p:nvSpPr>
            <p:spPr>
              <a:xfrm>
                <a:off x="209112" y="2103017"/>
                <a:ext cx="5277288" cy="4754983"/>
              </a:xfrm>
              <a:blipFill>
                <a:blip r:embed="rId2"/>
                <a:stretch>
                  <a:fillRect l="-924" r="-1039"/>
                </a:stretch>
              </a:blipFill>
            </p:spPr>
            <p:txBody>
              <a:bodyPr/>
              <a:lstStyle/>
              <a:p>
                <a:r>
                  <a:rPr lang="en-US">
                    <a:noFill/>
                  </a:rPr>
                  <a:t> </a:t>
                </a:r>
              </a:p>
            </p:txBody>
          </p:sp>
        </mc:Fallback>
      </mc:AlternateContent>
      <p:pic>
        <p:nvPicPr>
          <p:cNvPr id="4" name="Picture 3">
            <a:extLst>
              <a:ext uri="{FF2B5EF4-FFF2-40B4-BE49-F238E27FC236}">
                <a16:creationId xmlns:a16="http://schemas.microsoft.com/office/drawing/2014/main" id="{4AA77A2E-51F8-40DD-A4F7-DD592197AB21}"/>
              </a:ext>
            </a:extLst>
          </p:cNvPr>
          <p:cNvPicPr>
            <a:picLocks noChangeAspect="1"/>
          </p:cNvPicPr>
          <p:nvPr/>
        </p:nvPicPr>
        <p:blipFill>
          <a:blip r:embed="rId3"/>
          <a:stretch>
            <a:fillRect/>
          </a:stretch>
        </p:blipFill>
        <p:spPr>
          <a:xfrm>
            <a:off x="6095999" y="2661255"/>
            <a:ext cx="5004369" cy="3519235"/>
          </a:xfrm>
          <a:prstGeom prst="rect">
            <a:avLst/>
          </a:prstGeom>
        </p:spPr>
      </p:pic>
    </p:spTree>
    <p:extLst>
      <p:ext uri="{BB962C8B-B14F-4D97-AF65-F5344CB8AC3E}">
        <p14:creationId xmlns:p14="http://schemas.microsoft.com/office/powerpoint/2010/main" val="22278740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56B577-8AB6-420E-82CA-6B4B423A645B}"/>
              </a:ext>
            </a:extLst>
          </p:cNvPr>
          <p:cNvSpPr>
            <a:spLocks noGrp="1"/>
          </p:cNvSpPr>
          <p:nvPr>
            <p:ph type="title"/>
          </p:nvPr>
        </p:nvSpPr>
        <p:spPr/>
        <p:txBody>
          <a:bodyPr/>
          <a:lstStyle/>
          <a:p>
            <a:r>
              <a:rPr lang="en-US" dirty="0" err="1"/>
              <a:t>Kullback</a:t>
            </a:r>
            <a:r>
              <a:rPr lang="en-US" dirty="0"/>
              <a:t>–</a:t>
            </a:r>
            <a:r>
              <a:rPr lang="en-US" dirty="0" err="1"/>
              <a:t>Leibler</a:t>
            </a:r>
            <a:r>
              <a:rPr lang="en-US" dirty="0"/>
              <a:t> Divergence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9BFE8EC-AC2F-46AF-A640-82D28DFC418E}"/>
                  </a:ext>
                </a:extLst>
              </p:cNvPr>
              <p:cNvSpPr>
                <a:spLocks noGrp="1"/>
              </p:cNvSpPr>
              <p:nvPr>
                <p:ph idx="1"/>
              </p:nvPr>
            </p:nvSpPr>
            <p:spPr>
              <a:xfrm>
                <a:off x="818712" y="2222287"/>
                <a:ext cx="10554574" cy="4337539"/>
              </a:xfrm>
            </p:spPr>
            <p:txBody>
              <a:bodyPr/>
              <a:lstStyle/>
              <a:p>
                <a:pPr marL="0" indent="0">
                  <a:buNone/>
                </a:pPr>
                <a:r>
                  <a:rPr lang="en-US" dirty="0"/>
                  <a:t>For discrete probability distributions </a:t>
                </a:r>
                <a14:m>
                  <m:oMath xmlns:m="http://schemas.openxmlformats.org/officeDocument/2006/math">
                    <m:r>
                      <a:rPr lang="en-US" b="0" i="1" smtClean="0">
                        <a:latin typeface="Cambria Math" panose="02040503050406030204" pitchFamily="18" charset="0"/>
                      </a:rPr>
                      <m:t>𝑝</m:t>
                    </m:r>
                  </m:oMath>
                </a14:m>
                <a:r>
                  <a:rPr lang="en-US" dirty="0"/>
                  <a:t> and </a:t>
                </a:r>
                <a14:m>
                  <m:oMath xmlns:m="http://schemas.openxmlformats.org/officeDocument/2006/math">
                    <m:r>
                      <a:rPr lang="en-US" b="0" i="1" smtClean="0">
                        <a:latin typeface="Cambria Math" panose="02040503050406030204" pitchFamily="18" charset="0"/>
                      </a:rPr>
                      <m:t>𝑞</m:t>
                    </m:r>
                  </m:oMath>
                </a14:m>
                <a:r>
                  <a:rPr lang="en-US" dirty="0"/>
                  <a:t> defined on the same probability space, the KL-divergence between </a:t>
                </a:r>
                <a14:m>
                  <m:oMath xmlns:m="http://schemas.openxmlformats.org/officeDocument/2006/math">
                    <m:r>
                      <a:rPr lang="en-US" i="1">
                        <a:latin typeface="Cambria Math" panose="02040503050406030204" pitchFamily="18" charset="0"/>
                      </a:rPr>
                      <m:t>𝑝</m:t>
                    </m:r>
                  </m:oMath>
                </a14:m>
                <a:r>
                  <a:rPr lang="en-US" dirty="0"/>
                  <a:t> and </a:t>
                </a:r>
                <a14:m>
                  <m:oMath xmlns:m="http://schemas.openxmlformats.org/officeDocument/2006/math">
                    <m:r>
                      <a:rPr lang="en-US" i="1">
                        <a:latin typeface="Cambria Math" panose="02040503050406030204" pitchFamily="18" charset="0"/>
                      </a:rPr>
                      <m:t>𝑞</m:t>
                    </m:r>
                  </m:oMath>
                </a14:m>
                <a:r>
                  <a:rPr lang="en-US" dirty="0"/>
                  <a:t> is defined a:</a:t>
                </a:r>
              </a:p>
              <a:p>
                <a:pPr marL="0" indent="0">
                  <a:buNone/>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𝐷</m:t>
                          </m:r>
                        </m:e>
                        <m:sub>
                          <m:r>
                            <a:rPr lang="en-US" b="0" i="1" smtClean="0">
                              <a:latin typeface="Cambria Math" panose="02040503050406030204" pitchFamily="18" charset="0"/>
                            </a:rPr>
                            <m:t>𝐾𝐿</m:t>
                          </m:r>
                        </m:sub>
                      </m:sSub>
                      <m:r>
                        <a:rPr lang="en-US" b="0" i="1" smtClean="0">
                          <a:latin typeface="Cambria Math" panose="02040503050406030204" pitchFamily="18" charset="0"/>
                        </a:rPr>
                        <m:t>(</m:t>
                      </m:r>
                      <m:r>
                        <a:rPr lang="en-US" b="0" i="1" smtClean="0">
                          <a:latin typeface="Cambria Math" panose="02040503050406030204" pitchFamily="18" charset="0"/>
                        </a:rPr>
                        <m:t>𝑝</m:t>
                      </m:r>
                      <m:r>
                        <a:rPr lang="en-US" b="0" i="1" smtClean="0">
                          <a:latin typeface="Cambria Math" panose="02040503050406030204" pitchFamily="18" charset="0"/>
                        </a:rPr>
                        <m:t>|</m:t>
                      </m:r>
                      <m:d>
                        <m:dPr>
                          <m:begChr m:val="|"/>
                          <m:ctrlPr>
                            <a:rPr lang="en-US" b="0" i="1" smtClean="0">
                              <a:latin typeface="Cambria Math" panose="02040503050406030204" pitchFamily="18" charset="0"/>
                            </a:rPr>
                          </m:ctrlPr>
                        </m:dPr>
                        <m:e>
                          <m:r>
                            <a:rPr lang="en-US" b="0" i="1" smtClean="0">
                              <a:latin typeface="Cambria Math" panose="02040503050406030204" pitchFamily="18" charset="0"/>
                            </a:rPr>
                            <m:t>𝑞</m:t>
                          </m:r>
                        </m:e>
                      </m:d>
                      <m:r>
                        <a:rPr lang="en-US" b="0" i="1" smtClean="0">
                          <a:latin typeface="Cambria Math" panose="02040503050406030204" pitchFamily="18" charset="0"/>
                        </a:rPr>
                        <m:t>=−</m:t>
                      </m:r>
                      <m:nary>
                        <m:naryPr>
                          <m:chr m:val="∑"/>
                          <m:supHide m:val="on"/>
                          <m:ctrlPr>
                            <a:rPr lang="en-US" b="0" i="1" smtClean="0">
                              <a:latin typeface="Cambria Math" panose="02040503050406030204" pitchFamily="18" charset="0"/>
                            </a:rPr>
                          </m:ctrlPr>
                        </m:naryPr>
                        <m:sub>
                          <m:r>
                            <m:rPr>
                              <m:brk m:alnAt="7"/>
                            </m:rPr>
                            <a:rPr lang="en-US" b="0" i="1" smtClean="0">
                              <a:latin typeface="Cambria Math" panose="02040503050406030204" pitchFamily="18" charset="0"/>
                            </a:rPr>
                            <m:t>𝑥</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𝑋</m:t>
                          </m:r>
                        </m:sub>
                        <m:sup/>
                        <m:e>
                          <m:r>
                            <a:rPr lang="en-US" b="0" i="1" smtClean="0">
                              <a:latin typeface="Cambria Math" panose="02040503050406030204" pitchFamily="18" charset="0"/>
                            </a:rPr>
                            <m:t>𝑝</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e>
                          </m:d>
                          <m:func>
                            <m:funcPr>
                              <m:ctrlPr>
                                <a:rPr lang="en-US" b="0" i="1" smtClean="0">
                                  <a:latin typeface="Cambria Math" panose="02040503050406030204" pitchFamily="18" charset="0"/>
                                </a:rPr>
                              </m:ctrlPr>
                            </m:funcPr>
                            <m:fName>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log</m:t>
                                  </m:r>
                                </m:e>
                                <m:sub>
                                  <m:r>
                                    <a:rPr lang="en-US" b="0" i="1" smtClean="0">
                                      <a:latin typeface="Cambria Math" panose="02040503050406030204" pitchFamily="18" charset="0"/>
                                    </a:rPr>
                                    <m:t>2</m:t>
                                  </m:r>
                                </m:sub>
                              </m:sSub>
                            </m:fName>
                            <m:e>
                              <m:f>
                                <m:fPr>
                                  <m:ctrlPr>
                                    <a:rPr lang="en-US" b="0" i="1" smtClean="0">
                                      <a:latin typeface="Cambria Math" panose="02040503050406030204" pitchFamily="18" charset="0"/>
                                    </a:rPr>
                                  </m:ctrlPr>
                                </m:fPr>
                                <m:num>
                                  <m:r>
                                    <a:rPr lang="en-US" b="0" i="1" smtClean="0">
                                      <a:latin typeface="Cambria Math" panose="02040503050406030204" pitchFamily="18" charset="0"/>
                                    </a:rPr>
                                    <m:t>𝑞</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e>
                                  </m:d>
                                </m:num>
                                <m:den>
                                  <m:r>
                                    <a:rPr lang="en-US" b="0" i="1" smtClean="0">
                                      <a:latin typeface="Cambria Math" panose="02040503050406030204" pitchFamily="18" charset="0"/>
                                    </a:rPr>
                                    <m:t>𝑝</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e>
                                  </m:d>
                                </m:den>
                              </m:f>
                            </m:e>
                          </m:func>
                        </m:e>
                      </m:nary>
                      <m:r>
                        <a:rPr lang="en-US" b="0" i="1" smtClean="0">
                          <a:latin typeface="Cambria Math" panose="02040503050406030204" pitchFamily="18" charset="0"/>
                        </a:rPr>
                        <m:t>=</m:t>
                      </m:r>
                      <m:nary>
                        <m:naryPr>
                          <m:chr m:val="∑"/>
                          <m:supHide m:val="on"/>
                          <m:ctrlPr>
                            <a:rPr lang="en-US" i="1">
                              <a:latin typeface="Cambria Math" panose="02040503050406030204" pitchFamily="18" charset="0"/>
                            </a:rPr>
                          </m:ctrlPr>
                        </m:naryPr>
                        <m:sub>
                          <m:r>
                            <m:rPr>
                              <m:brk m:alnAt="7"/>
                            </m:rPr>
                            <a:rPr lang="en-US" i="1">
                              <a:latin typeface="Cambria Math" panose="02040503050406030204" pitchFamily="18" charset="0"/>
                            </a:rPr>
                            <m:t>𝑥</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𝑋</m:t>
                          </m:r>
                        </m:sub>
                        <m:sup/>
                        <m:e>
                          <m:r>
                            <a:rPr lang="en-US" i="1">
                              <a:latin typeface="Cambria Math" panose="02040503050406030204" pitchFamily="18" charset="0"/>
                            </a:rPr>
                            <m:t>𝑝</m:t>
                          </m:r>
                          <m:d>
                            <m:dPr>
                              <m:ctrlPr>
                                <a:rPr lang="en-US" i="1">
                                  <a:latin typeface="Cambria Math" panose="02040503050406030204" pitchFamily="18" charset="0"/>
                                </a:rPr>
                              </m:ctrlPr>
                            </m:dPr>
                            <m:e>
                              <m:r>
                                <a:rPr lang="en-US" i="1">
                                  <a:latin typeface="Cambria Math" panose="02040503050406030204" pitchFamily="18" charset="0"/>
                                </a:rPr>
                                <m:t>𝑥</m:t>
                              </m:r>
                            </m:e>
                          </m:d>
                          <m:func>
                            <m:funcPr>
                              <m:ctrlPr>
                                <a:rPr lang="en-US" i="1">
                                  <a:latin typeface="Cambria Math" panose="02040503050406030204" pitchFamily="18" charset="0"/>
                                </a:rPr>
                              </m:ctrlPr>
                            </m:funcPr>
                            <m:fName>
                              <m:sSub>
                                <m:sSubPr>
                                  <m:ctrlPr>
                                    <a:rPr lang="en-US" i="1">
                                      <a:latin typeface="Cambria Math" panose="02040503050406030204" pitchFamily="18" charset="0"/>
                                    </a:rPr>
                                  </m:ctrlPr>
                                </m:sSubPr>
                                <m:e>
                                  <m:r>
                                    <m:rPr>
                                      <m:sty m:val="p"/>
                                    </m:rPr>
                                    <a:rPr lang="en-US">
                                      <a:latin typeface="Cambria Math" panose="02040503050406030204" pitchFamily="18" charset="0"/>
                                    </a:rPr>
                                    <m:t>log</m:t>
                                  </m:r>
                                </m:e>
                                <m:sub>
                                  <m:r>
                                    <a:rPr lang="en-US" i="1">
                                      <a:latin typeface="Cambria Math" panose="02040503050406030204" pitchFamily="18" charset="0"/>
                                    </a:rPr>
                                    <m:t>2</m:t>
                                  </m:r>
                                </m:sub>
                              </m:sSub>
                            </m:fName>
                            <m:e>
                              <m:f>
                                <m:fPr>
                                  <m:ctrlPr>
                                    <a:rPr lang="en-US" i="1">
                                      <a:latin typeface="Cambria Math" panose="02040503050406030204" pitchFamily="18" charset="0"/>
                                    </a:rPr>
                                  </m:ctrlPr>
                                </m:fPr>
                                <m:num>
                                  <m:r>
                                    <a:rPr lang="en-US" b="0" i="1" smtClean="0">
                                      <a:latin typeface="Cambria Math" panose="02040503050406030204" pitchFamily="18" charset="0"/>
                                    </a:rPr>
                                    <m:t>𝑝</m:t>
                                  </m:r>
                                  <m:d>
                                    <m:dPr>
                                      <m:ctrlPr>
                                        <a:rPr lang="en-US" i="1">
                                          <a:latin typeface="Cambria Math" panose="02040503050406030204" pitchFamily="18" charset="0"/>
                                        </a:rPr>
                                      </m:ctrlPr>
                                    </m:dPr>
                                    <m:e>
                                      <m:r>
                                        <a:rPr lang="en-US" i="1">
                                          <a:latin typeface="Cambria Math" panose="02040503050406030204" pitchFamily="18" charset="0"/>
                                        </a:rPr>
                                        <m:t>𝑥</m:t>
                                      </m:r>
                                    </m:e>
                                  </m:d>
                                </m:num>
                                <m:den>
                                  <m:r>
                                    <a:rPr lang="en-US" b="0" i="1" smtClean="0">
                                      <a:latin typeface="Cambria Math" panose="02040503050406030204" pitchFamily="18" charset="0"/>
                                    </a:rPr>
                                    <m:t>𝑞</m:t>
                                  </m:r>
                                  <m:d>
                                    <m:dPr>
                                      <m:ctrlPr>
                                        <a:rPr lang="en-US" i="1">
                                          <a:latin typeface="Cambria Math" panose="02040503050406030204" pitchFamily="18" charset="0"/>
                                        </a:rPr>
                                      </m:ctrlPr>
                                    </m:dPr>
                                    <m:e>
                                      <m:r>
                                        <a:rPr lang="en-US" i="1">
                                          <a:latin typeface="Cambria Math" panose="02040503050406030204" pitchFamily="18" charset="0"/>
                                        </a:rPr>
                                        <m:t>𝑥</m:t>
                                      </m:r>
                                    </m:e>
                                  </m:d>
                                </m:den>
                              </m:f>
                            </m:e>
                          </m:func>
                        </m:e>
                      </m:nary>
                    </m:oMath>
                  </m:oMathPara>
                </a14:m>
                <a:endParaRPr lang="en-US" dirty="0"/>
              </a:p>
              <a:p>
                <a:pPr marL="0" indent="0">
                  <a:buNone/>
                </a:pPr>
                <a:r>
                  <a:rPr lang="en-US" dirty="0"/>
                  <a:t>For distributions </a:t>
                </a:r>
                <a14:m>
                  <m:oMath xmlns:m="http://schemas.openxmlformats.org/officeDocument/2006/math">
                    <m:r>
                      <a:rPr lang="en-US" i="1">
                        <a:latin typeface="Cambria Math" panose="02040503050406030204" pitchFamily="18" charset="0"/>
                      </a:rPr>
                      <m:t>𝑝</m:t>
                    </m:r>
                  </m:oMath>
                </a14:m>
                <a:r>
                  <a:rPr lang="en-US" dirty="0"/>
                  <a:t> and </a:t>
                </a:r>
                <a14:m>
                  <m:oMath xmlns:m="http://schemas.openxmlformats.org/officeDocument/2006/math">
                    <m:r>
                      <a:rPr lang="en-US" i="1">
                        <a:latin typeface="Cambria Math" panose="02040503050406030204" pitchFamily="18" charset="0"/>
                      </a:rPr>
                      <m:t>𝑞</m:t>
                    </m:r>
                  </m:oMath>
                </a14:m>
                <a:r>
                  <a:rPr lang="en-US" dirty="0"/>
                  <a:t> of a continuous random variable, the KL-divergence is defined to be the integral:</a:t>
                </a:r>
              </a:p>
              <a:p>
                <a:pPr marL="0" indent="0">
                  <a:buNone/>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𝐷</m:t>
                          </m:r>
                        </m:e>
                        <m:sub>
                          <m:r>
                            <a:rPr lang="en-US" i="1">
                              <a:latin typeface="Cambria Math" panose="02040503050406030204" pitchFamily="18" charset="0"/>
                            </a:rPr>
                            <m:t>𝐾𝐿</m:t>
                          </m:r>
                        </m:sub>
                      </m:sSub>
                      <m:r>
                        <a:rPr lang="en-US" i="1">
                          <a:latin typeface="Cambria Math" panose="02040503050406030204" pitchFamily="18" charset="0"/>
                        </a:rPr>
                        <m:t>(</m:t>
                      </m:r>
                      <m:r>
                        <a:rPr lang="en-US" i="1">
                          <a:latin typeface="Cambria Math" panose="02040503050406030204" pitchFamily="18" charset="0"/>
                        </a:rPr>
                        <m:t>𝑝</m:t>
                      </m:r>
                      <m:r>
                        <a:rPr lang="en-US" i="1">
                          <a:latin typeface="Cambria Math" panose="02040503050406030204" pitchFamily="18" charset="0"/>
                        </a:rPr>
                        <m:t>|</m:t>
                      </m:r>
                      <m:d>
                        <m:dPr>
                          <m:begChr m:val="|"/>
                          <m:ctrlPr>
                            <a:rPr lang="en-US" i="1">
                              <a:latin typeface="Cambria Math" panose="02040503050406030204" pitchFamily="18" charset="0"/>
                            </a:rPr>
                          </m:ctrlPr>
                        </m:dPr>
                        <m:e>
                          <m:r>
                            <a:rPr lang="en-US" i="1">
                              <a:latin typeface="Cambria Math" panose="02040503050406030204" pitchFamily="18" charset="0"/>
                            </a:rPr>
                            <m:t>𝑞</m:t>
                          </m:r>
                        </m:e>
                      </m:d>
                      <m:r>
                        <a:rPr lang="en-US" i="1">
                          <a:latin typeface="Cambria Math" panose="02040503050406030204" pitchFamily="18" charset="0"/>
                        </a:rPr>
                        <m:t>=</m:t>
                      </m:r>
                      <m:nary>
                        <m:naryPr>
                          <m:ctrlPr>
                            <a:rPr lang="en-US" i="1" smtClean="0">
                              <a:latin typeface="Cambria Math" panose="02040503050406030204" pitchFamily="18" charset="0"/>
                            </a:rPr>
                          </m:ctrlPr>
                        </m:naryPr>
                        <m:sub>
                          <m:r>
                            <m:rPr>
                              <m:brk m:alnAt="23"/>
                            </m:rP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m:t>
                          </m:r>
                        </m:sub>
                        <m:sup>
                          <m:r>
                            <a:rPr lang="en-US" i="1" smtClean="0">
                              <a:latin typeface="Cambria Math" panose="02040503050406030204" pitchFamily="18" charset="0"/>
                              <a:ea typeface="Cambria Math" panose="02040503050406030204" pitchFamily="18" charset="0"/>
                            </a:rPr>
                            <m:t>∞</m:t>
                          </m:r>
                        </m:sup>
                        <m:e>
                          <m:r>
                            <a:rPr lang="en-US" i="1">
                              <a:latin typeface="Cambria Math" panose="02040503050406030204" pitchFamily="18" charset="0"/>
                            </a:rPr>
                            <m:t>𝑝</m:t>
                          </m:r>
                          <m:d>
                            <m:dPr>
                              <m:ctrlPr>
                                <a:rPr lang="en-US" i="1">
                                  <a:latin typeface="Cambria Math" panose="02040503050406030204" pitchFamily="18" charset="0"/>
                                </a:rPr>
                              </m:ctrlPr>
                            </m:dPr>
                            <m:e>
                              <m:r>
                                <a:rPr lang="en-US" i="1">
                                  <a:latin typeface="Cambria Math" panose="02040503050406030204" pitchFamily="18" charset="0"/>
                                </a:rPr>
                                <m:t>𝑥</m:t>
                              </m:r>
                            </m:e>
                          </m:d>
                          <m:func>
                            <m:funcPr>
                              <m:ctrlPr>
                                <a:rPr lang="en-US" i="1">
                                  <a:latin typeface="Cambria Math" panose="02040503050406030204" pitchFamily="18" charset="0"/>
                                </a:rPr>
                              </m:ctrlPr>
                            </m:funcPr>
                            <m:fName>
                              <m:sSub>
                                <m:sSubPr>
                                  <m:ctrlPr>
                                    <a:rPr lang="en-US" i="1">
                                      <a:latin typeface="Cambria Math" panose="02040503050406030204" pitchFamily="18" charset="0"/>
                                    </a:rPr>
                                  </m:ctrlPr>
                                </m:sSubPr>
                                <m:e>
                                  <m:r>
                                    <m:rPr>
                                      <m:sty m:val="p"/>
                                    </m:rPr>
                                    <a:rPr lang="en-US">
                                      <a:latin typeface="Cambria Math" panose="02040503050406030204" pitchFamily="18" charset="0"/>
                                    </a:rPr>
                                    <m:t>log</m:t>
                                  </m:r>
                                </m:e>
                                <m:sub>
                                  <m:r>
                                    <a:rPr lang="en-US" i="1">
                                      <a:latin typeface="Cambria Math" panose="02040503050406030204" pitchFamily="18" charset="0"/>
                                    </a:rPr>
                                    <m:t>2</m:t>
                                  </m:r>
                                </m:sub>
                              </m:sSub>
                            </m:fName>
                            <m:e>
                              <m:f>
                                <m:fPr>
                                  <m:ctrlPr>
                                    <a:rPr lang="en-US" i="1">
                                      <a:latin typeface="Cambria Math" panose="02040503050406030204" pitchFamily="18" charset="0"/>
                                    </a:rPr>
                                  </m:ctrlPr>
                                </m:fPr>
                                <m:num>
                                  <m:r>
                                    <a:rPr lang="en-US" i="1">
                                      <a:latin typeface="Cambria Math" panose="02040503050406030204" pitchFamily="18" charset="0"/>
                                    </a:rPr>
                                    <m:t>𝑝</m:t>
                                  </m:r>
                                  <m:d>
                                    <m:dPr>
                                      <m:ctrlPr>
                                        <a:rPr lang="en-US" i="1">
                                          <a:latin typeface="Cambria Math" panose="02040503050406030204" pitchFamily="18" charset="0"/>
                                        </a:rPr>
                                      </m:ctrlPr>
                                    </m:dPr>
                                    <m:e>
                                      <m:r>
                                        <a:rPr lang="en-US" i="1">
                                          <a:latin typeface="Cambria Math" panose="02040503050406030204" pitchFamily="18" charset="0"/>
                                        </a:rPr>
                                        <m:t>𝑥</m:t>
                                      </m:r>
                                    </m:e>
                                  </m:d>
                                </m:num>
                                <m:den>
                                  <m:r>
                                    <a:rPr lang="en-US" i="1">
                                      <a:latin typeface="Cambria Math" panose="02040503050406030204" pitchFamily="18" charset="0"/>
                                    </a:rPr>
                                    <m:t>𝑞</m:t>
                                  </m:r>
                                  <m:d>
                                    <m:dPr>
                                      <m:ctrlPr>
                                        <a:rPr lang="en-US" i="1">
                                          <a:latin typeface="Cambria Math" panose="02040503050406030204" pitchFamily="18" charset="0"/>
                                        </a:rPr>
                                      </m:ctrlPr>
                                    </m:dPr>
                                    <m:e>
                                      <m:r>
                                        <a:rPr lang="en-US" i="1">
                                          <a:latin typeface="Cambria Math" panose="02040503050406030204" pitchFamily="18" charset="0"/>
                                        </a:rPr>
                                        <m:t>𝑥</m:t>
                                      </m:r>
                                    </m:e>
                                  </m:d>
                                </m:den>
                              </m:f>
                            </m:e>
                          </m:func>
                          <m:r>
                            <a:rPr lang="en-US" b="0" i="1" smtClean="0">
                              <a:latin typeface="Cambria Math" panose="02040503050406030204" pitchFamily="18" charset="0"/>
                            </a:rPr>
                            <m:t>𝑑𝑥</m:t>
                          </m:r>
                        </m:e>
                      </m:nary>
                    </m:oMath>
                  </m:oMathPara>
                </a14:m>
                <a:endParaRPr lang="en-US" dirty="0"/>
              </a:p>
              <a:p>
                <a:pPr marL="0" indent="0">
                  <a:buNone/>
                </a:pPr>
                <a:r>
                  <a:rPr lang="en-US" dirty="0"/>
                  <a:t>More generally:</a:t>
                </a:r>
              </a:p>
              <a:p>
                <a:pPr marL="0" indent="0">
                  <a:buNone/>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𝐷</m:t>
                          </m:r>
                        </m:e>
                        <m:sub>
                          <m:r>
                            <a:rPr lang="en-US" i="1">
                              <a:latin typeface="Cambria Math" panose="02040503050406030204" pitchFamily="18" charset="0"/>
                            </a:rPr>
                            <m:t>𝐾𝐿</m:t>
                          </m:r>
                        </m:sub>
                      </m:sSub>
                      <m:r>
                        <a:rPr lang="en-US" i="1">
                          <a:latin typeface="Cambria Math" panose="02040503050406030204" pitchFamily="18" charset="0"/>
                        </a:rPr>
                        <m:t>(</m:t>
                      </m:r>
                      <m:r>
                        <a:rPr lang="en-US" i="1">
                          <a:latin typeface="Cambria Math" panose="02040503050406030204" pitchFamily="18" charset="0"/>
                        </a:rPr>
                        <m:t>𝑝</m:t>
                      </m:r>
                      <m:r>
                        <a:rPr lang="en-US" i="1">
                          <a:latin typeface="Cambria Math" panose="02040503050406030204" pitchFamily="18" charset="0"/>
                        </a:rPr>
                        <m:t>|</m:t>
                      </m:r>
                      <m:d>
                        <m:dPr>
                          <m:begChr m:val="|"/>
                          <m:ctrlPr>
                            <a:rPr lang="en-US" i="1">
                              <a:latin typeface="Cambria Math" panose="02040503050406030204" pitchFamily="18" charset="0"/>
                            </a:rPr>
                          </m:ctrlPr>
                        </m:dPr>
                        <m:e>
                          <m:r>
                            <a:rPr lang="en-US" i="1">
                              <a:latin typeface="Cambria Math" panose="02040503050406030204" pitchFamily="18" charset="0"/>
                            </a:rPr>
                            <m:t>𝑞</m:t>
                          </m:r>
                        </m:e>
                      </m:d>
                      <m:r>
                        <a:rPr lang="en-US" i="1">
                          <a:latin typeface="Cambria Math" panose="02040503050406030204" pitchFamily="18" charset="0"/>
                        </a:rPr>
                        <m:t>=</m:t>
                      </m:r>
                      <m:sSub>
                        <m:sSubPr>
                          <m:ctrlPr>
                            <a:rPr lang="en-US" i="1" smtClean="0">
                              <a:latin typeface="Cambria Math" panose="02040503050406030204" pitchFamily="18" charset="0"/>
                            </a:rPr>
                          </m:ctrlPr>
                        </m:sSubPr>
                        <m:e>
                          <m:r>
                            <a:rPr lang="en-US" b="0" i="1" smtClean="0">
                              <a:latin typeface="Cambria Math" panose="02040503050406030204" pitchFamily="18" charset="0"/>
                            </a:rPr>
                            <m:t>𝐸</m:t>
                          </m:r>
                        </m:e>
                        <m:sub>
                          <m:r>
                            <a:rPr lang="en-US" b="0" i="1" smtClean="0">
                              <a:latin typeface="Cambria Math" panose="02040503050406030204" pitchFamily="18" charset="0"/>
                            </a:rPr>
                            <m:t>𝑝</m:t>
                          </m:r>
                        </m:sub>
                      </m:sSub>
                      <m:func>
                        <m:funcPr>
                          <m:ctrlPr>
                            <a:rPr lang="en-US" i="1">
                              <a:latin typeface="Cambria Math" panose="02040503050406030204" pitchFamily="18" charset="0"/>
                            </a:rPr>
                          </m:ctrlPr>
                        </m:funcPr>
                        <m:fName>
                          <m:sSub>
                            <m:sSubPr>
                              <m:ctrlPr>
                                <a:rPr lang="en-US" i="1">
                                  <a:latin typeface="Cambria Math" panose="02040503050406030204" pitchFamily="18" charset="0"/>
                                </a:rPr>
                              </m:ctrlPr>
                            </m:sSubPr>
                            <m:e>
                              <m:r>
                                <m:rPr>
                                  <m:sty m:val="p"/>
                                </m:rPr>
                                <a:rPr lang="en-US">
                                  <a:latin typeface="Cambria Math" panose="02040503050406030204" pitchFamily="18" charset="0"/>
                                </a:rPr>
                                <m:t>log</m:t>
                              </m:r>
                            </m:e>
                            <m:sub>
                              <m:r>
                                <a:rPr lang="en-US" i="1">
                                  <a:latin typeface="Cambria Math" panose="02040503050406030204" pitchFamily="18" charset="0"/>
                                </a:rPr>
                                <m:t>2</m:t>
                              </m:r>
                            </m:sub>
                          </m:sSub>
                        </m:fName>
                        <m:e>
                          <m:f>
                            <m:fPr>
                              <m:ctrlPr>
                                <a:rPr lang="en-US" i="1">
                                  <a:latin typeface="Cambria Math" panose="02040503050406030204" pitchFamily="18" charset="0"/>
                                </a:rPr>
                              </m:ctrlPr>
                            </m:fPr>
                            <m:num>
                              <m:r>
                                <a:rPr lang="en-US" i="1">
                                  <a:latin typeface="Cambria Math" panose="02040503050406030204" pitchFamily="18" charset="0"/>
                                </a:rPr>
                                <m:t>𝑝</m:t>
                              </m:r>
                              <m:d>
                                <m:dPr>
                                  <m:ctrlPr>
                                    <a:rPr lang="en-US" i="1">
                                      <a:latin typeface="Cambria Math" panose="02040503050406030204" pitchFamily="18" charset="0"/>
                                    </a:rPr>
                                  </m:ctrlPr>
                                </m:dPr>
                                <m:e>
                                  <m:r>
                                    <a:rPr lang="en-US" i="1">
                                      <a:latin typeface="Cambria Math" panose="02040503050406030204" pitchFamily="18" charset="0"/>
                                    </a:rPr>
                                    <m:t>𝑥</m:t>
                                  </m:r>
                                </m:e>
                              </m:d>
                            </m:num>
                            <m:den>
                              <m:r>
                                <a:rPr lang="en-US" i="1">
                                  <a:latin typeface="Cambria Math" panose="02040503050406030204" pitchFamily="18" charset="0"/>
                                </a:rPr>
                                <m:t>𝑞</m:t>
                              </m:r>
                              <m:d>
                                <m:dPr>
                                  <m:ctrlPr>
                                    <a:rPr lang="en-US" i="1">
                                      <a:latin typeface="Cambria Math" panose="02040503050406030204" pitchFamily="18" charset="0"/>
                                    </a:rPr>
                                  </m:ctrlPr>
                                </m:dPr>
                                <m:e>
                                  <m:r>
                                    <a:rPr lang="en-US" i="1">
                                      <a:latin typeface="Cambria Math" panose="02040503050406030204" pitchFamily="18" charset="0"/>
                                    </a:rPr>
                                    <m:t>𝑥</m:t>
                                  </m:r>
                                </m:e>
                              </m:d>
                            </m:den>
                          </m:f>
                        </m:e>
                      </m:func>
                    </m:oMath>
                  </m:oMathPara>
                </a14:m>
                <a:endParaRPr lang="en-US" dirty="0"/>
              </a:p>
            </p:txBody>
          </p:sp>
        </mc:Choice>
        <mc:Fallback xmlns="">
          <p:sp>
            <p:nvSpPr>
              <p:cNvPr id="3" name="Content Placeholder 2">
                <a:extLst>
                  <a:ext uri="{FF2B5EF4-FFF2-40B4-BE49-F238E27FC236}">
                    <a16:creationId xmlns:a16="http://schemas.microsoft.com/office/drawing/2014/main" id="{29BFE8EC-AC2F-46AF-A640-82D28DFC418E}"/>
                  </a:ext>
                </a:extLst>
              </p:cNvPr>
              <p:cNvSpPr>
                <a:spLocks noGrp="1" noRot="1" noChangeAspect="1" noMove="1" noResize="1" noEditPoints="1" noAdjustHandles="1" noChangeArrowheads="1" noChangeShapeType="1" noTextEdit="1"/>
              </p:cNvSpPr>
              <p:nvPr>
                <p:ph idx="1"/>
              </p:nvPr>
            </p:nvSpPr>
            <p:spPr>
              <a:xfrm>
                <a:off x="818712" y="2222287"/>
                <a:ext cx="10554574" cy="4337539"/>
              </a:xfrm>
              <a:blipFill>
                <a:blip r:embed="rId2"/>
                <a:stretch>
                  <a:fillRect l="-462"/>
                </a:stretch>
              </a:blipFill>
            </p:spPr>
            <p:txBody>
              <a:bodyPr/>
              <a:lstStyle/>
              <a:p>
                <a:r>
                  <a:rPr lang="en-US">
                    <a:noFill/>
                  </a:rPr>
                  <a:t> </a:t>
                </a:r>
              </a:p>
            </p:txBody>
          </p:sp>
        </mc:Fallback>
      </mc:AlternateContent>
    </p:spTree>
    <p:extLst>
      <p:ext uri="{BB962C8B-B14F-4D97-AF65-F5344CB8AC3E}">
        <p14:creationId xmlns:p14="http://schemas.microsoft.com/office/powerpoint/2010/main" val="29515676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F3F4A3-E305-4286-9527-92FABFF90F32}"/>
              </a:ext>
            </a:extLst>
          </p:cNvPr>
          <p:cNvSpPr>
            <a:spLocks noGrp="1"/>
          </p:cNvSpPr>
          <p:nvPr>
            <p:ph type="title"/>
          </p:nvPr>
        </p:nvSpPr>
        <p:spPr/>
        <p:txBody>
          <a:bodyPr/>
          <a:lstStyle/>
          <a:p>
            <a:r>
              <a:rPr lang="en-US" dirty="0" err="1"/>
              <a:t>Kullback</a:t>
            </a:r>
            <a:r>
              <a:rPr lang="en-US" dirty="0"/>
              <a:t>–</a:t>
            </a:r>
            <a:r>
              <a:rPr lang="en-US" dirty="0" err="1"/>
              <a:t>Leibler</a:t>
            </a:r>
            <a:r>
              <a:rPr lang="en-US" dirty="0"/>
              <a:t> Divergence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A12C929-28F0-4AD8-912D-4C98DBC67C79}"/>
                  </a:ext>
                </a:extLst>
              </p:cNvPr>
              <p:cNvSpPr>
                <a:spLocks noGrp="1"/>
              </p:cNvSpPr>
              <p:nvPr>
                <p:ph idx="1"/>
              </p:nvPr>
            </p:nvSpPr>
            <p:spPr/>
            <p:txBody>
              <a:bodyPr/>
              <a:lstStyle/>
              <a:p>
                <a:pPr marL="0" indent="0" algn="just">
                  <a:buNone/>
                </a:pPr>
                <a14:m>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rPr>
                          <m:t>𝐷</m:t>
                        </m:r>
                      </m:e>
                      <m:sub>
                        <m:r>
                          <a:rPr lang="en-US" i="1">
                            <a:latin typeface="Cambria Math" panose="02040503050406030204" pitchFamily="18" charset="0"/>
                          </a:rPr>
                          <m:t>𝐾𝐿</m:t>
                        </m:r>
                      </m:sub>
                    </m:sSub>
                    <m:r>
                      <a:rPr lang="en-US" i="1">
                        <a:latin typeface="Cambria Math" panose="02040503050406030204" pitchFamily="18" charset="0"/>
                      </a:rPr>
                      <m:t>(</m:t>
                    </m:r>
                    <m:r>
                      <a:rPr lang="en-US" i="1">
                        <a:latin typeface="Cambria Math" panose="02040503050406030204" pitchFamily="18" charset="0"/>
                      </a:rPr>
                      <m:t>𝑝</m:t>
                    </m:r>
                    <m:r>
                      <a:rPr lang="en-US" i="1">
                        <a:latin typeface="Cambria Math" panose="02040503050406030204" pitchFamily="18" charset="0"/>
                      </a:rPr>
                      <m:t>|</m:t>
                    </m:r>
                    <m:d>
                      <m:dPr>
                        <m:begChr m:val="|"/>
                        <m:ctrlPr>
                          <a:rPr lang="en-US" i="1">
                            <a:latin typeface="Cambria Math" panose="02040503050406030204" pitchFamily="18" charset="0"/>
                          </a:rPr>
                        </m:ctrlPr>
                      </m:dPr>
                      <m:e>
                        <m:r>
                          <a:rPr lang="en-US" i="1">
                            <a:latin typeface="Cambria Math" panose="02040503050406030204" pitchFamily="18" charset="0"/>
                          </a:rPr>
                          <m:t>𝑞</m:t>
                        </m:r>
                      </m:e>
                    </m:d>
                    <m:r>
                      <a:rPr lang="en-US" i="1">
                        <a:latin typeface="Cambria Math" panose="02040503050406030204" pitchFamily="18" charset="0"/>
                      </a:rPr>
                      <m:t> </m:t>
                    </m:r>
                  </m:oMath>
                </a14:m>
                <a:r>
                  <a:rPr lang="en-US" dirty="0"/>
                  <a:t> is a measure of the inefficiency of assuming that the distribution is </a:t>
                </a:r>
                <a14:m>
                  <m:oMath xmlns:m="http://schemas.openxmlformats.org/officeDocument/2006/math">
                    <m:r>
                      <a:rPr lang="en-US" b="0" i="1" smtClean="0">
                        <a:latin typeface="Cambria Math" panose="02040503050406030204" pitchFamily="18" charset="0"/>
                      </a:rPr>
                      <m:t>𝑞</m:t>
                    </m:r>
                  </m:oMath>
                </a14:m>
                <a:r>
                  <a:rPr lang="en-US" dirty="0"/>
                  <a:t> when the true distribution is </a:t>
                </a:r>
                <a14:m>
                  <m:oMath xmlns:m="http://schemas.openxmlformats.org/officeDocument/2006/math">
                    <m:r>
                      <a:rPr lang="en-US" b="0" i="1" smtClean="0">
                        <a:latin typeface="Cambria Math" panose="02040503050406030204" pitchFamily="18" charset="0"/>
                      </a:rPr>
                      <m:t>𝑝</m:t>
                    </m:r>
                  </m:oMath>
                </a14:m>
                <a:r>
                  <a:rPr lang="en-US" dirty="0"/>
                  <a:t>. For example, if we knew the true distribution </a:t>
                </a:r>
                <a14:m>
                  <m:oMath xmlns:m="http://schemas.openxmlformats.org/officeDocument/2006/math">
                    <m:r>
                      <a:rPr lang="en-US" b="0" i="1" smtClean="0">
                        <a:latin typeface="Cambria Math" panose="02040503050406030204" pitchFamily="18" charset="0"/>
                      </a:rPr>
                      <m:t>𝑝</m:t>
                    </m:r>
                  </m:oMath>
                </a14:m>
                <a:r>
                  <a:rPr lang="en-US" dirty="0"/>
                  <a:t> of the random variable, we could construct a code with average description length </a:t>
                </a:r>
                <a14:m>
                  <m:oMath xmlns:m="http://schemas.openxmlformats.org/officeDocument/2006/math">
                    <m:r>
                      <a:rPr lang="en-US" b="0" i="1" smtClean="0">
                        <a:latin typeface="Cambria Math" panose="02040503050406030204" pitchFamily="18" charset="0"/>
                      </a:rPr>
                      <m:t>𝐻</m:t>
                    </m:r>
                    <m:r>
                      <a:rPr lang="en-US" b="0" i="1" smtClean="0">
                        <a:latin typeface="Cambria Math" panose="02040503050406030204" pitchFamily="18" charset="0"/>
                      </a:rPr>
                      <m:t>(</m:t>
                    </m:r>
                    <m:r>
                      <a:rPr lang="en-US" b="0" i="1" smtClean="0">
                        <a:latin typeface="Cambria Math" panose="02040503050406030204" pitchFamily="18" charset="0"/>
                      </a:rPr>
                      <m:t>𝑝</m:t>
                    </m:r>
                    <m:r>
                      <a:rPr lang="en-US" b="0" i="1" smtClean="0">
                        <a:latin typeface="Cambria Math" panose="02040503050406030204" pitchFamily="18" charset="0"/>
                      </a:rPr>
                      <m:t>)</m:t>
                    </m:r>
                  </m:oMath>
                </a14:m>
                <a:r>
                  <a:rPr lang="en-US" dirty="0"/>
                  <a:t>. If, instead, we used the code for a distribution </a:t>
                </a:r>
                <a14:m>
                  <m:oMath xmlns:m="http://schemas.openxmlformats.org/officeDocument/2006/math">
                    <m:r>
                      <a:rPr lang="en-US" b="0" i="1" smtClean="0">
                        <a:latin typeface="Cambria Math" panose="02040503050406030204" pitchFamily="18" charset="0"/>
                      </a:rPr>
                      <m:t>𝑞</m:t>
                    </m:r>
                  </m:oMath>
                </a14:m>
                <a:r>
                  <a:rPr lang="en-US" dirty="0"/>
                  <a:t>, we would need </a:t>
                </a:r>
                <a14:m>
                  <m:oMath xmlns:m="http://schemas.openxmlformats.org/officeDocument/2006/math">
                    <m:r>
                      <a:rPr lang="en-US" b="0" i="1" smtClean="0">
                        <a:latin typeface="Cambria Math" panose="02040503050406030204" pitchFamily="18" charset="0"/>
                      </a:rPr>
                      <m:t>𝐻</m:t>
                    </m:r>
                    <m:d>
                      <m:dPr>
                        <m:ctrlPr>
                          <a:rPr lang="en-US" b="0" i="1" smtClean="0">
                            <a:latin typeface="Cambria Math" panose="02040503050406030204" pitchFamily="18" charset="0"/>
                          </a:rPr>
                        </m:ctrlPr>
                      </m:dPr>
                      <m:e>
                        <m:r>
                          <a:rPr lang="en-US" b="0" i="1" smtClean="0">
                            <a:latin typeface="Cambria Math" panose="02040503050406030204" pitchFamily="18" charset="0"/>
                          </a:rPr>
                          <m:t>𝑝</m:t>
                        </m:r>
                      </m:e>
                    </m:d>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𝐷</m:t>
                        </m:r>
                      </m:e>
                      <m:sub>
                        <m:r>
                          <a:rPr lang="en-US" i="1">
                            <a:latin typeface="Cambria Math" panose="02040503050406030204" pitchFamily="18" charset="0"/>
                          </a:rPr>
                          <m:t>𝐾𝐿</m:t>
                        </m:r>
                      </m:sub>
                    </m:sSub>
                    <m:r>
                      <a:rPr lang="en-US" i="1">
                        <a:latin typeface="Cambria Math" panose="02040503050406030204" pitchFamily="18" charset="0"/>
                      </a:rPr>
                      <m:t>(</m:t>
                    </m:r>
                    <m:r>
                      <a:rPr lang="en-US" i="1">
                        <a:latin typeface="Cambria Math" panose="02040503050406030204" pitchFamily="18" charset="0"/>
                      </a:rPr>
                      <m:t>𝑝</m:t>
                    </m:r>
                    <m:r>
                      <a:rPr lang="en-US" i="1">
                        <a:latin typeface="Cambria Math" panose="02040503050406030204" pitchFamily="18" charset="0"/>
                      </a:rPr>
                      <m:t>|</m:t>
                    </m:r>
                    <m:d>
                      <m:dPr>
                        <m:begChr m:val="|"/>
                        <m:ctrlPr>
                          <a:rPr lang="en-US" i="1">
                            <a:latin typeface="Cambria Math" panose="02040503050406030204" pitchFamily="18" charset="0"/>
                          </a:rPr>
                        </m:ctrlPr>
                      </m:dPr>
                      <m:e>
                        <m:r>
                          <a:rPr lang="en-US" i="1">
                            <a:latin typeface="Cambria Math" panose="02040503050406030204" pitchFamily="18" charset="0"/>
                          </a:rPr>
                          <m:t>𝑞</m:t>
                        </m:r>
                      </m:e>
                    </m:d>
                  </m:oMath>
                </a14:m>
                <a:r>
                  <a:rPr lang="en-US" dirty="0"/>
                  <a:t> bits on the average to describe the random variable.</a:t>
                </a:r>
              </a:p>
              <a:p>
                <a:pPr marL="0" indent="0" algn="just">
                  <a:buNone/>
                </a:pPr>
                <a:endParaRPr lang="en-US" dirty="0"/>
              </a:p>
              <a:p>
                <a:pPr marL="0" indent="0" algn="just">
                  <a:buNone/>
                </a:pPr>
                <a:r>
                  <a:rPr lang="en-US" dirty="0"/>
                  <a:t>Intuitively, there are three cases:</a:t>
                </a:r>
              </a:p>
              <a:p>
                <a:pPr marL="685800" lvl="1" algn="just"/>
                <a:r>
                  <a:rPr lang="en-US" dirty="0"/>
                  <a:t>If </a:t>
                </a:r>
                <a14:m>
                  <m:oMath xmlns:m="http://schemas.openxmlformats.org/officeDocument/2006/math">
                    <m:r>
                      <a:rPr lang="en-US" b="0" i="1" smtClean="0">
                        <a:latin typeface="Cambria Math" panose="02040503050406030204" pitchFamily="18" charset="0"/>
                      </a:rPr>
                      <m:t>𝑝</m:t>
                    </m:r>
                  </m:oMath>
                </a14:m>
                <a:r>
                  <a:rPr lang="en-US" dirty="0"/>
                  <a:t> is high and </a:t>
                </a:r>
                <a14:m>
                  <m:oMath xmlns:m="http://schemas.openxmlformats.org/officeDocument/2006/math">
                    <m:r>
                      <a:rPr lang="en-US" b="0" i="1" smtClean="0">
                        <a:latin typeface="Cambria Math" panose="02040503050406030204" pitchFamily="18" charset="0"/>
                      </a:rPr>
                      <m:t>𝑞</m:t>
                    </m:r>
                  </m:oMath>
                </a14:m>
                <a:r>
                  <a:rPr lang="en-US" dirty="0"/>
                  <a:t> is high then we are happy.</a:t>
                </a:r>
              </a:p>
              <a:p>
                <a:pPr marL="685800" lvl="1" algn="just"/>
                <a:r>
                  <a:rPr lang="en-US" dirty="0"/>
                  <a:t>If </a:t>
                </a:r>
                <a14:m>
                  <m:oMath xmlns:m="http://schemas.openxmlformats.org/officeDocument/2006/math">
                    <m:r>
                      <a:rPr lang="en-US" i="1">
                        <a:latin typeface="Cambria Math" panose="02040503050406030204" pitchFamily="18" charset="0"/>
                      </a:rPr>
                      <m:t>𝑝</m:t>
                    </m:r>
                  </m:oMath>
                </a14:m>
                <a:r>
                  <a:rPr lang="en-US" dirty="0"/>
                  <a:t> is high and </a:t>
                </a:r>
                <a14:m>
                  <m:oMath xmlns:m="http://schemas.openxmlformats.org/officeDocument/2006/math">
                    <m:r>
                      <a:rPr lang="en-US" i="1">
                        <a:latin typeface="Cambria Math" panose="02040503050406030204" pitchFamily="18" charset="0"/>
                      </a:rPr>
                      <m:t>𝑞</m:t>
                    </m:r>
                  </m:oMath>
                </a14:m>
                <a:r>
                  <a:rPr lang="en-US" dirty="0"/>
                  <a:t> is low then we pay a price.</a:t>
                </a:r>
              </a:p>
              <a:p>
                <a:pPr marL="685800" lvl="1" algn="just"/>
                <a:r>
                  <a:rPr lang="en-US" dirty="0"/>
                  <a:t>If </a:t>
                </a:r>
                <a14:m>
                  <m:oMath xmlns:m="http://schemas.openxmlformats.org/officeDocument/2006/math">
                    <m:r>
                      <a:rPr lang="en-US" b="0" i="1" smtClean="0">
                        <a:latin typeface="Cambria Math" panose="02040503050406030204" pitchFamily="18" charset="0"/>
                      </a:rPr>
                      <m:t>𝑝</m:t>
                    </m:r>
                  </m:oMath>
                </a14:m>
                <a:r>
                  <a:rPr lang="en-US" dirty="0"/>
                  <a:t> is low then we don’t care (because of the expectation).</a:t>
                </a:r>
              </a:p>
              <a:p>
                <a:pPr marL="685800" lvl="1" algn="just"/>
                <a:endParaRPr lang="en-US" dirty="0"/>
              </a:p>
            </p:txBody>
          </p:sp>
        </mc:Choice>
        <mc:Fallback xmlns="">
          <p:sp>
            <p:nvSpPr>
              <p:cNvPr id="3" name="Content Placeholder 2">
                <a:extLst>
                  <a:ext uri="{FF2B5EF4-FFF2-40B4-BE49-F238E27FC236}">
                    <a16:creationId xmlns:a16="http://schemas.microsoft.com/office/drawing/2014/main" id="{2A12C929-28F0-4AD8-912D-4C98DBC67C79}"/>
                  </a:ext>
                </a:extLst>
              </p:cNvPr>
              <p:cNvSpPr>
                <a:spLocks noGrp="1" noRot="1" noChangeAspect="1" noMove="1" noResize="1" noEditPoints="1" noAdjustHandles="1" noChangeArrowheads="1" noChangeShapeType="1" noTextEdit="1"/>
              </p:cNvSpPr>
              <p:nvPr>
                <p:ph idx="1"/>
              </p:nvPr>
            </p:nvSpPr>
            <p:spPr>
              <a:blipFill>
                <a:blip r:embed="rId2"/>
                <a:stretch>
                  <a:fillRect l="-462" t="-2517" r="-462"/>
                </a:stretch>
              </a:blipFill>
            </p:spPr>
            <p:txBody>
              <a:bodyPr/>
              <a:lstStyle/>
              <a:p>
                <a:r>
                  <a:rPr lang="en-US">
                    <a:noFill/>
                  </a:rPr>
                  <a:t> </a:t>
                </a:r>
              </a:p>
            </p:txBody>
          </p:sp>
        </mc:Fallback>
      </mc:AlternateContent>
    </p:spTree>
    <p:extLst>
      <p:ext uri="{BB962C8B-B14F-4D97-AF65-F5344CB8AC3E}">
        <p14:creationId xmlns:p14="http://schemas.microsoft.com/office/powerpoint/2010/main" val="180839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B40E3B-BAD6-42E1-BD38-57CD1B553968}"/>
              </a:ext>
            </a:extLst>
          </p:cNvPr>
          <p:cNvSpPr>
            <a:spLocks noGrp="1"/>
          </p:cNvSpPr>
          <p:nvPr>
            <p:ph type="title"/>
          </p:nvPr>
        </p:nvSpPr>
        <p:spPr/>
        <p:txBody>
          <a:bodyPr/>
          <a:lstStyle/>
          <a:p>
            <a:r>
              <a:rPr lang="en-US" dirty="0"/>
              <a:t>Coming Back to Variational Inference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305116F-0AF1-4DB1-9EB6-60F6FC584059}"/>
                  </a:ext>
                </a:extLst>
              </p:cNvPr>
              <p:cNvSpPr>
                <a:spLocks noGrp="1"/>
              </p:cNvSpPr>
              <p:nvPr>
                <p:ph idx="1"/>
              </p:nvPr>
            </p:nvSpPr>
            <p:spPr>
              <a:xfrm>
                <a:off x="836136" y="3653521"/>
                <a:ext cx="10554574" cy="1607591"/>
              </a:xfrm>
            </p:spPr>
            <p:txBody>
              <a:bodyPr/>
              <a:lstStyle/>
              <a:p>
                <a:pPr marL="0" indent="0">
                  <a:buNone/>
                </a:pPr>
                <a:r>
                  <a:rPr lang="en-US" dirty="0"/>
                  <a:t>We want:</a:t>
                </a:r>
              </a:p>
              <a:p>
                <a:pPr marL="0" indent="0">
                  <a:buNone/>
                </a:pPr>
                <a14:m>
                  <m:oMathPara xmlns:m="http://schemas.openxmlformats.org/officeDocument/2006/math">
                    <m:oMathParaPr>
                      <m:jc m:val="centerGroup"/>
                    </m:oMathParaPr>
                    <m:oMath xmlns:m="http://schemas.openxmlformats.org/officeDocument/2006/math">
                      <m:func>
                        <m:funcPr>
                          <m:ctrlPr>
                            <a:rPr lang="en-US" i="1">
                              <a:latin typeface="Cambria Math" panose="02040503050406030204" pitchFamily="18" charset="0"/>
                            </a:rPr>
                          </m:ctrlPr>
                        </m:funcPr>
                        <m:fName>
                          <m:r>
                            <m:rPr>
                              <m:sty m:val="p"/>
                            </m:rPr>
                            <a:rPr lang="en-US">
                              <a:latin typeface="Cambria Math" panose="02040503050406030204" pitchFamily="18" charset="0"/>
                            </a:rPr>
                            <m:t>min</m:t>
                          </m:r>
                        </m:fName>
                        <m:e>
                          <m:sSub>
                            <m:sSubPr>
                              <m:ctrlPr>
                                <a:rPr lang="en-US" i="1">
                                  <a:latin typeface="Cambria Math" panose="02040503050406030204" pitchFamily="18" charset="0"/>
                                </a:rPr>
                              </m:ctrlPr>
                            </m:sSubPr>
                            <m:e>
                              <m:r>
                                <a:rPr lang="en-US" i="1">
                                  <a:latin typeface="Cambria Math" panose="02040503050406030204" pitchFamily="18" charset="0"/>
                                </a:rPr>
                                <m:t>𝐷</m:t>
                              </m:r>
                            </m:e>
                            <m:sub>
                              <m:r>
                                <a:rPr lang="en-US" i="1">
                                  <a:latin typeface="Cambria Math" panose="02040503050406030204" pitchFamily="18" charset="0"/>
                                </a:rPr>
                                <m:t>𝐾𝐿</m:t>
                              </m:r>
                            </m:sub>
                          </m:sSub>
                          <m:r>
                            <a:rPr lang="en-US" i="1">
                              <a:latin typeface="Cambria Math" panose="02040503050406030204" pitchFamily="18" charset="0"/>
                            </a:rPr>
                            <m:t>(</m:t>
                          </m:r>
                          <m:r>
                            <a:rPr lang="en-US" i="1">
                              <a:latin typeface="Cambria Math" panose="02040503050406030204" pitchFamily="18" charset="0"/>
                              <a:ea typeface="Cambria Math" panose="02040503050406030204" pitchFamily="18" charset="0"/>
                            </a:rPr>
                            <m:t>𝑞</m:t>
                          </m:r>
                          <m:r>
                            <a:rPr lang="en-US" i="1">
                              <a:latin typeface="Cambria Math" panose="02040503050406030204" pitchFamily="18" charset="0"/>
                              <a:ea typeface="Cambria Math" panose="02040503050406030204" pitchFamily="18" charset="0"/>
                            </a:rPr>
                            <m:t>(</m:t>
                          </m:r>
                          <m:r>
                            <a:rPr lang="en-US" b="1">
                              <a:latin typeface="Cambria Math" panose="02040503050406030204" pitchFamily="18" charset="0"/>
                              <a:ea typeface="Cambria Math" panose="02040503050406030204" pitchFamily="18" charset="0"/>
                            </a:rPr>
                            <m:t>𝐙</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rPr>
                            <m:t>|</m:t>
                          </m:r>
                          <m:d>
                            <m:dPr>
                              <m:begChr m:val="|"/>
                              <m:ctrlPr>
                                <a:rPr lang="en-US" i="1">
                                  <a:latin typeface="Cambria Math" panose="02040503050406030204" pitchFamily="18" charset="0"/>
                                </a:rPr>
                              </m:ctrlPr>
                            </m:dPr>
                            <m:e>
                              <m:r>
                                <a:rPr lang="en-US" i="1">
                                  <a:latin typeface="Cambria Math" panose="02040503050406030204" pitchFamily="18" charset="0"/>
                                </a:rPr>
                                <m:t>𝑝</m:t>
                              </m:r>
                              <m:r>
                                <a:rPr lang="en-US" i="1">
                                  <a:latin typeface="Cambria Math" panose="02040503050406030204" pitchFamily="18" charset="0"/>
                                </a:rPr>
                                <m:t>(</m:t>
                              </m:r>
                              <m:r>
                                <a:rPr lang="en-US" b="1">
                                  <a:latin typeface="Cambria Math" panose="02040503050406030204" pitchFamily="18" charset="0"/>
                                </a:rPr>
                                <m:t>𝐙</m:t>
                              </m:r>
                              <m:r>
                                <a:rPr lang="en-US" i="1">
                                  <a:latin typeface="Cambria Math" panose="02040503050406030204" pitchFamily="18" charset="0"/>
                                </a:rPr>
                                <m:t>|</m:t>
                              </m:r>
                              <m:r>
                                <a:rPr lang="en-US" b="1">
                                  <a:latin typeface="Cambria Math" panose="02040503050406030204" pitchFamily="18" charset="0"/>
                                </a:rPr>
                                <m:t>𝐗</m:t>
                              </m:r>
                              <m:r>
                                <a:rPr lang="en-US" i="1">
                                  <a:latin typeface="Cambria Math" panose="02040503050406030204" pitchFamily="18" charset="0"/>
                                </a:rPr>
                                <m:t>)</m:t>
                              </m:r>
                            </m:e>
                          </m:d>
                        </m:e>
                      </m:func>
                    </m:oMath>
                  </m:oMathPara>
                </a14:m>
                <a:endParaRPr lang="en-US" dirty="0"/>
              </a:p>
            </p:txBody>
          </p:sp>
        </mc:Choice>
        <mc:Fallback xmlns="">
          <p:sp>
            <p:nvSpPr>
              <p:cNvPr id="3" name="Content Placeholder 2">
                <a:extLst>
                  <a:ext uri="{FF2B5EF4-FFF2-40B4-BE49-F238E27FC236}">
                    <a16:creationId xmlns:a16="http://schemas.microsoft.com/office/drawing/2014/main" id="{3305116F-0AF1-4DB1-9EB6-60F6FC584059}"/>
                  </a:ext>
                </a:extLst>
              </p:cNvPr>
              <p:cNvSpPr>
                <a:spLocks noGrp="1" noRot="1" noChangeAspect="1" noMove="1" noResize="1" noEditPoints="1" noAdjustHandles="1" noChangeArrowheads="1" noChangeShapeType="1" noTextEdit="1"/>
              </p:cNvSpPr>
              <p:nvPr>
                <p:ph idx="1"/>
              </p:nvPr>
            </p:nvSpPr>
            <p:spPr>
              <a:xfrm>
                <a:off x="836136" y="3653521"/>
                <a:ext cx="10554574" cy="1607591"/>
              </a:xfrm>
              <a:blipFill>
                <a:blip r:embed="rId2"/>
                <a:stretch>
                  <a:fillRect l="-46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Explosion: 14 Points 3">
                <a:extLst>
                  <a:ext uri="{FF2B5EF4-FFF2-40B4-BE49-F238E27FC236}">
                    <a16:creationId xmlns:a16="http://schemas.microsoft.com/office/drawing/2014/main" id="{3882B9DF-8986-427F-9B60-1FD93ABB27DC}"/>
                  </a:ext>
                </a:extLst>
              </p:cNvPr>
              <p:cNvSpPr/>
              <p:nvPr/>
            </p:nvSpPr>
            <p:spPr>
              <a:xfrm>
                <a:off x="4214190" y="2471530"/>
                <a:ext cx="6294784" cy="1914940"/>
              </a:xfrm>
              <a:prstGeom prst="irregularSeal2">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Note that </a:t>
                </a:r>
                <a14:m>
                  <m:oMath xmlns:m="http://schemas.openxmlformats.org/officeDocument/2006/math">
                    <m:r>
                      <a:rPr lang="en-US" b="0" i="1" smtClean="0">
                        <a:latin typeface="Cambria Math" panose="02040503050406030204" pitchFamily="18" charset="0"/>
                      </a:rPr>
                      <m:t>𝑞</m:t>
                    </m:r>
                  </m:oMath>
                </a14:m>
                <a:r>
                  <a:rPr lang="en-US" dirty="0"/>
                  <a:t> and </a:t>
                </a:r>
                <a14:m>
                  <m:oMath xmlns:m="http://schemas.openxmlformats.org/officeDocument/2006/math">
                    <m:r>
                      <a:rPr lang="en-US" b="0" i="1" smtClean="0">
                        <a:latin typeface="Cambria Math" panose="02040503050406030204" pitchFamily="18" charset="0"/>
                      </a:rPr>
                      <m:t>𝑝</m:t>
                    </m:r>
                  </m:oMath>
                </a14:m>
                <a:r>
                  <a:rPr lang="en-US" dirty="0"/>
                  <a:t> are reversed from what one might expect</a:t>
                </a:r>
              </a:p>
            </p:txBody>
          </p:sp>
        </mc:Choice>
        <mc:Fallback xmlns="">
          <p:sp>
            <p:nvSpPr>
              <p:cNvPr id="4" name="Explosion: 14 Points 3">
                <a:extLst>
                  <a:ext uri="{FF2B5EF4-FFF2-40B4-BE49-F238E27FC236}">
                    <a16:creationId xmlns:a16="http://schemas.microsoft.com/office/drawing/2014/main" id="{3882B9DF-8986-427F-9B60-1FD93ABB27DC}"/>
                  </a:ext>
                </a:extLst>
              </p:cNvPr>
              <p:cNvSpPr>
                <a:spLocks noRot="1" noChangeAspect="1" noMove="1" noResize="1" noEditPoints="1" noAdjustHandles="1" noChangeArrowheads="1" noChangeShapeType="1" noTextEdit="1"/>
              </p:cNvSpPr>
              <p:nvPr/>
            </p:nvSpPr>
            <p:spPr>
              <a:xfrm>
                <a:off x="4214190" y="2471530"/>
                <a:ext cx="6294784" cy="1914940"/>
              </a:xfrm>
              <a:prstGeom prst="irregularSeal2">
                <a:avLst/>
              </a:prstGeom>
              <a:blipFill>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8772723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plus(in)">
                                      <p:cBhvr>
                                        <p:cTn id="7" dur="2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FB7532-401B-4377-BD28-554284D3DD88}"/>
              </a:ext>
            </a:extLst>
          </p:cNvPr>
          <p:cNvSpPr>
            <a:spLocks noGrp="1"/>
          </p:cNvSpPr>
          <p:nvPr>
            <p:ph type="title"/>
          </p:nvPr>
        </p:nvSpPr>
        <p:spPr/>
        <p:txBody>
          <a:bodyPr/>
          <a:lstStyle/>
          <a:p>
            <a:r>
              <a:rPr lang="en-US" dirty="0"/>
              <a:t>The Evidence Lower Bound (ELBO)</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CF8B052-FC71-4159-BFDD-9C0FE2A8DAD3}"/>
                  </a:ext>
                </a:extLst>
              </p:cNvPr>
              <p:cNvSpPr>
                <a:spLocks noGrp="1"/>
              </p:cNvSpPr>
              <p:nvPr>
                <p:ph idx="1"/>
              </p:nvPr>
            </p:nvSpPr>
            <p:spPr>
              <a:xfrm>
                <a:off x="818712" y="2222287"/>
                <a:ext cx="10554574" cy="1925643"/>
              </a:xfrm>
            </p:spPr>
            <p:txBody>
              <a:bodyPr/>
              <a:lstStyle/>
              <a:p>
                <a:pPr marL="0" indent="0" algn="just">
                  <a:buNone/>
                </a:pPr>
                <a:r>
                  <a:rPr lang="en-US" dirty="0"/>
                  <a:t>We actually can’t minimize the KL-divergence exactly, but we can minimize a function</a:t>
                </a:r>
              </a:p>
              <a:p>
                <a:pPr marL="0" indent="0" algn="just">
                  <a:buNone/>
                </a:pPr>
                <a:r>
                  <a:rPr lang="en-US" dirty="0"/>
                  <a:t>that is equal to it up to a constant. This is the evidence lower bound (ELBO).</a:t>
                </a:r>
              </a:p>
              <a:p>
                <a:pPr marL="0" indent="0">
                  <a:buNone/>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𝐷</m:t>
                          </m:r>
                        </m:e>
                        <m:sub>
                          <m:r>
                            <a:rPr lang="en-US" i="1">
                              <a:latin typeface="Cambria Math" panose="02040503050406030204" pitchFamily="18" charset="0"/>
                            </a:rPr>
                            <m:t>𝐾𝐿</m:t>
                          </m:r>
                        </m:sub>
                      </m:sSub>
                      <m:r>
                        <a:rPr lang="en-US" i="1">
                          <a:latin typeface="Cambria Math" panose="02040503050406030204" pitchFamily="18" charset="0"/>
                        </a:rPr>
                        <m:t>(</m:t>
                      </m:r>
                      <m:r>
                        <a:rPr lang="en-US" i="1">
                          <a:latin typeface="Cambria Math" panose="02040503050406030204" pitchFamily="18" charset="0"/>
                          <a:ea typeface="Cambria Math" panose="02040503050406030204" pitchFamily="18" charset="0"/>
                        </a:rPr>
                        <m:t>𝑞</m:t>
                      </m:r>
                      <m:r>
                        <a:rPr lang="en-US" i="1">
                          <a:latin typeface="Cambria Math" panose="02040503050406030204" pitchFamily="18" charset="0"/>
                          <a:ea typeface="Cambria Math" panose="02040503050406030204" pitchFamily="18" charset="0"/>
                        </a:rPr>
                        <m:t>(</m:t>
                      </m:r>
                      <m:r>
                        <a:rPr lang="en-US" b="1">
                          <a:latin typeface="Cambria Math" panose="02040503050406030204" pitchFamily="18" charset="0"/>
                          <a:ea typeface="Cambria Math" panose="02040503050406030204" pitchFamily="18" charset="0"/>
                        </a:rPr>
                        <m:t>𝐙</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𝑝</m:t>
                      </m:r>
                      <m:d>
                        <m:dPr>
                          <m:ctrlPr>
                            <a:rPr lang="en-US" b="0" i="1" smtClean="0">
                              <a:latin typeface="Cambria Math" panose="02040503050406030204" pitchFamily="18" charset="0"/>
                              <a:ea typeface="Cambria Math" panose="02040503050406030204" pitchFamily="18" charset="0"/>
                            </a:rPr>
                          </m:ctrlPr>
                        </m:dPr>
                        <m:e>
                          <m:r>
                            <m:rPr>
                              <m:nor/>
                            </m:rPr>
                            <a:rPr lang="en-US" b="1" i="0" smtClean="0">
                              <a:latin typeface="Cambria Math" panose="02040503050406030204" pitchFamily="18" charset="0"/>
                              <a:ea typeface="Cambria Math" panose="02040503050406030204" pitchFamily="18" charset="0"/>
                            </a:rPr>
                            <m:t>Z</m:t>
                          </m:r>
                        </m:e>
                        <m:e>
                          <m:r>
                            <a:rPr lang="en-US" b="1" i="0" smtClean="0">
                              <a:latin typeface="Cambria Math" panose="02040503050406030204" pitchFamily="18" charset="0"/>
                              <a:ea typeface="Cambria Math" panose="02040503050406030204" pitchFamily="18" charset="0"/>
                            </a:rPr>
                            <m:t>𝐗</m:t>
                          </m:r>
                        </m:e>
                      </m:d>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𝐸</m:t>
                          </m:r>
                        </m:e>
                        <m:sub>
                          <m:r>
                            <a:rPr lang="en-US" b="0" i="1" smtClean="0">
                              <a:latin typeface="Cambria Math" panose="02040503050406030204" pitchFamily="18" charset="0"/>
                            </a:rPr>
                            <m:t>𝑞</m:t>
                          </m:r>
                        </m:sub>
                      </m:sSub>
                      <m:func>
                        <m:funcPr>
                          <m:ctrlPr>
                            <a:rPr lang="en-US" i="1">
                              <a:latin typeface="Cambria Math" panose="02040503050406030204" pitchFamily="18" charset="0"/>
                            </a:rPr>
                          </m:ctrlPr>
                        </m:funcPr>
                        <m:fName>
                          <m:sSub>
                            <m:sSubPr>
                              <m:ctrlPr>
                                <a:rPr lang="en-US" i="1">
                                  <a:latin typeface="Cambria Math" panose="02040503050406030204" pitchFamily="18" charset="0"/>
                                </a:rPr>
                              </m:ctrlPr>
                            </m:sSubPr>
                            <m:e>
                              <m:r>
                                <m:rPr>
                                  <m:sty m:val="p"/>
                                </m:rPr>
                                <a:rPr lang="en-US">
                                  <a:latin typeface="Cambria Math" panose="02040503050406030204" pitchFamily="18" charset="0"/>
                                </a:rPr>
                                <m:t>log</m:t>
                              </m:r>
                            </m:e>
                            <m:sub>
                              <m:r>
                                <a:rPr lang="en-US" i="1">
                                  <a:latin typeface="Cambria Math" panose="02040503050406030204" pitchFamily="18" charset="0"/>
                                </a:rPr>
                                <m:t>2</m:t>
                              </m:r>
                            </m:sub>
                          </m:sSub>
                        </m:fName>
                        <m:e>
                          <m:f>
                            <m:fPr>
                              <m:ctrlPr>
                                <a:rPr lang="en-US" i="1">
                                  <a:latin typeface="Cambria Math" panose="02040503050406030204" pitchFamily="18" charset="0"/>
                                </a:rPr>
                              </m:ctrlPr>
                            </m:fPr>
                            <m:num>
                              <m:r>
                                <a:rPr lang="en-US" i="1">
                                  <a:latin typeface="Cambria Math" panose="02040503050406030204" pitchFamily="18" charset="0"/>
                                  <a:ea typeface="Cambria Math" panose="02040503050406030204" pitchFamily="18" charset="0"/>
                                </a:rPr>
                                <m:t>𝑞</m:t>
                              </m:r>
                              <m:d>
                                <m:dPr>
                                  <m:ctrlPr>
                                    <a:rPr lang="en-US" i="1">
                                      <a:latin typeface="Cambria Math" panose="02040503050406030204" pitchFamily="18" charset="0"/>
                                      <a:ea typeface="Cambria Math" panose="02040503050406030204" pitchFamily="18" charset="0"/>
                                    </a:rPr>
                                  </m:ctrlPr>
                                </m:dPr>
                                <m:e>
                                  <m:r>
                                    <a:rPr lang="en-US" b="1">
                                      <a:latin typeface="Cambria Math" panose="02040503050406030204" pitchFamily="18" charset="0"/>
                                      <a:ea typeface="Cambria Math" panose="02040503050406030204" pitchFamily="18" charset="0"/>
                                    </a:rPr>
                                    <m:t>𝐙</m:t>
                                  </m:r>
                                </m:e>
                              </m:d>
                            </m:num>
                            <m:den>
                              <m:r>
                                <a:rPr lang="en-US" i="1">
                                  <a:latin typeface="Cambria Math" panose="02040503050406030204" pitchFamily="18" charset="0"/>
                                  <a:ea typeface="Cambria Math" panose="02040503050406030204" pitchFamily="18" charset="0"/>
                                </a:rPr>
                                <m:t>𝑝</m:t>
                              </m:r>
                              <m:d>
                                <m:dPr>
                                  <m:ctrlPr>
                                    <a:rPr lang="en-US" i="1">
                                      <a:latin typeface="Cambria Math" panose="02040503050406030204" pitchFamily="18" charset="0"/>
                                      <a:ea typeface="Cambria Math" panose="02040503050406030204" pitchFamily="18" charset="0"/>
                                    </a:rPr>
                                  </m:ctrlPr>
                                </m:dPr>
                                <m:e>
                                  <m:r>
                                    <m:rPr>
                                      <m:nor/>
                                    </m:rPr>
                                    <a:rPr lang="en-US" b="1">
                                      <a:latin typeface="Cambria Math" panose="02040503050406030204" pitchFamily="18" charset="0"/>
                                      <a:ea typeface="Cambria Math" panose="02040503050406030204" pitchFamily="18" charset="0"/>
                                    </a:rPr>
                                    <m:t>Z</m:t>
                                  </m:r>
                                </m:e>
                                <m:e>
                                  <m:r>
                                    <a:rPr lang="en-US" b="1">
                                      <a:latin typeface="Cambria Math" panose="02040503050406030204" pitchFamily="18" charset="0"/>
                                      <a:ea typeface="Cambria Math" panose="02040503050406030204" pitchFamily="18" charset="0"/>
                                    </a:rPr>
                                    <m:t>𝐗</m:t>
                                  </m:r>
                                </m:e>
                              </m:d>
                            </m:den>
                          </m:f>
                        </m:e>
                      </m:func>
                      <m:r>
                        <a:rPr lang="en-US" b="0" i="1" smtClean="0">
                          <a:latin typeface="Cambria Math" panose="02040503050406030204" pitchFamily="18" charset="0"/>
                        </a:rPr>
                        <m:t>=−</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𝐸</m:t>
                              </m:r>
                            </m:e>
                            <m:sub>
                              <m:r>
                                <a:rPr lang="en-US" b="0" i="1" smtClean="0">
                                  <a:latin typeface="Cambria Math" panose="02040503050406030204" pitchFamily="18" charset="0"/>
                                </a:rPr>
                                <m:t>𝑞</m:t>
                              </m:r>
                            </m:sub>
                          </m:sSub>
                          <m:d>
                            <m:dPr>
                              <m:ctrlPr>
                                <a:rPr lang="en-US" b="0" i="1" smtClean="0">
                                  <a:latin typeface="Cambria Math" panose="02040503050406030204" pitchFamily="18" charset="0"/>
                                </a:rPr>
                              </m:ctrlPr>
                            </m:dPr>
                            <m:e>
                              <m:func>
                                <m:funcPr>
                                  <m:ctrlPr>
                                    <a:rPr lang="en-US" b="0" i="1" smtClean="0">
                                      <a:latin typeface="Cambria Math" panose="02040503050406030204" pitchFamily="18" charset="0"/>
                                    </a:rPr>
                                  </m:ctrlPr>
                                </m:funcPr>
                                <m:fName>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log</m:t>
                                      </m:r>
                                    </m:e>
                                    <m:sub>
                                      <m:r>
                                        <a:rPr lang="en-US" b="0" i="1" smtClean="0">
                                          <a:latin typeface="Cambria Math" panose="02040503050406030204" pitchFamily="18" charset="0"/>
                                        </a:rPr>
                                        <m:t>2</m:t>
                                      </m:r>
                                    </m:sub>
                                  </m:sSub>
                                </m:fName>
                                <m:e>
                                  <m:r>
                                    <a:rPr lang="en-US" i="1">
                                      <a:latin typeface="Cambria Math" panose="02040503050406030204" pitchFamily="18" charset="0"/>
                                      <a:ea typeface="Cambria Math" panose="02040503050406030204" pitchFamily="18" charset="0"/>
                                    </a:rPr>
                                    <m:t>𝑝</m:t>
                                  </m:r>
                                  <m:d>
                                    <m:dPr>
                                      <m:ctrlPr>
                                        <a:rPr lang="en-US" b="0" i="1" smtClean="0">
                                          <a:latin typeface="Cambria Math" panose="02040503050406030204" pitchFamily="18" charset="0"/>
                                          <a:ea typeface="Cambria Math" panose="02040503050406030204" pitchFamily="18" charset="0"/>
                                        </a:rPr>
                                      </m:ctrlPr>
                                    </m:dPr>
                                    <m:e>
                                      <m:r>
                                        <a:rPr lang="en-US" b="1" i="0" smtClean="0">
                                          <a:latin typeface="Cambria Math" panose="02040503050406030204" pitchFamily="18" charset="0"/>
                                          <a:ea typeface="Cambria Math" panose="02040503050406030204" pitchFamily="18" charset="0"/>
                                        </a:rPr>
                                        <m:t>𝐙</m:t>
                                      </m:r>
                                      <m:r>
                                        <a:rPr lang="en-US" b="0" i="1" smtClean="0">
                                          <a:latin typeface="Cambria Math" panose="02040503050406030204" pitchFamily="18" charset="0"/>
                                          <a:ea typeface="Cambria Math" panose="02040503050406030204" pitchFamily="18" charset="0"/>
                                        </a:rPr>
                                        <m:t>,</m:t>
                                      </m:r>
                                      <m:r>
                                        <m:rPr>
                                          <m:nor/>
                                        </m:rPr>
                                        <a:rPr lang="en-US" b="1" i="0" smtClean="0">
                                          <a:latin typeface="Cambria Math" panose="02040503050406030204" pitchFamily="18" charset="0"/>
                                          <a:ea typeface="Cambria Math" panose="02040503050406030204" pitchFamily="18" charset="0"/>
                                        </a:rPr>
                                        <m:t>X</m:t>
                                      </m:r>
                                    </m:e>
                                  </m:d>
                                </m:e>
                              </m:func>
                            </m:e>
                          </m:d>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𝐸</m:t>
                              </m:r>
                            </m:e>
                            <m:sub>
                              <m:r>
                                <a:rPr lang="en-US" i="1">
                                  <a:latin typeface="Cambria Math" panose="02040503050406030204" pitchFamily="18" charset="0"/>
                                </a:rPr>
                                <m:t>𝑞</m:t>
                              </m:r>
                            </m:sub>
                          </m:sSub>
                          <m:d>
                            <m:dPr>
                              <m:ctrlPr>
                                <a:rPr lang="en-US" i="1">
                                  <a:latin typeface="Cambria Math" panose="02040503050406030204" pitchFamily="18" charset="0"/>
                                </a:rPr>
                              </m:ctrlPr>
                            </m:dPr>
                            <m:e>
                              <m:func>
                                <m:funcPr>
                                  <m:ctrlPr>
                                    <a:rPr lang="en-US" i="1">
                                      <a:latin typeface="Cambria Math" panose="02040503050406030204" pitchFamily="18" charset="0"/>
                                    </a:rPr>
                                  </m:ctrlPr>
                                </m:funcPr>
                                <m:fName>
                                  <m:sSub>
                                    <m:sSubPr>
                                      <m:ctrlPr>
                                        <a:rPr lang="en-US" i="1">
                                          <a:latin typeface="Cambria Math" panose="02040503050406030204" pitchFamily="18" charset="0"/>
                                        </a:rPr>
                                      </m:ctrlPr>
                                    </m:sSubPr>
                                    <m:e>
                                      <m:r>
                                        <m:rPr>
                                          <m:sty m:val="p"/>
                                        </m:rPr>
                                        <a:rPr lang="en-US">
                                          <a:latin typeface="Cambria Math" panose="02040503050406030204" pitchFamily="18" charset="0"/>
                                        </a:rPr>
                                        <m:t>log</m:t>
                                      </m:r>
                                    </m:e>
                                    <m:sub>
                                      <m:r>
                                        <a:rPr lang="en-US" i="1">
                                          <a:latin typeface="Cambria Math" panose="02040503050406030204" pitchFamily="18" charset="0"/>
                                        </a:rPr>
                                        <m:t>2</m:t>
                                      </m:r>
                                    </m:sub>
                                  </m:sSub>
                                </m:fName>
                                <m:e>
                                  <m:r>
                                    <a:rPr lang="en-US" b="0" i="1" smtClean="0">
                                      <a:latin typeface="Cambria Math" panose="02040503050406030204" pitchFamily="18" charset="0"/>
                                    </a:rPr>
                                    <m:t>𝑞</m:t>
                                  </m:r>
                                  <m:d>
                                    <m:dPr>
                                      <m:ctrlPr>
                                        <a:rPr lang="en-US" b="0" i="1" smtClean="0">
                                          <a:latin typeface="Cambria Math" panose="02040503050406030204" pitchFamily="18" charset="0"/>
                                          <a:ea typeface="Cambria Math" panose="02040503050406030204" pitchFamily="18" charset="0"/>
                                        </a:rPr>
                                      </m:ctrlPr>
                                    </m:dPr>
                                    <m:e>
                                      <m:r>
                                        <a:rPr lang="en-US" b="1">
                                          <a:latin typeface="Cambria Math" panose="02040503050406030204" pitchFamily="18" charset="0"/>
                                          <a:ea typeface="Cambria Math" panose="02040503050406030204" pitchFamily="18" charset="0"/>
                                        </a:rPr>
                                        <m:t>𝐙</m:t>
                                      </m:r>
                                    </m:e>
                                  </m:d>
                                </m:e>
                              </m:func>
                            </m:e>
                          </m:d>
                        </m:e>
                      </m:d>
                      <m:r>
                        <a:rPr lang="en-US" b="0" i="1" smtClean="0">
                          <a:latin typeface="Cambria Math" panose="02040503050406030204" pitchFamily="18" charset="0"/>
                        </a:rPr>
                        <m:t>+</m:t>
                      </m:r>
                      <m:r>
                        <a:rPr lang="en-US" i="1" smtClean="0">
                          <a:latin typeface="Cambria Math" panose="02040503050406030204" pitchFamily="18" charset="0"/>
                        </a:rPr>
                        <m:t> </m:t>
                      </m:r>
                      <m:func>
                        <m:funcPr>
                          <m:ctrlPr>
                            <a:rPr lang="en-US" i="1">
                              <a:latin typeface="Cambria Math" panose="02040503050406030204" pitchFamily="18" charset="0"/>
                            </a:rPr>
                          </m:ctrlPr>
                        </m:funcPr>
                        <m:fName>
                          <m:sSub>
                            <m:sSubPr>
                              <m:ctrlPr>
                                <a:rPr lang="en-US" i="1">
                                  <a:latin typeface="Cambria Math" panose="02040503050406030204" pitchFamily="18" charset="0"/>
                                </a:rPr>
                              </m:ctrlPr>
                            </m:sSubPr>
                            <m:e>
                              <m:r>
                                <m:rPr>
                                  <m:sty m:val="p"/>
                                </m:rPr>
                                <a:rPr lang="en-US">
                                  <a:latin typeface="Cambria Math" panose="02040503050406030204" pitchFamily="18" charset="0"/>
                                </a:rPr>
                                <m:t>log</m:t>
                              </m:r>
                            </m:e>
                            <m:sub>
                              <m:r>
                                <a:rPr lang="en-US" i="1">
                                  <a:latin typeface="Cambria Math" panose="02040503050406030204" pitchFamily="18" charset="0"/>
                                </a:rPr>
                                <m:t>2</m:t>
                              </m:r>
                            </m:sub>
                          </m:sSub>
                        </m:fName>
                        <m:e>
                          <m:r>
                            <a:rPr lang="en-US" i="1">
                              <a:latin typeface="Cambria Math" panose="02040503050406030204" pitchFamily="18" charset="0"/>
                              <a:ea typeface="Cambria Math" panose="02040503050406030204" pitchFamily="18" charset="0"/>
                            </a:rPr>
                            <m:t>𝑝</m:t>
                          </m:r>
                          <m:r>
                            <a:rPr lang="en-US" i="1">
                              <a:latin typeface="Cambria Math" panose="02040503050406030204" pitchFamily="18" charset="0"/>
                              <a:ea typeface="Cambria Math" panose="02040503050406030204" pitchFamily="18" charset="0"/>
                            </a:rPr>
                            <m:t>(</m:t>
                          </m:r>
                          <m:r>
                            <m:rPr>
                              <m:nor/>
                            </m:rPr>
                            <a:rPr lang="en-US" b="1">
                              <a:latin typeface="Cambria Math" panose="02040503050406030204" pitchFamily="18" charset="0"/>
                              <a:ea typeface="Cambria Math" panose="02040503050406030204" pitchFamily="18" charset="0"/>
                            </a:rPr>
                            <m:t>X</m:t>
                          </m:r>
                          <m:r>
                            <a:rPr lang="en-US" i="1">
                              <a:latin typeface="Cambria Math" panose="02040503050406030204" pitchFamily="18" charset="0"/>
                              <a:ea typeface="Cambria Math" panose="02040503050406030204" pitchFamily="18" charset="0"/>
                            </a:rPr>
                            <m:t>)</m:t>
                          </m:r>
                        </m:e>
                      </m:func>
                    </m:oMath>
                  </m:oMathPara>
                </a14:m>
                <a:endParaRPr lang="en-US" dirty="0"/>
              </a:p>
            </p:txBody>
          </p:sp>
        </mc:Choice>
        <mc:Fallback xmlns="">
          <p:sp>
            <p:nvSpPr>
              <p:cNvPr id="3" name="Content Placeholder 2">
                <a:extLst>
                  <a:ext uri="{FF2B5EF4-FFF2-40B4-BE49-F238E27FC236}">
                    <a16:creationId xmlns:a16="http://schemas.microsoft.com/office/drawing/2014/main" id="{9CF8B052-FC71-4159-BFDD-9C0FE2A8DAD3}"/>
                  </a:ext>
                </a:extLst>
              </p:cNvPr>
              <p:cNvSpPr>
                <a:spLocks noGrp="1" noRot="1" noChangeAspect="1" noMove="1" noResize="1" noEditPoints="1" noAdjustHandles="1" noChangeArrowheads="1" noChangeShapeType="1" noTextEdit="1"/>
              </p:cNvSpPr>
              <p:nvPr>
                <p:ph idx="1"/>
              </p:nvPr>
            </p:nvSpPr>
            <p:spPr>
              <a:xfrm>
                <a:off x="818712" y="2222287"/>
                <a:ext cx="10554574" cy="1925643"/>
              </a:xfrm>
              <a:blipFill>
                <a:blip r:embed="rId2"/>
                <a:stretch>
                  <a:fillRect l="-462"/>
                </a:stretch>
              </a:blipFill>
            </p:spPr>
            <p:txBody>
              <a:bodyPr/>
              <a:lstStyle/>
              <a:p>
                <a:r>
                  <a:rPr lang="en-US">
                    <a:noFill/>
                  </a:rPr>
                  <a:t> </a:t>
                </a:r>
              </a:p>
            </p:txBody>
          </p:sp>
        </mc:Fallback>
      </mc:AlternateContent>
      <p:sp>
        <p:nvSpPr>
          <p:cNvPr id="5" name="Left Brace 4">
            <a:extLst>
              <a:ext uri="{FF2B5EF4-FFF2-40B4-BE49-F238E27FC236}">
                <a16:creationId xmlns:a16="http://schemas.microsoft.com/office/drawing/2014/main" id="{2BB15167-A58D-442D-84DC-801DA291BA47}"/>
              </a:ext>
            </a:extLst>
          </p:cNvPr>
          <p:cNvSpPr/>
          <p:nvPr/>
        </p:nvSpPr>
        <p:spPr>
          <a:xfrm rot="16200000">
            <a:off x="7202560" y="2378764"/>
            <a:ext cx="569844" cy="3207025"/>
          </a:xfrm>
          <a:prstGeom prst="leftBrace">
            <a:avLst>
              <a:gd name="adj1" fmla="val 0"/>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6" name="Rectangle 5">
            <a:extLst>
              <a:ext uri="{FF2B5EF4-FFF2-40B4-BE49-F238E27FC236}">
                <a16:creationId xmlns:a16="http://schemas.microsoft.com/office/drawing/2014/main" id="{039E5648-B178-4949-9D85-E5A8E77EC3E6}"/>
              </a:ext>
            </a:extLst>
          </p:cNvPr>
          <p:cNvSpPr/>
          <p:nvPr/>
        </p:nvSpPr>
        <p:spPr>
          <a:xfrm>
            <a:off x="7070041" y="4267200"/>
            <a:ext cx="914396" cy="43358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ELBO</a:t>
            </a: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DDBA653D-332D-4A0E-A114-662D0DD495B4}"/>
                  </a:ext>
                </a:extLst>
              </p:cNvPr>
              <p:cNvSpPr txBox="1"/>
              <p:nvPr/>
            </p:nvSpPr>
            <p:spPr>
              <a:xfrm>
                <a:off x="955774" y="4976666"/>
                <a:ext cx="10571997" cy="646331"/>
              </a:xfrm>
              <a:prstGeom prst="rect">
                <a:avLst/>
              </a:prstGeom>
              <a:noFill/>
            </p:spPr>
            <p:txBody>
              <a:bodyPr wrap="square" rtlCol="0">
                <a:spAutoFit/>
              </a:bodyPr>
              <a:lstStyle/>
              <a:p>
                <a:r>
                  <a:rPr lang="en-US" dirty="0"/>
                  <a:t>Notice that </a:t>
                </a:r>
                <a14:m>
                  <m:oMath xmlns:m="http://schemas.openxmlformats.org/officeDocument/2006/math">
                    <m:func>
                      <m:funcPr>
                        <m:ctrlPr>
                          <a:rPr lang="en-US" i="1">
                            <a:latin typeface="Cambria Math" panose="02040503050406030204" pitchFamily="18" charset="0"/>
                          </a:rPr>
                        </m:ctrlPr>
                      </m:funcPr>
                      <m:fName>
                        <m:sSub>
                          <m:sSubPr>
                            <m:ctrlPr>
                              <a:rPr lang="en-US" i="1">
                                <a:latin typeface="Cambria Math" panose="02040503050406030204" pitchFamily="18" charset="0"/>
                              </a:rPr>
                            </m:ctrlPr>
                          </m:sSubPr>
                          <m:e>
                            <m:r>
                              <m:rPr>
                                <m:sty m:val="p"/>
                              </m:rPr>
                              <a:rPr lang="en-US">
                                <a:latin typeface="Cambria Math" panose="02040503050406030204" pitchFamily="18" charset="0"/>
                              </a:rPr>
                              <m:t>log</m:t>
                            </m:r>
                          </m:e>
                          <m:sub>
                            <m:r>
                              <a:rPr lang="en-US" i="1">
                                <a:latin typeface="Cambria Math" panose="02040503050406030204" pitchFamily="18" charset="0"/>
                              </a:rPr>
                              <m:t>2</m:t>
                            </m:r>
                          </m:sub>
                        </m:sSub>
                      </m:fName>
                      <m:e>
                        <m:r>
                          <a:rPr lang="en-US" i="1">
                            <a:latin typeface="Cambria Math" panose="02040503050406030204" pitchFamily="18" charset="0"/>
                            <a:ea typeface="Cambria Math" panose="02040503050406030204" pitchFamily="18" charset="0"/>
                          </a:rPr>
                          <m:t>𝑝</m:t>
                        </m:r>
                        <m:r>
                          <a:rPr lang="en-US" i="1">
                            <a:latin typeface="Cambria Math" panose="02040503050406030204" pitchFamily="18" charset="0"/>
                            <a:ea typeface="Cambria Math" panose="02040503050406030204" pitchFamily="18" charset="0"/>
                          </a:rPr>
                          <m:t>(</m:t>
                        </m:r>
                        <m:r>
                          <m:rPr>
                            <m:nor/>
                          </m:rPr>
                          <a:rPr lang="en-US" b="1">
                            <a:latin typeface="Cambria Math" panose="02040503050406030204" pitchFamily="18" charset="0"/>
                            <a:ea typeface="Cambria Math" panose="02040503050406030204" pitchFamily="18" charset="0"/>
                          </a:rPr>
                          <m:t>X</m:t>
                        </m:r>
                        <m:r>
                          <a:rPr lang="en-US" i="1">
                            <a:latin typeface="Cambria Math" panose="02040503050406030204" pitchFamily="18" charset="0"/>
                            <a:ea typeface="Cambria Math" panose="02040503050406030204" pitchFamily="18" charset="0"/>
                          </a:rPr>
                          <m:t>)</m:t>
                        </m:r>
                      </m:e>
                    </m:func>
                  </m:oMath>
                </a14:m>
                <a:r>
                  <a:rPr lang="en-US" dirty="0"/>
                  <a:t> does not depend on </a:t>
                </a:r>
                <a14:m>
                  <m:oMath xmlns:m="http://schemas.openxmlformats.org/officeDocument/2006/math">
                    <m:r>
                      <a:rPr lang="en-US" b="0" i="1" smtClean="0">
                        <a:latin typeface="Cambria Math" panose="02040503050406030204" pitchFamily="18" charset="0"/>
                      </a:rPr>
                      <m:t>𝑞</m:t>
                    </m:r>
                  </m:oMath>
                </a14:m>
                <a:r>
                  <a:rPr lang="en-US" dirty="0"/>
                  <a:t>. So, as a function of the variational distribution, minimizing the KL-divergence is the same as maximizing the ELBO.</a:t>
                </a:r>
              </a:p>
            </p:txBody>
          </p:sp>
        </mc:Choice>
        <mc:Fallback xmlns="">
          <p:sp>
            <p:nvSpPr>
              <p:cNvPr id="7" name="TextBox 6">
                <a:extLst>
                  <a:ext uri="{FF2B5EF4-FFF2-40B4-BE49-F238E27FC236}">
                    <a16:creationId xmlns:a16="http://schemas.microsoft.com/office/drawing/2014/main" id="{DDBA653D-332D-4A0E-A114-662D0DD495B4}"/>
                  </a:ext>
                </a:extLst>
              </p:cNvPr>
              <p:cNvSpPr txBox="1">
                <a:spLocks noRot="1" noChangeAspect="1" noMove="1" noResize="1" noEditPoints="1" noAdjustHandles="1" noChangeArrowheads="1" noChangeShapeType="1" noTextEdit="1"/>
              </p:cNvSpPr>
              <p:nvPr/>
            </p:nvSpPr>
            <p:spPr>
              <a:xfrm>
                <a:off x="955774" y="4976666"/>
                <a:ext cx="10571997" cy="646331"/>
              </a:xfrm>
              <a:prstGeom prst="rect">
                <a:avLst/>
              </a:prstGeom>
              <a:blipFill>
                <a:blip r:embed="rId3"/>
                <a:stretch>
                  <a:fillRect l="-519" t="-4717" b="-14151"/>
                </a:stretch>
              </a:blipFill>
            </p:spPr>
            <p:txBody>
              <a:bodyPr/>
              <a:lstStyle/>
              <a:p>
                <a:r>
                  <a:rPr lang="en-US">
                    <a:noFill/>
                  </a:rPr>
                  <a:t> </a:t>
                </a:r>
              </a:p>
            </p:txBody>
          </p:sp>
        </mc:Fallback>
      </mc:AlternateContent>
    </p:spTree>
    <p:extLst>
      <p:ext uri="{BB962C8B-B14F-4D97-AF65-F5344CB8AC3E}">
        <p14:creationId xmlns:p14="http://schemas.microsoft.com/office/powerpoint/2010/main" val="36061131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ppt_x"/>
                                          </p:val>
                                        </p:tav>
                                        <p:tav tm="100000">
                                          <p:val>
                                            <p:strVal val="#ppt_x"/>
                                          </p:val>
                                        </p:tav>
                                      </p:tavLst>
                                    </p:anim>
                                    <p:anim calcmode="lin" valueType="num">
                                      <p:cBhvr additive="base">
                                        <p:cTn id="12"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E0FF3C-C8B5-494E-91D9-84E84781762F}"/>
              </a:ext>
            </a:extLst>
          </p:cNvPr>
          <p:cNvSpPr>
            <a:spLocks noGrp="1"/>
          </p:cNvSpPr>
          <p:nvPr>
            <p:ph type="title"/>
          </p:nvPr>
        </p:nvSpPr>
        <p:spPr/>
        <p:txBody>
          <a:bodyPr/>
          <a:lstStyle/>
          <a:p>
            <a:r>
              <a:rPr lang="en-US" dirty="0"/>
              <a:t>Variational Inference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4FB0EEF-5CCA-4DB8-BD0A-3901C0506B16}"/>
                  </a:ext>
                </a:extLst>
              </p:cNvPr>
              <p:cNvSpPr>
                <a:spLocks noGrp="1"/>
              </p:cNvSpPr>
              <p:nvPr>
                <p:ph idx="1"/>
              </p:nvPr>
            </p:nvSpPr>
            <p:spPr>
              <a:xfrm>
                <a:off x="818712" y="2222287"/>
                <a:ext cx="10554574" cy="3636511"/>
              </a:xfrm>
            </p:spPr>
            <p:txBody>
              <a:bodyPr/>
              <a:lstStyle/>
              <a:p>
                <a:pPr marL="0" indent="0">
                  <a:buNone/>
                </a:pPr>
                <a:r>
                  <a:rPr lang="en-US" dirty="0"/>
                  <a:t>Final optimization problem:</a:t>
                </a:r>
              </a:p>
              <a:p>
                <a:pPr marL="0" indent="0">
                  <a:buNone/>
                </a:pPr>
                <a14:m>
                  <m:oMathPara xmlns:m="http://schemas.openxmlformats.org/officeDocument/2006/math">
                    <m:oMathParaPr>
                      <m:jc m:val="centerGroup"/>
                    </m:oMathParaPr>
                    <m:oMath xmlns:m="http://schemas.openxmlformats.org/officeDocument/2006/math">
                      <m:func>
                        <m:funcPr>
                          <m:ctrlPr>
                            <a:rPr lang="en-US" i="1" smtClean="0">
                              <a:latin typeface="Cambria Math" panose="02040503050406030204" pitchFamily="18" charset="0"/>
                            </a:rPr>
                          </m:ctrlPr>
                        </m:funcPr>
                        <m:fName>
                          <m:limLow>
                            <m:limLowPr>
                              <m:ctrlPr>
                                <a:rPr lang="en-US" i="1" smtClean="0">
                                  <a:latin typeface="Cambria Math" panose="02040503050406030204" pitchFamily="18" charset="0"/>
                                </a:rPr>
                              </m:ctrlPr>
                            </m:limLowPr>
                            <m:e>
                              <m:r>
                                <m:rPr>
                                  <m:sty m:val="p"/>
                                </m:rPr>
                                <a:rPr lang="en-US" i="0" smtClean="0">
                                  <a:latin typeface="Cambria Math" panose="02040503050406030204" pitchFamily="18" charset="0"/>
                                </a:rPr>
                                <m:t>max</m:t>
                              </m:r>
                            </m:e>
                            <m:lim>
                              <m:r>
                                <a:rPr lang="en-US" b="0" i="1" smtClean="0">
                                  <a:latin typeface="Cambria Math" panose="02040503050406030204" pitchFamily="18" charset="0"/>
                                </a:rPr>
                                <m:t>𝑞</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𝒬</m:t>
                              </m:r>
                            </m:lim>
                          </m:limLow>
                        </m:fName>
                        <m:e>
                          <m:sSub>
                            <m:sSubPr>
                              <m:ctrlPr>
                                <a:rPr lang="en-US" i="1">
                                  <a:latin typeface="Cambria Math" panose="02040503050406030204" pitchFamily="18" charset="0"/>
                                </a:rPr>
                              </m:ctrlPr>
                            </m:sSubPr>
                            <m:e>
                              <m:r>
                                <a:rPr lang="en-US" i="1">
                                  <a:latin typeface="Cambria Math" panose="02040503050406030204" pitchFamily="18" charset="0"/>
                                </a:rPr>
                                <m:t>𝐸</m:t>
                              </m:r>
                            </m:e>
                            <m:sub>
                              <m:r>
                                <a:rPr lang="en-US" i="1">
                                  <a:latin typeface="Cambria Math" panose="02040503050406030204" pitchFamily="18" charset="0"/>
                                </a:rPr>
                                <m:t>𝑞</m:t>
                              </m:r>
                            </m:sub>
                          </m:sSub>
                          <m:d>
                            <m:dPr>
                              <m:ctrlPr>
                                <a:rPr lang="en-US" i="1">
                                  <a:latin typeface="Cambria Math" panose="02040503050406030204" pitchFamily="18" charset="0"/>
                                </a:rPr>
                              </m:ctrlPr>
                            </m:dPr>
                            <m:e>
                              <m:func>
                                <m:funcPr>
                                  <m:ctrlPr>
                                    <a:rPr lang="en-US" i="1">
                                      <a:latin typeface="Cambria Math" panose="02040503050406030204" pitchFamily="18" charset="0"/>
                                    </a:rPr>
                                  </m:ctrlPr>
                                </m:funcPr>
                                <m:fName>
                                  <m:sSub>
                                    <m:sSubPr>
                                      <m:ctrlPr>
                                        <a:rPr lang="en-US" i="1">
                                          <a:latin typeface="Cambria Math" panose="02040503050406030204" pitchFamily="18" charset="0"/>
                                        </a:rPr>
                                      </m:ctrlPr>
                                    </m:sSubPr>
                                    <m:e>
                                      <m:r>
                                        <m:rPr>
                                          <m:sty m:val="p"/>
                                        </m:rPr>
                                        <a:rPr lang="en-US">
                                          <a:latin typeface="Cambria Math" panose="02040503050406030204" pitchFamily="18" charset="0"/>
                                        </a:rPr>
                                        <m:t>log</m:t>
                                      </m:r>
                                    </m:e>
                                    <m:sub>
                                      <m:r>
                                        <a:rPr lang="en-US" i="1">
                                          <a:latin typeface="Cambria Math" panose="02040503050406030204" pitchFamily="18" charset="0"/>
                                        </a:rPr>
                                        <m:t>2</m:t>
                                      </m:r>
                                    </m:sub>
                                  </m:sSub>
                                </m:fName>
                                <m:e>
                                  <m:r>
                                    <a:rPr lang="en-US" i="1">
                                      <a:latin typeface="Cambria Math" panose="02040503050406030204" pitchFamily="18" charset="0"/>
                                      <a:ea typeface="Cambria Math" panose="02040503050406030204" pitchFamily="18" charset="0"/>
                                    </a:rPr>
                                    <m:t>𝑝</m:t>
                                  </m:r>
                                  <m:d>
                                    <m:dPr>
                                      <m:ctrlPr>
                                        <a:rPr lang="en-US" i="1">
                                          <a:latin typeface="Cambria Math" panose="02040503050406030204" pitchFamily="18" charset="0"/>
                                          <a:ea typeface="Cambria Math" panose="02040503050406030204" pitchFamily="18" charset="0"/>
                                        </a:rPr>
                                      </m:ctrlPr>
                                    </m:dPr>
                                    <m:e>
                                      <m:r>
                                        <a:rPr lang="en-US" b="1">
                                          <a:latin typeface="Cambria Math" panose="02040503050406030204" pitchFamily="18" charset="0"/>
                                          <a:ea typeface="Cambria Math" panose="02040503050406030204" pitchFamily="18" charset="0"/>
                                        </a:rPr>
                                        <m:t>𝐙</m:t>
                                      </m:r>
                                      <m:r>
                                        <a:rPr lang="en-US" i="1">
                                          <a:latin typeface="Cambria Math" panose="02040503050406030204" pitchFamily="18" charset="0"/>
                                          <a:ea typeface="Cambria Math" panose="02040503050406030204" pitchFamily="18" charset="0"/>
                                        </a:rPr>
                                        <m:t>,</m:t>
                                      </m:r>
                                      <m:r>
                                        <m:rPr>
                                          <m:nor/>
                                        </m:rPr>
                                        <a:rPr lang="en-US" b="1">
                                          <a:latin typeface="Cambria Math" panose="02040503050406030204" pitchFamily="18" charset="0"/>
                                          <a:ea typeface="Cambria Math" panose="02040503050406030204" pitchFamily="18" charset="0"/>
                                        </a:rPr>
                                        <m:t>X</m:t>
                                      </m:r>
                                    </m:e>
                                  </m:d>
                                </m:e>
                              </m:func>
                            </m:e>
                          </m:d>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𝐸</m:t>
                              </m:r>
                            </m:e>
                            <m:sub>
                              <m:r>
                                <a:rPr lang="en-US" i="1">
                                  <a:latin typeface="Cambria Math" panose="02040503050406030204" pitchFamily="18" charset="0"/>
                                </a:rPr>
                                <m:t>𝑞</m:t>
                              </m:r>
                            </m:sub>
                          </m:sSub>
                          <m:d>
                            <m:dPr>
                              <m:ctrlPr>
                                <a:rPr lang="en-US" i="1">
                                  <a:latin typeface="Cambria Math" panose="02040503050406030204" pitchFamily="18" charset="0"/>
                                </a:rPr>
                              </m:ctrlPr>
                            </m:dPr>
                            <m:e>
                              <m:func>
                                <m:funcPr>
                                  <m:ctrlPr>
                                    <a:rPr lang="en-US" i="1">
                                      <a:latin typeface="Cambria Math" panose="02040503050406030204" pitchFamily="18" charset="0"/>
                                    </a:rPr>
                                  </m:ctrlPr>
                                </m:funcPr>
                                <m:fName>
                                  <m:sSub>
                                    <m:sSubPr>
                                      <m:ctrlPr>
                                        <a:rPr lang="en-US" i="1">
                                          <a:latin typeface="Cambria Math" panose="02040503050406030204" pitchFamily="18" charset="0"/>
                                        </a:rPr>
                                      </m:ctrlPr>
                                    </m:sSubPr>
                                    <m:e>
                                      <m:r>
                                        <m:rPr>
                                          <m:sty m:val="p"/>
                                        </m:rPr>
                                        <a:rPr lang="en-US">
                                          <a:latin typeface="Cambria Math" panose="02040503050406030204" pitchFamily="18" charset="0"/>
                                        </a:rPr>
                                        <m:t>log</m:t>
                                      </m:r>
                                    </m:e>
                                    <m:sub>
                                      <m:r>
                                        <a:rPr lang="en-US" i="1">
                                          <a:latin typeface="Cambria Math" panose="02040503050406030204" pitchFamily="18" charset="0"/>
                                        </a:rPr>
                                        <m:t>2</m:t>
                                      </m:r>
                                    </m:sub>
                                  </m:sSub>
                                </m:fName>
                                <m:e>
                                  <m:r>
                                    <a:rPr lang="en-US" i="1">
                                      <a:latin typeface="Cambria Math" panose="02040503050406030204" pitchFamily="18" charset="0"/>
                                    </a:rPr>
                                    <m:t>𝑞</m:t>
                                  </m:r>
                                  <m:d>
                                    <m:dPr>
                                      <m:ctrlPr>
                                        <a:rPr lang="en-US" i="1">
                                          <a:latin typeface="Cambria Math" panose="02040503050406030204" pitchFamily="18" charset="0"/>
                                          <a:ea typeface="Cambria Math" panose="02040503050406030204" pitchFamily="18" charset="0"/>
                                        </a:rPr>
                                      </m:ctrlPr>
                                    </m:dPr>
                                    <m:e>
                                      <m:r>
                                        <a:rPr lang="en-US" b="1">
                                          <a:latin typeface="Cambria Math" panose="02040503050406030204" pitchFamily="18" charset="0"/>
                                          <a:ea typeface="Cambria Math" panose="02040503050406030204" pitchFamily="18" charset="0"/>
                                        </a:rPr>
                                        <m:t>𝐙</m:t>
                                      </m:r>
                                    </m:e>
                                  </m:d>
                                </m:e>
                              </m:func>
                            </m:e>
                          </m:d>
                        </m:e>
                      </m:func>
                    </m:oMath>
                  </m:oMathPara>
                </a14:m>
                <a:endParaRPr lang="en-US" dirty="0"/>
              </a:p>
              <a:p>
                <a:pPr marL="0" indent="0">
                  <a:buNone/>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𝐸</m:t>
                          </m:r>
                        </m:e>
                        <m:sub>
                          <m:r>
                            <a:rPr lang="en-US" i="1">
                              <a:latin typeface="Cambria Math" panose="02040503050406030204" pitchFamily="18" charset="0"/>
                            </a:rPr>
                            <m:t>𝑞</m:t>
                          </m:r>
                        </m:sub>
                      </m:sSub>
                      <m:d>
                        <m:dPr>
                          <m:ctrlPr>
                            <a:rPr lang="en-US" i="1">
                              <a:latin typeface="Cambria Math" panose="02040503050406030204" pitchFamily="18" charset="0"/>
                            </a:rPr>
                          </m:ctrlPr>
                        </m:dPr>
                        <m:e>
                          <m:func>
                            <m:funcPr>
                              <m:ctrlPr>
                                <a:rPr lang="en-US" i="1">
                                  <a:latin typeface="Cambria Math" panose="02040503050406030204" pitchFamily="18" charset="0"/>
                                </a:rPr>
                              </m:ctrlPr>
                            </m:funcPr>
                            <m:fName>
                              <m:sSub>
                                <m:sSubPr>
                                  <m:ctrlPr>
                                    <a:rPr lang="en-US" i="1">
                                      <a:latin typeface="Cambria Math" panose="02040503050406030204" pitchFamily="18" charset="0"/>
                                    </a:rPr>
                                  </m:ctrlPr>
                                </m:sSubPr>
                                <m:e>
                                  <m:r>
                                    <m:rPr>
                                      <m:sty m:val="p"/>
                                    </m:rPr>
                                    <a:rPr lang="en-US">
                                      <a:latin typeface="Cambria Math" panose="02040503050406030204" pitchFamily="18" charset="0"/>
                                    </a:rPr>
                                    <m:t>log</m:t>
                                  </m:r>
                                </m:e>
                                <m:sub>
                                  <m:r>
                                    <a:rPr lang="en-US" i="1">
                                      <a:latin typeface="Cambria Math" panose="02040503050406030204" pitchFamily="18" charset="0"/>
                                    </a:rPr>
                                    <m:t>2</m:t>
                                  </m:r>
                                </m:sub>
                              </m:sSub>
                            </m:fName>
                            <m:e>
                              <m:r>
                                <a:rPr lang="en-US" i="1">
                                  <a:latin typeface="Cambria Math" panose="02040503050406030204" pitchFamily="18" charset="0"/>
                                  <a:ea typeface="Cambria Math" panose="02040503050406030204" pitchFamily="18" charset="0"/>
                                </a:rPr>
                                <m:t>𝑝</m:t>
                              </m:r>
                              <m:d>
                                <m:dPr>
                                  <m:ctrlPr>
                                    <a:rPr lang="en-US" i="1">
                                      <a:latin typeface="Cambria Math" panose="02040503050406030204" pitchFamily="18" charset="0"/>
                                      <a:ea typeface="Cambria Math" panose="02040503050406030204" pitchFamily="18" charset="0"/>
                                    </a:rPr>
                                  </m:ctrlPr>
                                </m:dPr>
                                <m:e>
                                  <m:r>
                                    <a:rPr lang="en-US" b="1">
                                      <a:latin typeface="Cambria Math" panose="02040503050406030204" pitchFamily="18" charset="0"/>
                                      <a:ea typeface="Cambria Math" panose="02040503050406030204" pitchFamily="18" charset="0"/>
                                    </a:rPr>
                                    <m:t>𝐙</m:t>
                                  </m:r>
                                  <m:r>
                                    <a:rPr lang="en-US" i="1">
                                      <a:latin typeface="Cambria Math" panose="02040503050406030204" pitchFamily="18" charset="0"/>
                                      <a:ea typeface="Cambria Math" panose="02040503050406030204" pitchFamily="18" charset="0"/>
                                    </a:rPr>
                                    <m:t>,</m:t>
                                  </m:r>
                                  <m:r>
                                    <m:rPr>
                                      <m:nor/>
                                    </m:rPr>
                                    <a:rPr lang="en-US" b="1">
                                      <a:latin typeface="Cambria Math" panose="02040503050406030204" pitchFamily="18" charset="0"/>
                                      <a:ea typeface="Cambria Math" panose="02040503050406030204" pitchFamily="18" charset="0"/>
                                    </a:rPr>
                                    <m:t>X</m:t>
                                  </m:r>
                                </m:e>
                              </m:d>
                            </m:e>
                          </m:func>
                        </m:e>
                      </m:d>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𝐸</m:t>
                          </m:r>
                        </m:e>
                        <m:sub>
                          <m:r>
                            <a:rPr lang="en-US" i="1">
                              <a:latin typeface="Cambria Math" panose="02040503050406030204" pitchFamily="18" charset="0"/>
                            </a:rPr>
                            <m:t>𝑞</m:t>
                          </m:r>
                        </m:sub>
                      </m:sSub>
                      <m:d>
                        <m:dPr>
                          <m:ctrlPr>
                            <a:rPr lang="en-US" i="1">
                              <a:latin typeface="Cambria Math" panose="02040503050406030204" pitchFamily="18" charset="0"/>
                            </a:rPr>
                          </m:ctrlPr>
                        </m:dPr>
                        <m:e>
                          <m:func>
                            <m:funcPr>
                              <m:ctrlPr>
                                <a:rPr lang="en-US" i="1">
                                  <a:latin typeface="Cambria Math" panose="02040503050406030204" pitchFamily="18" charset="0"/>
                                </a:rPr>
                              </m:ctrlPr>
                            </m:funcPr>
                            <m:fName>
                              <m:sSub>
                                <m:sSubPr>
                                  <m:ctrlPr>
                                    <a:rPr lang="en-US" i="1">
                                      <a:latin typeface="Cambria Math" panose="02040503050406030204" pitchFamily="18" charset="0"/>
                                    </a:rPr>
                                  </m:ctrlPr>
                                </m:sSubPr>
                                <m:e>
                                  <m:r>
                                    <m:rPr>
                                      <m:sty m:val="p"/>
                                    </m:rPr>
                                    <a:rPr lang="en-US">
                                      <a:latin typeface="Cambria Math" panose="02040503050406030204" pitchFamily="18" charset="0"/>
                                    </a:rPr>
                                    <m:t>log</m:t>
                                  </m:r>
                                </m:e>
                                <m:sub>
                                  <m:r>
                                    <a:rPr lang="en-US" i="1">
                                      <a:latin typeface="Cambria Math" panose="02040503050406030204" pitchFamily="18" charset="0"/>
                                    </a:rPr>
                                    <m:t>2</m:t>
                                  </m:r>
                                </m:sub>
                              </m:sSub>
                            </m:fName>
                            <m:e>
                              <m:r>
                                <a:rPr lang="en-US" i="1">
                                  <a:latin typeface="Cambria Math" panose="02040503050406030204" pitchFamily="18" charset="0"/>
                                </a:rPr>
                                <m:t>𝑞</m:t>
                              </m:r>
                              <m:d>
                                <m:dPr>
                                  <m:ctrlPr>
                                    <a:rPr lang="en-US" i="1">
                                      <a:latin typeface="Cambria Math" panose="02040503050406030204" pitchFamily="18" charset="0"/>
                                      <a:ea typeface="Cambria Math" panose="02040503050406030204" pitchFamily="18" charset="0"/>
                                    </a:rPr>
                                  </m:ctrlPr>
                                </m:dPr>
                                <m:e>
                                  <m:r>
                                    <a:rPr lang="en-US" b="1">
                                      <a:latin typeface="Cambria Math" panose="02040503050406030204" pitchFamily="18" charset="0"/>
                                      <a:ea typeface="Cambria Math" panose="02040503050406030204" pitchFamily="18" charset="0"/>
                                    </a:rPr>
                                    <m:t>𝐙</m:t>
                                  </m:r>
                                </m:e>
                              </m:d>
                            </m:e>
                          </m:func>
                        </m:e>
                      </m:d>
                      <m:r>
                        <a:rPr lang="en-US" b="0" i="1" smtClean="0">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𝐸</m:t>
                          </m:r>
                        </m:e>
                        <m:sub>
                          <m:r>
                            <a:rPr lang="en-US" i="1">
                              <a:latin typeface="Cambria Math" panose="02040503050406030204" pitchFamily="18" charset="0"/>
                            </a:rPr>
                            <m:t>𝑞</m:t>
                          </m:r>
                        </m:sub>
                      </m:sSub>
                      <m:d>
                        <m:dPr>
                          <m:ctrlPr>
                            <a:rPr lang="en-US" i="1">
                              <a:latin typeface="Cambria Math" panose="02040503050406030204" pitchFamily="18" charset="0"/>
                            </a:rPr>
                          </m:ctrlPr>
                        </m:dPr>
                        <m:e>
                          <m:func>
                            <m:funcPr>
                              <m:ctrlPr>
                                <a:rPr lang="en-US" i="1">
                                  <a:latin typeface="Cambria Math" panose="02040503050406030204" pitchFamily="18" charset="0"/>
                                </a:rPr>
                              </m:ctrlPr>
                            </m:funcPr>
                            <m:fName>
                              <m:sSub>
                                <m:sSubPr>
                                  <m:ctrlPr>
                                    <a:rPr lang="en-US" i="1">
                                      <a:latin typeface="Cambria Math" panose="02040503050406030204" pitchFamily="18" charset="0"/>
                                    </a:rPr>
                                  </m:ctrlPr>
                                </m:sSubPr>
                                <m:e>
                                  <m:r>
                                    <m:rPr>
                                      <m:sty m:val="p"/>
                                    </m:rPr>
                                    <a:rPr lang="en-US">
                                      <a:latin typeface="Cambria Math" panose="02040503050406030204" pitchFamily="18" charset="0"/>
                                    </a:rPr>
                                    <m:t>log</m:t>
                                  </m:r>
                                </m:e>
                                <m:sub>
                                  <m:r>
                                    <a:rPr lang="en-US" i="1">
                                      <a:latin typeface="Cambria Math" panose="02040503050406030204" pitchFamily="18" charset="0"/>
                                    </a:rPr>
                                    <m:t>2</m:t>
                                  </m:r>
                                </m:sub>
                              </m:sSub>
                            </m:fName>
                            <m:e>
                              <m:f>
                                <m:fPr>
                                  <m:ctrlPr>
                                    <a:rPr lang="en-US" i="1" smtClean="0">
                                      <a:latin typeface="Cambria Math" panose="02040503050406030204" pitchFamily="18" charset="0"/>
                                    </a:rPr>
                                  </m:ctrlPr>
                                </m:fPr>
                                <m:num>
                                  <m:r>
                                    <a:rPr lang="en-US" i="1">
                                      <a:latin typeface="Cambria Math" panose="02040503050406030204" pitchFamily="18" charset="0"/>
                                      <a:ea typeface="Cambria Math" panose="02040503050406030204" pitchFamily="18" charset="0"/>
                                    </a:rPr>
                                    <m:t>𝑝</m:t>
                                  </m:r>
                                  <m:d>
                                    <m:dPr>
                                      <m:ctrlPr>
                                        <a:rPr lang="en-US" i="1">
                                          <a:latin typeface="Cambria Math" panose="02040503050406030204" pitchFamily="18" charset="0"/>
                                          <a:ea typeface="Cambria Math" panose="02040503050406030204" pitchFamily="18" charset="0"/>
                                        </a:rPr>
                                      </m:ctrlPr>
                                    </m:dPr>
                                    <m:e>
                                      <m:r>
                                        <a:rPr lang="en-US" b="1">
                                          <a:latin typeface="Cambria Math" panose="02040503050406030204" pitchFamily="18" charset="0"/>
                                          <a:ea typeface="Cambria Math" panose="02040503050406030204" pitchFamily="18" charset="0"/>
                                        </a:rPr>
                                        <m:t>𝐙</m:t>
                                      </m:r>
                                      <m:r>
                                        <a:rPr lang="en-US" i="1">
                                          <a:latin typeface="Cambria Math" panose="02040503050406030204" pitchFamily="18" charset="0"/>
                                          <a:ea typeface="Cambria Math" panose="02040503050406030204" pitchFamily="18" charset="0"/>
                                        </a:rPr>
                                        <m:t>,</m:t>
                                      </m:r>
                                      <m:r>
                                        <m:rPr>
                                          <m:nor/>
                                        </m:rPr>
                                        <a:rPr lang="en-US" b="1">
                                          <a:latin typeface="Cambria Math" panose="02040503050406030204" pitchFamily="18" charset="0"/>
                                          <a:ea typeface="Cambria Math" panose="02040503050406030204" pitchFamily="18" charset="0"/>
                                        </a:rPr>
                                        <m:t>X</m:t>
                                      </m:r>
                                    </m:e>
                                  </m:d>
                                </m:num>
                                <m:den>
                                  <m:r>
                                    <a:rPr lang="en-US" b="0" i="1" smtClean="0">
                                      <a:latin typeface="Cambria Math" panose="02040503050406030204" pitchFamily="18" charset="0"/>
                                    </a:rPr>
                                    <m:t>𝑞</m:t>
                                  </m:r>
                                  <m:d>
                                    <m:dPr>
                                      <m:ctrlPr>
                                        <a:rPr lang="en-US" b="0" i="1" smtClean="0">
                                          <a:latin typeface="Cambria Math" panose="02040503050406030204" pitchFamily="18" charset="0"/>
                                        </a:rPr>
                                      </m:ctrlPr>
                                    </m:dPr>
                                    <m:e>
                                      <m:r>
                                        <a:rPr lang="en-US" b="1">
                                          <a:latin typeface="Cambria Math" panose="02040503050406030204" pitchFamily="18" charset="0"/>
                                          <a:ea typeface="Cambria Math" panose="02040503050406030204" pitchFamily="18" charset="0"/>
                                        </a:rPr>
                                        <m:t>𝐙</m:t>
                                      </m:r>
                                    </m:e>
                                  </m:d>
                                </m:den>
                              </m:f>
                            </m:e>
                          </m:func>
                        </m:e>
                      </m:d>
                      <m:r>
                        <a:rPr lang="en-US" b="0" i="1" smtClean="0">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𝐸</m:t>
                          </m:r>
                        </m:e>
                        <m:sub>
                          <m:r>
                            <a:rPr lang="en-US" i="1">
                              <a:latin typeface="Cambria Math" panose="02040503050406030204" pitchFamily="18" charset="0"/>
                            </a:rPr>
                            <m:t>𝑞</m:t>
                          </m:r>
                        </m:sub>
                      </m:sSub>
                      <m:d>
                        <m:dPr>
                          <m:ctrlPr>
                            <a:rPr lang="en-US" i="1">
                              <a:latin typeface="Cambria Math" panose="02040503050406030204" pitchFamily="18" charset="0"/>
                            </a:rPr>
                          </m:ctrlPr>
                        </m:dPr>
                        <m:e>
                          <m:func>
                            <m:funcPr>
                              <m:ctrlPr>
                                <a:rPr lang="en-US" i="1">
                                  <a:latin typeface="Cambria Math" panose="02040503050406030204" pitchFamily="18" charset="0"/>
                                </a:rPr>
                              </m:ctrlPr>
                            </m:funcPr>
                            <m:fName>
                              <m:sSub>
                                <m:sSubPr>
                                  <m:ctrlPr>
                                    <a:rPr lang="en-US" i="1">
                                      <a:latin typeface="Cambria Math" panose="02040503050406030204" pitchFamily="18" charset="0"/>
                                    </a:rPr>
                                  </m:ctrlPr>
                                </m:sSubPr>
                                <m:e>
                                  <m:r>
                                    <m:rPr>
                                      <m:sty m:val="p"/>
                                    </m:rPr>
                                    <a:rPr lang="en-US">
                                      <a:latin typeface="Cambria Math" panose="02040503050406030204" pitchFamily="18" charset="0"/>
                                    </a:rPr>
                                    <m:t>log</m:t>
                                  </m:r>
                                </m:e>
                                <m:sub>
                                  <m:r>
                                    <a:rPr lang="en-US" i="1">
                                      <a:latin typeface="Cambria Math" panose="02040503050406030204" pitchFamily="18" charset="0"/>
                                    </a:rPr>
                                    <m:t>2</m:t>
                                  </m:r>
                                </m:sub>
                              </m:sSub>
                            </m:fName>
                            <m:e>
                              <m:f>
                                <m:fPr>
                                  <m:ctrlPr>
                                    <a:rPr lang="en-US" i="1">
                                      <a:latin typeface="Cambria Math" panose="02040503050406030204" pitchFamily="18" charset="0"/>
                                    </a:rPr>
                                  </m:ctrlPr>
                                </m:fPr>
                                <m:num>
                                  <m:r>
                                    <a:rPr lang="en-US" i="1">
                                      <a:latin typeface="Cambria Math" panose="02040503050406030204" pitchFamily="18" charset="0"/>
                                      <a:ea typeface="Cambria Math" panose="02040503050406030204" pitchFamily="18" charset="0"/>
                                    </a:rPr>
                                    <m:t>𝑝</m:t>
                                  </m:r>
                                  <m:d>
                                    <m:dPr>
                                      <m:ctrlPr>
                                        <a:rPr lang="en-US" i="1">
                                          <a:latin typeface="Cambria Math" panose="02040503050406030204" pitchFamily="18" charset="0"/>
                                          <a:ea typeface="Cambria Math" panose="02040503050406030204" pitchFamily="18" charset="0"/>
                                        </a:rPr>
                                      </m:ctrlPr>
                                    </m:dPr>
                                    <m:e>
                                      <m:r>
                                        <m:rPr>
                                          <m:nor/>
                                        </m:rPr>
                                        <a:rPr lang="en-US" b="1">
                                          <a:latin typeface="Cambria Math" panose="02040503050406030204" pitchFamily="18" charset="0"/>
                                          <a:ea typeface="Cambria Math" panose="02040503050406030204" pitchFamily="18" charset="0"/>
                                        </a:rPr>
                                        <m:t>X</m:t>
                                      </m:r>
                                      <m:r>
                                        <m:rPr>
                                          <m:nor/>
                                        </m:rPr>
                                        <a:rPr lang="en-US" b="1" i="0" smtClean="0">
                                          <a:latin typeface="Cambria Math" panose="02040503050406030204" pitchFamily="18" charset="0"/>
                                          <a:ea typeface="Cambria Math" panose="02040503050406030204" pitchFamily="18" charset="0"/>
                                        </a:rPr>
                                        <m:t>|</m:t>
                                      </m:r>
                                      <m:r>
                                        <a:rPr lang="en-US" b="1">
                                          <a:latin typeface="Cambria Math" panose="02040503050406030204" pitchFamily="18" charset="0"/>
                                          <a:ea typeface="Cambria Math" panose="02040503050406030204" pitchFamily="18" charset="0"/>
                                        </a:rPr>
                                        <m:t>𝐙</m:t>
                                      </m:r>
                                    </m:e>
                                  </m:d>
                                  <m:r>
                                    <a:rPr lang="en-US" b="0" i="1" smtClean="0">
                                      <a:latin typeface="Cambria Math" panose="02040503050406030204" pitchFamily="18" charset="0"/>
                                      <a:ea typeface="Cambria Math" panose="02040503050406030204" pitchFamily="18" charset="0"/>
                                    </a:rPr>
                                    <m:t>𝑝</m:t>
                                  </m:r>
                                  <m:d>
                                    <m:dPr>
                                      <m:ctrlPr>
                                        <a:rPr lang="en-US" b="1" i="1" smtClean="0">
                                          <a:latin typeface="Cambria Math" panose="02040503050406030204" pitchFamily="18" charset="0"/>
                                          <a:ea typeface="Cambria Math" panose="02040503050406030204" pitchFamily="18" charset="0"/>
                                        </a:rPr>
                                      </m:ctrlPr>
                                    </m:dPr>
                                    <m:e>
                                      <m:r>
                                        <a:rPr lang="en-US" b="1">
                                          <a:latin typeface="Cambria Math" panose="02040503050406030204" pitchFamily="18" charset="0"/>
                                          <a:ea typeface="Cambria Math" panose="02040503050406030204" pitchFamily="18" charset="0"/>
                                        </a:rPr>
                                        <m:t>𝐙</m:t>
                                      </m:r>
                                    </m:e>
                                  </m:d>
                                </m:num>
                                <m:den>
                                  <m:r>
                                    <a:rPr lang="en-US" i="1">
                                      <a:latin typeface="Cambria Math" panose="02040503050406030204" pitchFamily="18" charset="0"/>
                                    </a:rPr>
                                    <m:t>𝑞</m:t>
                                  </m:r>
                                  <m:d>
                                    <m:dPr>
                                      <m:ctrlPr>
                                        <a:rPr lang="en-US" i="1">
                                          <a:latin typeface="Cambria Math" panose="02040503050406030204" pitchFamily="18" charset="0"/>
                                        </a:rPr>
                                      </m:ctrlPr>
                                    </m:dPr>
                                    <m:e>
                                      <m:r>
                                        <a:rPr lang="en-US" b="1">
                                          <a:latin typeface="Cambria Math" panose="02040503050406030204" pitchFamily="18" charset="0"/>
                                          <a:ea typeface="Cambria Math" panose="02040503050406030204" pitchFamily="18" charset="0"/>
                                        </a:rPr>
                                        <m:t>𝐙</m:t>
                                      </m:r>
                                    </m:e>
                                  </m:d>
                                </m:den>
                              </m:f>
                            </m:e>
                          </m:func>
                        </m:e>
                      </m:d>
                      <m:r>
                        <a:rPr lang="en-US" b="0" i="1" smtClean="0">
                          <a:latin typeface="Cambria Math" panose="02040503050406030204" pitchFamily="18" charset="0"/>
                          <a:ea typeface="Cambria Math" panose="02040503050406030204" pitchFamily="18" charset="0"/>
                        </a:rPr>
                        <m:t>=</m:t>
                      </m:r>
                    </m:oMath>
                  </m:oMathPara>
                </a14:m>
                <a:endParaRPr lang="en-US" b="0" dirty="0">
                  <a:ea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𝐸</m:t>
                          </m:r>
                        </m:e>
                        <m:sub>
                          <m:r>
                            <a:rPr lang="en-US" i="1">
                              <a:latin typeface="Cambria Math" panose="02040503050406030204" pitchFamily="18" charset="0"/>
                            </a:rPr>
                            <m:t>𝑞</m:t>
                          </m:r>
                        </m:sub>
                      </m:sSub>
                      <m:d>
                        <m:dPr>
                          <m:ctrlPr>
                            <a:rPr lang="en-US" i="1">
                              <a:latin typeface="Cambria Math" panose="02040503050406030204" pitchFamily="18" charset="0"/>
                            </a:rPr>
                          </m:ctrlPr>
                        </m:dPr>
                        <m:e>
                          <m:func>
                            <m:funcPr>
                              <m:ctrlPr>
                                <a:rPr lang="en-US" i="1">
                                  <a:latin typeface="Cambria Math" panose="02040503050406030204" pitchFamily="18" charset="0"/>
                                </a:rPr>
                              </m:ctrlPr>
                            </m:funcPr>
                            <m:fName>
                              <m:sSub>
                                <m:sSubPr>
                                  <m:ctrlPr>
                                    <a:rPr lang="en-US" i="1">
                                      <a:latin typeface="Cambria Math" panose="02040503050406030204" pitchFamily="18" charset="0"/>
                                    </a:rPr>
                                  </m:ctrlPr>
                                </m:sSubPr>
                                <m:e>
                                  <m:r>
                                    <m:rPr>
                                      <m:sty m:val="p"/>
                                    </m:rPr>
                                    <a:rPr lang="en-US">
                                      <a:latin typeface="Cambria Math" panose="02040503050406030204" pitchFamily="18" charset="0"/>
                                    </a:rPr>
                                    <m:t>log</m:t>
                                  </m:r>
                                </m:e>
                                <m:sub>
                                  <m:r>
                                    <a:rPr lang="en-US" i="1">
                                      <a:latin typeface="Cambria Math" panose="02040503050406030204" pitchFamily="18" charset="0"/>
                                    </a:rPr>
                                    <m:t>2</m:t>
                                  </m:r>
                                </m:sub>
                              </m:sSub>
                            </m:fName>
                            <m:e>
                              <m:r>
                                <a:rPr lang="en-US" i="1">
                                  <a:latin typeface="Cambria Math" panose="02040503050406030204" pitchFamily="18" charset="0"/>
                                  <a:ea typeface="Cambria Math" panose="02040503050406030204" pitchFamily="18" charset="0"/>
                                </a:rPr>
                                <m:t>𝑝</m:t>
                              </m:r>
                              <m:d>
                                <m:dPr>
                                  <m:ctrlPr>
                                    <a:rPr lang="en-US" i="1">
                                      <a:latin typeface="Cambria Math" panose="02040503050406030204" pitchFamily="18" charset="0"/>
                                      <a:ea typeface="Cambria Math" panose="02040503050406030204" pitchFamily="18" charset="0"/>
                                    </a:rPr>
                                  </m:ctrlPr>
                                </m:dPr>
                                <m:e>
                                  <m:r>
                                    <m:rPr>
                                      <m:nor/>
                                    </m:rPr>
                                    <a:rPr lang="en-US" b="1">
                                      <a:latin typeface="Cambria Math" panose="02040503050406030204" pitchFamily="18" charset="0"/>
                                      <a:ea typeface="Cambria Math" panose="02040503050406030204" pitchFamily="18" charset="0"/>
                                    </a:rPr>
                                    <m:t>X</m:t>
                                  </m:r>
                                  <m:r>
                                    <m:rPr>
                                      <m:nor/>
                                    </m:rPr>
                                    <a:rPr lang="en-US" b="1" i="0" smtClean="0">
                                      <a:latin typeface="Cambria Math" panose="02040503050406030204" pitchFamily="18" charset="0"/>
                                      <a:ea typeface="Cambria Math" panose="02040503050406030204" pitchFamily="18" charset="0"/>
                                    </a:rPr>
                                    <m:t>|</m:t>
                                  </m:r>
                                  <m:r>
                                    <a:rPr lang="en-US" b="1">
                                      <a:latin typeface="Cambria Math" panose="02040503050406030204" pitchFamily="18" charset="0"/>
                                      <a:ea typeface="Cambria Math" panose="02040503050406030204" pitchFamily="18" charset="0"/>
                                    </a:rPr>
                                    <m:t>𝐙</m:t>
                                  </m:r>
                                </m:e>
                              </m:d>
                            </m:e>
                          </m:func>
                        </m:e>
                      </m:d>
                      <m:r>
                        <a:rPr lang="en-US" b="1" i="1" smtClean="0">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𝐷</m:t>
                          </m:r>
                        </m:e>
                        <m:sub>
                          <m:r>
                            <a:rPr lang="en-US" i="1">
                              <a:latin typeface="Cambria Math" panose="02040503050406030204" pitchFamily="18" charset="0"/>
                            </a:rPr>
                            <m:t>𝐾𝐿</m:t>
                          </m:r>
                        </m:sub>
                      </m:sSub>
                      <m:r>
                        <a:rPr lang="en-US" i="1">
                          <a:latin typeface="Cambria Math" panose="02040503050406030204" pitchFamily="18" charset="0"/>
                        </a:rPr>
                        <m:t>(</m:t>
                      </m:r>
                      <m:r>
                        <a:rPr lang="en-US" i="1">
                          <a:latin typeface="Cambria Math" panose="02040503050406030204" pitchFamily="18" charset="0"/>
                          <a:ea typeface="Cambria Math" panose="02040503050406030204" pitchFamily="18" charset="0"/>
                        </a:rPr>
                        <m:t>𝑞</m:t>
                      </m:r>
                      <m:r>
                        <a:rPr lang="en-US" i="1">
                          <a:latin typeface="Cambria Math" panose="02040503050406030204" pitchFamily="18" charset="0"/>
                          <a:ea typeface="Cambria Math" panose="02040503050406030204" pitchFamily="18" charset="0"/>
                        </a:rPr>
                        <m:t>(</m:t>
                      </m:r>
                      <m:r>
                        <a:rPr lang="en-US" b="1">
                          <a:latin typeface="Cambria Math" panose="02040503050406030204" pitchFamily="18" charset="0"/>
                          <a:ea typeface="Cambria Math" panose="02040503050406030204" pitchFamily="18" charset="0"/>
                        </a:rPr>
                        <m:t>𝐙</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𝑝</m:t>
                      </m:r>
                      <m:r>
                        <a:rPr lang="en-US" b="0" i="1" smtClean="0">
                          <a:latin typeface="Cambria Math" panose="02040503050406030204" pitchFamily="18" charset="0"/>
                          <a:ea typeface="Cambria Math" panose="02040503050406030204" pitchFamily="18" charset="0"/>
                        </a:rPr>
                        <m:t>(</m:t>
                      </m:r>
                      <m:r>
                        <a:rPr lang="en-US" b="1">
                          <a:latin typeface="Cambria Math" panose="02040503050406030204" pitchFamily="18" charset="0"/>
                          <a:ea typeface="Cambria Math" panose="02040503050406030204" pitchFamily="18" charset="0"/>
                        </a:rPr>
                        <m:t>𝐙</m:t>
                      </m:r>
                      <m:r>
                        <a:rPr lang="en-US" b="0" i="1" smtClean="0">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m:t>
                      </m:r>
                    </m:oMath>
                  </m:oMathPara>
                </a14:m>
                <a:endParaRPr lang="en-US" dirty="0"/>
              </a:p>
              <a:p>
                <a:pPr marL="0" indent="0">
                  <a:buNone/>
                </a:pPr>
                <a:endParaRPr lang="en-US" dirty="0"/>
              </a:p>
              <a:p>
                <a:pPr marL="0" indent="0">
                  <a:buNone/>
                </a:pPr>
                <a:r>
                  <a:rPr lang="en-US" dirty="0"/>
                  <a:t>                                                            data term           </a:t>
                </a:r>
                <a:r>
                  <a:rPr lang="en-US" dirty="0" err="1"/>
                  <a:t>regularizer</a:t>
                </a:r>
                <a:endParaRPr lang="en-US" dirty="0"/>
              </a:p>
            </p:txBody>
          </p:sp>
        </mc:Choice>
        <mc:Fallback xmlns="">
          <p:sp>
            <p:nvSpPr>
              <p:cNvPr id="3" name="Content Placeholder 2">
                <a:extLst>
                  <a:ext uri="{FF2B5EF4-FFF2-40B4-BE49-F238E27FC236}">
                    <a16:creationId xmlns:a16="http://schemas.microsoft.com/office/drawing/2014/main" id="{04FB0EEF-5CCA-4DB8-BD0A-3901C0506B16}"/>
                  </a:ext>
                </a:extLst>
              </p:cNvPr>
              <p:cNvSpPr>
                <a:spLocks noGrp="1" noRot="1" noChangeAspect="1" noMove="1" noResize="1" noEditPoints="1" noAdjustHandles="1" noChangeArrowheads="1" noChangeShapeType="1" noTextEdit="1"/>
              </p:cNvSpPr>
              <p:nvPr>
                <p:ph idx="1"/>
              </p:nvPr>
            </p:nvSpPr>
            <p:spPr>
              <a:xfrm>
                <a:off x="818712" y="2222287"/>
                <a:ext cx="10554574" cy="3636511"/>
              </a:xfrm>
              <a:blipFill>
                <a:blip r:embed="rId2"/>
                <a:stretch>
                  <a:fillRect l="-462"/>
                </a:stretch>
              </a:blipFill>
            </p:spPr>
            <p:txBody>
              <a:bodyPr/>
              <a:lstStyle/>
              <a:p>
                <a:r>
                  <a:rPr lang="en-US">
                    <a:noFill/>
                  </a:rPr>
                  <a:t> </a:t>
                </a:r>
              </a:p>
            </p:txBody>
          </p:sp>
        </mc:Fallback>
      </mc:AlternateContent>
      <p:sp>
        <p:nvSpPr>
          <p:cNvPr id="4" name="Left Brace 3">
            <a:extLst>
              <a:ext uri="{FF2B5EF4-FFF2-40B4-BE49-F238E27FC236}">
                <a16:creationId xmlns:a16="http://schemas.microsoft.com/office/drawing/2014/main" id="{6C574C2E-580A-489E-9634-4F3EE0BD9310}"/>
              </a:ext>
            </a:extLst>
          </p:cNvPr>
          <p:cNvSpPr/>
          <p:nvPr/>
        </p:nvSpPr>
        <p:spPr>
          <a:xfrm rot="16200000">
            <a:off x="5040826" y="4056682"/>
            <a:ext cx="457200" cy="1534329"/>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 name="Left Brace 4">
            <a:extLst>
              <a:ext uri="{FF2B5EF4-FFF2-40B4-BE49-F238E27FC236}">
                <a16:creationId xmlns:a16="http://schemas.microsoft.com/office/drawing/2014/main" id="{9A6D024F-6250-430A-BB45-F848466CFD11}"/>
              </a:ext>
            </a:extLst>
          </p:cNvPr>
          <p:cNvSpPr/>
          <p:nvPr/>
        </p:nvSpPr>
        <p:spPr>
          <a:xfrm rot="16200000">
            <a:off x="6899333" y="3983064"/>
            <a:ext cx="457200" cy="1660900"/>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33667360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anim calcmode="lin" valueType="num">
                                      <p:cBhvr additive="base">
                                        <p:cTn id="15" dur="500" fill="hold"/>
                                        <p:tgtEl>
                                          <p:spTgt spid="4"/>
                                        </p:tgtEl>
                                        <p:attrNameLst>
                                          <p:attrName>ppt_x</p:attrName>
                                        </p:attrNameLst>
                                      </p:cBhvr>
                                      <p:tavLst>
                                        <p:tav tm="0">
                                          <p:val>
                                            <p:strVal val="#ppt_x"/>
                                          </p:val>
                                        </p:tav>
                                        <p:tav tm="100000">
                                          <p:val>
                                            <p:strVal val="#ppt_x"/>
                                          </p:val>
                                        </p:tav>
                                      </p:tavLst>
                                    </p:anim>
                                    <p:anim calcmode="lin" valueType="num">
                                      <p:cBhvr additive="base">
                                        <p:cTn id="16"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5"/>
                                        </p:tgtEl>
                                        <p:attrNameLst>
                                          <p:attrName>style.visibility</p:attrName>
                                        </p:attrNameLst>
                                      </p:cBhvr>
                                      <p:to>
                                        <p:strVal val="visible"/>
                                      </p:to>
                                    </p:set>
                                    <p:anim calcmode="lin" valueType="num">
                                      <p:cBhvr additive="base">
                                        <p:cTn id="21" dur="500" fill="hold"/>
                                        <p:tgtEl>
                                          <p:spTgt spid="5"/>
                                        </p:tgtEl>
                                        <p:attrNameLst>
                                          <p:attrName>ppt_x</p:attrName>
                                        </p:attrNameLst>
                                      </p:cBhvr>
                                      <p:tavLst>
                                        <p:tav tm="0">
                                          <p:val>
                                            <p:strVal val="#ppt_x"/>
                                          </p:val>
                                        </p:tav>
                                        <p:tav tm="100000">
                                          <p:val>
                                            <p:strVal val="#ppt_x"/>
                                          </p:val>
                                        </p:tav>
                                      </p:tavLst>
                                    </p:anim>
                                    <p:anim calcmode="lin" valueType="num">
                                      <p:cBhvr additive="base">
                                        <p:cTn id="22"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0085F-230D-446E-A8DB-D1907ADFA186}"/>
              </a:ext>
            </a:extLst>
          </p:cNvPr>
          <p:cNvSpPr>
            <a:spLocks noGrp="1"/>
          </p:cNvSpPr>
          <p:nvPr>
            <p:ph type="title"/>
          </p:nvPr>
        </p:nvSpPr>
        <p:spPr/>
        <p:txBody>
          <a:bodyPr/>
          <a:lstStyle/>
          <a:p>
            <a:r>
              <a:rPr lang="en-US" dirty="0"/>
              <a:t>Variational Inference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423F39B-22D7-4D82-8BE2-3EEC7D7ECED3}"/>
                  </a:ext>
                </a:extLst>
              </p:cNvPr>
              <p:cNvSpPr>
                <a:spLocks noGrp="1"/>
              </p:cNvSpPr>
              <p:nvPr>
                <p:ph idx="1"/>
              </p:nvPr>
            </p:nvSpPr>
            <p:spPr/>
            <p:txBody>
              <a:bodyPr/>
              <a:lstStyle/>
              <a:p>
                <a:pPr marL="0" indent="0">
                  <a:buNone/>
                </a:pPr>
                <a:r>
                  <a:rPr lang="en-US" dirty="0"/>
                  <a:t>Final optimization problem:</a:t>
                </a:r>
              </a:p>
              <a:p>
                <a:pPr marL="0" indent="0">
                  <a:buNone/>
                </a:pPr>
                <a14:m>
                  <m:oMathPara xmlns:m="http://schemas.openxmlformats.org/officeDocument/2006/math">
                    <m:oMathParaPr>
                      <m:jc m:val="centerGroup"/>
                    </m:oMathParaPr>
                    <m:oMath xmlns:m="http://schemas.openxmlformats.org/officeDocument/2006/math">
                      <m:func>
                        <m:funcPr>
                          <m:ctrlPr>
                            <a:rPr lang="en-US" i="1">
                              <a:latin typeface="Cambria Math" panose="02040503050406030204" pitchFamily="18" charset="0"/>
                            </a:rPr>
                          </m:ctrlPr>
                        </m:funcPr>
                        <m:fName>
                          <m:limLow>
                            <m:limLowPr>
                              <m:ctrlPr>
                                <a:rPr lang="en-US" i="1">
                                  <a:latin typeface="Cambria Math" panose="02040503050406030204" pitchFamily="18" charset="0"/>
                                </a:rPr>
                              </m:ctrlPr>
                            </m:limLowPr>
                            <m:e>
                              <m:r>
                                <m:rPr>
                                  <m:sty m:val="p"/>
                                </m:rPr>
                                <a:rPr lang="en-US">
                                  <a:latin typeface="Cambria Math" panose="02040503050406030204" pitchFamily="18" charset="0"/>
                                </a:rPr>
                                <m:t>max</m:t>
                              </m:r>
                            </m:e>
                            <m:lim>
                              <m:r>
                                <a:rPr lang="en-US" i="1">
                                  <a:latin typeface="Cambria Math" panose="02040503050406030204" pitchFamily="18" charset="0"/>
                                </a:rPr>
                                <m:t>𝑞</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𝒬</m:t>
                              </m:r>
                            </m:lim>
                          </m:limLow>
                        </m:fName>
                        <m:e>
                          <m:sSub>
                            <m:sSubPr>
                              <m:ctrlPr>
                                <a:rPr lang="en-US" i="1">
                                  <a:latin typeface="Cambria Math" panose="02040503050406030204" pitchFamily="18" charset="0"/>
                                </a:rPr>
                              </m:ctrlPr>
                            </m:sSubPr>
                            <m:e>
                              <m:r>
                                <a:rPr lang="en-US" i="1">
                                  <a:latin typeface="Cambria Math" panose="02040503050406030204" pitchFamily="18" charset="0"/>
                                </a:rPr>
                                <m:t>𝐸</m:t>
                              </m:r>
                            </m:e>
                            <m:sub>
                              <m:r>
                                <a:rPr lang="en-US" i="1">
                                  <a:latin typeface="Cambria Math" panose="02040503050406030204" pitchFamily="18" charset="0"/>
                                </a:rPr>
                                <m:t>𝑞</m:t>
                              </m:r>
                            </m:sub>
                          </m:sSub>
                          <m:d>
                            <m:dPr>
                              <m:ctrlPr>
                                <a:rPr lang="en-US" i="1">
                                  <a:latin typeface="Cambria Math" panose="02040503050406030204" pitchFamily="18" charset="0"/>
                                </a:rPr>
                              </m:ctrlPr>
                            </m:dPr>
                            <m:e>
                              <m:func>
                                <m:funcPr>
                                  <m:ctrlPr>
                                    <a:rPr lang="en-US" i="1">
                                      <a:latin typeface="Cambria Math" panose="02040503050406030204" pitchFamily="18" charset="0"/>
                                    </a:rPr>
                                  </m:ctrlPr>
                                </m:funcPr>
                                <m:fName>
                                  <m:sSub>
                                    <m:sSubPr>
                                      <m:ctrlPr>
                                        <a:rPr lang="en-US" i="1">
                                          <a:latin typeface="Cambria Math" panose="02040503050406030204" pitchFamily="18" charset="0"/>
                                        </a:rPr>
                                      </m:ctrlPr>
                                    </m:sSubPr>
                                    <m:e>
                                      <m:r>
                                        <m:rPr>
                                          <m:sty m:val="p"/>
                                        </m:rPr>
                                        <a:rPr lang="en-US">
                                          <a:latin typeface="Cambria Math" panose="02040503050406030204" pitchFamily="18" charset="0"/>
                                        </a:rPr>
                                        <m:t>log</m:t>
                                      </m:r>
                                    </m:e>
                                    <m:sub>
                                      <m:r>
                                        <a:rPr lang="en-US" i="1">
                                          <a:latin typeface="Cambria Math" panose="02040503050406030204" pitchFamily="18" charset="0"/>
                                        </a:rPr>
                                        <m:t>2</m:t>
                                      </m:r>
                                    </m:sub>
                                  </m:sSub>
                                </m:fName>
                                <m:e>
                                  <m:r>
                                    <a:rPr lang="en-US" i="1">
                                      <a:latin typeface="Cambria Math" panose="02040503050406030204" pitchFamily="18" charset="0"/>
                                      <a:ea typeface="Cambria Math" panose="02040503050406030204" pitchFamily="18" charset="0"/>
                                    </a:rPr>
                                    <m:t>𝑝</m:t>
                                  </m:r>
                                  <m:d>
                                    <m:dPr>
                                      <m:ctrlPr>
                                        <a:rPr lang="en-US" i="1">
                                          <a:latin typeface="Cambria Math" panose="02040503050406030204" pitchFamily="18" charset="0"/>
                                          <a:ea typeface="Cambria Math" panose="02040503050406030204" pitchFamily="18" charset="0"/>
                                        </a:rPr>
                                      </m:ctrlPr>
                                    </m:dPr>
                                    <m:e>
                                      <m:r>
                                        <a:rPr lang="en-US" b="1">
                                          <a:latin typeface="Cambria Math" panose="02040503050406030204" pitchFamily="18" charset="0"/>
                                          <a:ea typeface="Cambria Math" panose="02040503050406030204" pitchFamily="18" charset="0"/>
                                        </a:rPr>
                                        <m:t>𝐙</m:t>
                                      </m:r>
                                      <m:r>
                                        <a:rPr lang="en-US" i="1">
                                          <a:latin typeface="Cambria Math" panose="02040503050406030204" pitchFamily="18" charset="0"/>
                                          <a:ea typeface="Cambria Math" panose="02040503050406030204" pitchFamily="18" charset="0"/>
                                        </a:rPr>
                                        <m:t>,</m:t>
                                      </m:r>
                                      <m:r>
                                        <m:rPr>
                                          <m:nor/>
                                        </m:rPr>
                                        <a:rPr lang="en-US" b="1">
                                          <a:latin typeface="Cambria Math" panose="02040503050406030204" pitchFamily="18" charset="0"/>
                                          <a:ea typeface="Cambria Math" panose="02040503050406030204" pitchFamily="18" charset="0"/>
                                        </a:rPr>
                                        <m:t>X</m:t>
                                      </m:r>
                                    </m:e>
                                  </m:d>
                                </m:e>
                              </m:func>
                            </m:e>
                          </m:d>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𝐸</m:t>
                              </m:r>
                            </m:e>
                            <m:sub>
                              <m:r>
                                <a:rPr lang="en-US" i="1">
                                  <a:latin typeface="Cambria Math" panose="02040503050406030204" pitchFamily="18" charset="0"/>
                                </a:rPr>
                                <m:t>𝑞</m:t>
                              </m:r>
                            </m:sub>
                          </m:sSub>
                          <m:d>
                            <m:dPr>
                              <m:ctrlPr>
                                <a:rPr lang="en-US" i="1">
                                  <a:latin typeface="Cambria Math" panose="02040503050406030204" pitchFamily="18" charset="0"/>
                                </a:rPr>
                              </m:ctrlPr>
                            </m:dPr>
                            <m:e>
                              <m:func>
                                <m:funcPr>
                                  <m:ctrlPr>
                                    <a:rPr lang="en-US" i="1">
                                      <a:latin typeface="Cambria Math" panose="02040503050406030204" pitchFamily="18" charset="0"/>
                                    </a:rPr>
                                  </m:ctrlPr>
                                </m:funcPr>
                                <m:fName>
                                  <m:sSub>
                                    <m:sSubPr>
                                      <m:ctrlPr>
                                        <a:rPr lang="en-US" i="1">
                                          <a:latin typeface="Cambria Math" panose="02040503050406030204" pitchFamily="18" charset="0"/>
                                        </a:rPr>
                                      </m:ctrlPr>
                                    </m:sSubPr>
                                    <m:e>
                                      <m:r>
                                        <m:rPr>
                                          <m:sty m:val="p"/>
                                        </m:rPr>
                                        <a:rPr lang="en-US">
                                          <a:latin typeface="Cambria Math" panose="02040503050406030204" pitchFamily="18" charset="0"/>
                                        </a:rPr>
                                        <m:t>log</m:t>
                                      </m:r>
                                    </m:e>
                                    <m:sub>
                                      <m:r>
                                        <a:rPr lang="en-US" i="1">
                                          <a:latin typeface="Cambria Math" panose="02040503050406030204" pitchFamily="18" charset="0"/>
                                        </a:rPr>
                                        <m:t>2</m:t>
                                      </m:r>
                                    </m:sub>
                                  </m:sSub>
                                </m:fName>
                                <m:e>
                                  <m:r>
                                    <a:rPr lang="en-US" i="1">
                                      <a:latin typeface="Cambria Math" panose="02040503050406030204" pitchFamily="18" charset="0"/>
                                    </a:rPr>
                                    <m:t>𝑞</m:t>
                                  </m:r>
                                  <m:d>
                                    <m:dPr>
                                      <m:ctrlPr>
                                        <a:rPr lang="en-US" i="1">
                                          <a:latin typeface="Cambria Math" panose="02040503050406030204" pitchFamily="18" charset="0"/>
                                          <a:ea typeface="Cambria Math" panose="02040503050406030204" pitchFamily="18" charset="0"/>
                                        </a:rPr>
                                      </m:ctrlPr>
                                    </m:dPr>
                                    <m:e>
                                      <m:r>
                                        <a:rPr lang="en-US" b="1">
                                          <a:latin typeface="Cambria Math" panose="02040503050406030204" pitchFamily="18" charset="0"/>
                                          <a:ea typeface="Cambria Math" panose="02040503050406030204" pitchFamily="18" charset="0"/>
                                        </a:rPr>
                                        <m:t>𝐙</m:t>
                                      </m:r>
                                    </m:e>
                                  </m:d>
                                </m:e>
                              </m:func>
                            </m:e>
                          </m:d>
                        </m:e>
                      </m:func>
                    </m:oMath>
                  </m:oMathPara>
                </a14:m>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r>
                  <a:rPr lang="en-US" dirty="0"/>
                  <a:t>Mean field approximation (factorized family)</a:t>
                </a:r>
              </a:p>
              <a:p>
                <a:r>
                  <a:rPr lang="en-US" dirty="0"/>
                  <a:t>Parametric approximation (parametric family)</a:t>
                </a:r>
              </a:p>
            </p:txBody>
          </p:sp>
        </mc:Choice>
        <mc:Fallback xmlns="">
          <p:sp>
            <p:nvSpPr>
              <p:cNvPr id="3" name="Content Placeholder 2">
                <a:extLst>
                  <a:ext uri="{FF2B5EF4-FFF2-40B4-BE49-F238E27FC236}">
                    <a16:creationId xmlns:a16="http://schemas.microsoft.com/office/drawing/2014/main" id="{C423F39B-22D7-4D82-8BE2-3EEC7D7ECED3}"/>
                  </a:ext>
                </a:extLst>
              </p:cNvPr>
              <p:cNvSpPr>
                <a:spLocks noGrp="1" noRot="1" noChangeAspect="1" noMove="1" noResize="1" noEditPoints="1" noAdjustHandles="1" noChangeArrowheads="1" noChangeShapeType="1" noTextEdit="1"/>
              </p:cNvSpPr>
              <p:nvPr>
                <p:ph idx="1"/>
              </p:nvPr>
            </p:nvSpPr>
            <p:spPr>
              <a:blipFill>
                <a:blip r:embed="rId2"/>
                <a:stretch>
                  <a:fillRect l="-462"/>
                </a:stretch>
              </a:blipFill>
            </p:spPr>
            <p:txBody>
              <a:bodyPr/>
              <a:lstStyle/>
              <a:p>
                <a:r>
                  <a:rPr lang="en-US">
                    <a:noFill/>
                  </a:rPr>
                  <a:t> </a:t>
                </a:r>
              </a:p>
            </p:txBody>
          </p:sp>
        </mc:Fallback>
      </mc:AlternateContent>
      <p:sp>
        <p:nvSpPr>
          <p:cNvPr id="4" name="Explosion: 14 Points 3">
            <a:extLst>
              <a:ext uri="{FF2B5EF4-FFF2-40B4-BE49-F238E27FC236}">
                <a16:creationId xmlns:a16="http://schemas.microsoft.com/office/drawing/2014/main" id="{2A1970AC-86EB-4AFE-976A-76F9B11721BF}"/>
              </a:ext>
            </a:extLst>
          </p:cNvPr>
          <p:cNvSpPr/>
          <p:nvPr/>
        </p:nvSpPr>
        <p:spPr>
          <a:xfrm>
            <a:off x="1991532" y="3091910"/>
            <a:ext cx="5672380" cy="1704816"/>
          </a:xfrm>
          <a:prstGeom prst="irregularSeal2">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How to perform an</a:t>
            </a:r>
          </a:p>
          <a:p>
            <a:pPr algn="ctr"/>
            <a:r>
              <a:rPr lang="en-US" dirty="0"/>
              <a:t>optimization </a:t>
            </a:r>
            <a:r>
              <a:rPr lang="en-US" dirty="0" err="1"/>
              <a:t>w.r.t.</a:t>
            </a:r>
            <a:endParaRPr lang="en-US" dirty="0"/>
          </a:p>
          <a:p>
            <a:pPr algn="ctr"/>
            <a:r>
              <a:rPr lang="en-US" dirty="0"/>
              <a:t>a distribution?</a:t>
            </a:r>
          </a:p>
        </p:txBody>
      </p:sp>
    </p:spTree>
    <p:extLst>
      <p:ext uri="{BB962C8B-B14F-4D97-AF65-F5344CB8AC3E}">
        <p14:creationId xmlns:p14="http://schemas.microsoft.com/office/powerpoint/2010/main" val="10160925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95C4C87-0BB0-4917-B7ED-B0C694ACB2C9}"/>
              </a:ext>
            </a:extLst>
          </p:cNvPr>
          <p:cNvSpPr>
            <a:spLocks noGrp="1"/>
          </p:cNvSpPr>
          <p:nvPr>
            <p:ph type="title"/>
          </p:nvPr>
        </p:nvSpPr>
        <p:spPr>
          <a:xfrm>
            <a:off x="625231" y="606669"/>
            <a:ext cx="10972800" cy="3813527"/>
          </a:xfrm>
        </p:spPr>
        <p:txBody>
          <a:bodyPr/>
          <a:lstStyle/>
          <a:p>
            <a:r>
              <a:rPr lang="en-US" dirty="0"/>
              <a:t>Example: Bayesian Neural Networks</a:t>
            </a:r>
          </a:p>
        </p:txBody>
      </p:sp>
      <p:sp>
        <p:nvSpPr>
          <p:cNvPr id="5" name="Text Placeholder 4">
            <a:extLst>
              <a:ext uri="{FF2B5EF4-FFF2-40B4-BE49-F238E27FC236}">
                <a16:creationId xmlns:a16="http://schemas.microsoft.com/office/drawing/2014/main" id="{ED964B66-3A89-40BC-AF39-AE67EA690541}"/>
              </a:ext>
            </a:extLst>
          </p:cNvPr>
          <p:cNvSpPr>
            <a:spLocks noGrp="1"/>
          </p:cNvSpPr>
          <p:nvPr>
            <p:ph type="body" idx="1"/>
          </p:nvPr>
        </p:nvSpPr>
        <p:spPr/>
        <p:txBody>
          <a:bodyPr/>
          <a:lstStyle/>
          <a:p>
            <a:r>
              <a:rPr lang="en-US" dirty="0"/>
              <a:t>Bridging Deep Learning and Probabilistic Programming</a:t>
            </a:r>
          </a:p>
        </p:txBody>
      </p:sp>
    </p:spTree>
    <p:extLst>
      <p:ext uri="{BB962C8B-B14F-4D97-AF65-F5344CB8AC3E}">
        <p14:creationId xmlns:p14="http://schemas.microsoft.com/office/powerpoint/2010/main" val="19033293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7004F04-89EB-4AB4-AA65-CCA5C9272F5E}"/>
              </a:ext>
            </a:extLst>
          </p:cNvPr>
          <p:cNvSpPr>
            <a:spLocks noGrp="1"/>
          </p:cNvSpPr>
          <p:nvPr>
            <p:ph type="title"/>
          </p:nvPr>
        </p:nvSpPr>
        <p:spPr/>
        <p:txBody>
          <a:bodyPr/>
          <a:lstStyle/>
          <a:p>
            <a:r>
              <a:rPr lang="en-US" dirty="0"/>
              <a:t>Bayesian Neural Networks</a:t>
            </a:r>
          </a:p>
        </p:txBody>
      </p:sp>
      <p:pic>
        <p:nvPicPr>
          <p:cNvPr id="6" name="Picture 5">
            <a:extLst>
              <a:ext uri="{FF2B5EF4-FFF2-40B4-BE49-F238E27FC236}">
                <a16:creationId xmlns:a16="http://schemas.microsoft.com/office/drawing/2014/main" id="{E71E717A-488F-4E0A-9810-4F932132B719}"/>
              </a:ext>
            </a:extLst>
          </p:cNvPr>
          <p:cNvPicPr>
            <a:picLocks noChangeAspect="1"/>
          </p:cNvPicPr>
          <p:nvPr/>
        </p:nvPicPr>
        <p:blipFill>
          <a:blip r:embed="rId2"/>
          <a:stretch>
            <a:fillRect/>
          </a:stretch>
        </p:blipFill>
        <p:spPr>
          <a:xfrm>
            <a:off x="8480299" y="1982064"/>
            <a:ext cx="2693979" cy="4086372"/>
          </a:xfrm>
          <a:prstGeom prst="rect">
            <a:avLst/>
          </a:prstGeom>
        </p:spPr>
      </p:pic>
      <p:pic>
        <p:nvPicPr>
          <p:cNvPr id="9" name="Picture 8" descr="A screenshot of a cell phone&#10;&#10;Description automatically generated">
            <a:extLst>
              <a:ext uri="{FF2B5EF4-FFF2-40B4-BE49-F238E27FC236}">
                <a16:creationId xmlns:a16="http://schemas.microsoft.com/office/drawing/2014/main" id="{B4D8D964-CA6A-4CF0-8E6E-746868F110C9}"/>
              </a:ext>
            </a:extLst>
          </p:cNvPr>
          <p:cNvPicPr>
            <a:picLocks noChangeAspect="1"/>
          </p:cNvPicPr>
          <p:nvPr/>
        </p:nvPicPr>
        <p:blipFill>
          <a:blip r:embed="rId3"/>
          <a:stretch>
            <a:fillRect/>
          </a:stretch>
        </p:blipFill>
        <p:spPr>
          <a:xfrm>
            <a:off x="518763" y="2315600"/>
            <a:ext cx="7400925" cy="3448050"/>
          </a:xfrm>
          <a:prstGeom prst="rect">
            <a:avLst/>
          </a:prstGeom>
        </p:spPr>
      </p:pic>
      <p:sp>
        <p:nvSpPr>
          <p:cNvPr id="11" name="TextBox 10">
            <a:extLst>
              <a:ext uri="{FF2B5EF4-FFF2-40B4-BE49-F238E27FC236}">
                <a16:creationId xmlns:a16="http://schemas.microsoft.com/office/drawing/2014/main" id="{F39A04FA-76F8-4E7E-8903-7F6FD6301A59}"/>
              </a:ext>
            </a:extLst>
          </p:cNvPr>
          <p:cNvSpPr txBox="1"/>
          <p:nvPr/>
        </p:nvSpPr>
        <p:spPr>
          <a:xfrm>
            <a:off x="588935" y="6226146"/>
            <a:ext cx="10187404" cy="369332"/>
          </a:xfrm>
          <a:prstGeom prst="rect">
            <a:avLst/>
          </a:prstGeom>
          <a:noFill/>
        </p:spPr>
        <p:txBody>
          <a:bodyPr wrap="none" rtlCol="0">
            <a:spAutoFit/>
          </a:bodyPr>
          <a:lstStyle/>
          <a:p>
            <a:r>
              <a:rPr lang="en-US"/>
              <a:t>http://citeseerx.ist.psu.edu/viewdoc/download?doi=10.1.1.446.9306&amp;rep=rep1&amp;type=pdf</a:t>
            </a:r>
            <a:endParaRPr lang="en-US" dirty="0"/>
          </a:p>
        </p:txBody>
      </p:sp>
    </p:spTree>
    <p:extLst>
      <p:ext uri="{BB962C8B-B14F-4D97-AF65-F5344CB8AC3E}">
        <p14:creationId xmlns:p14="http://schemas.microsoft.com/office/powerpoint/2010/main" val="78543037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A76F4C-28EF-4D7A-A416-B6CFF9F45ECC}"/>
              </a:ext>
            </a:extLst>
          </p:cNvPr>
          <p:cNvSpPr>
            <a:spLocks noGrp="1"/>
          </p:cNvSpPr>
          <p:nvPr>
            <p:ph type="title"/>
          </p:nvPr>
        </p:nvSpPr>
        <p:spPr/>
        <p:txBody>
          <a:bodyPr/>
          <a:lstStyle/>
          <a:p>
            <a:r>
              <a:rPr lang="en-US" dirty="0"/>
              <a:t>Bayesian Neural Networks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51BAEA1-D6CF-474B-B914-353D55C94391}"/>
                  </a:ext>
                </a:extLst>
              </p:cNvPr>
              <p:cNvSpPr>
                <a:spLocks noGrp="1"/>
              </p:cNvSpPr>
              <p:nvPr>
                <p:ph idx="1"/>
              </p:nvPr>
            </p:nvSpPr>
            <p:spPr>
              <a:xfrm>
                <a:off x="818712" y="2014780"/>
                <a:ext cx="10554574" cy="4843220"/>
              </a:xfrm>
            </p:spPr>
            <p:txBody>
              <a:bodyPr>
                <a:normAutofit lnSpcReduction="10000"/>
              </a:bodyPr>
              <a:lstStyle/>
              <a:p>
                <a:pPr marL="0" indent="0">
                  <a:buNone/>
                </a:pPr>
                <a:r>
                  <a:rPr lang="en-US" dirty="0"/>
                  <a:t>A Bayesian neural network is a neural network with a prior distribution on its weights </a:t>
                </a:r>
              </a:p>
              <a:p>
                <a:pPr marL="0" indent="0">
                  <a:buNone/>
                </a:pPr>
                <a:r>
                  <a:rPr lang="en-US" dirty="0"/>
                  <a:t>Define the prior on the weights and biases </a:t>
                </a:r>
                <a14:m>
                  <m:oMath xmlns:m="http://schemas.openxmlformats.org/officeDocument/2006/math">
                    <m:r>
                      <m:rPr>
                        <m:nor/>
                      </m:rPr>
                      <a:rPr lang="en-US" b="1" i="0" smtClean="0">
                        <a:latin typeface="Cambria Math" panose="02040503050406030204" pitchFamily="18" charset="0"/>
                      </a:rPr>
                      <m:t>w</m:t>
                    </m:r>
                  </m:oMath>
                </a14:m>
                <a:r>
                  <a:rPr lang="en-US" dirty="0"/>
                  <a:t> to be the standard normal:</a:t>
                </a: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𝑝</m:t>
                      </m:r>
                      <m:d>
                        <m:dPr>
                          <m:ctrlPr>
                            <a:rPr lang="en-US" b="0" i="1" smtClean="0">
                              <a:latin typeface="Cambria Math" panose="02040503050406030204" pitchFamily="18" charset="0"/>
                            </a:rPr>
                          </m:ctrlPr>
                        </m:dPr>
                        <m:e>
                          <m:r>
                            <m:rPr>
                              <m:nor/>
                            </m:rPr>
                            <a:rPr lang="en-US" b="1" i="0" smtClean="0">
                              <a:latin typeface="Cambria Math" panose="02040503050406030204" pitchFamily="18" charset="0"/>
                            </a:rPr>
                            <m:t>w</m:t>
                          </m:r>
                        </m:e>
                      </m:d>
                      <m:r>
                        <a:rPr lang="en-US" b="0" i="1" smtClean="0">
                          <a:latin typeface="Cambria Math" panose="02040503050406030204" pitchFamily="18" charset="0"/>
                        </a:rPr>
                        <m:t>=</m:t>
                      </m:r>
                      <m:r>
                        <m:rPr>
                          <m:nor/>
                        </m:rPr>
                        <a:rPr lang="en-US" b="0" i="0" smtClean="0">
                          <a:latin typeface="Cambria Math" panose="02040503050406030204" pitchFamily="18" charset="0"/>
                        </a:rPr>
                        <m:t>Normal</m:t>
                      </m:r>
                      <m:r>
                        <a:rPr lang="en-US" b="0" i="1" smtClean="0">
                          <a:latin typeface="Cambria Math" panose="02040503050406030204" pitchFamily="18" charset="0"/>
                        </a:rPr>
                        <m:t>(</m:t>
                      </m:r>
                      <m:r>
                        <a:rPr lang="en-US" b="1" i="0" smtClean="0">
                          <a:latin typeface="Cambria Math" panose="02040503050406030204" pitchFamily="18" charset="0"/>
                        </a:rPr>
                        <m:t>𝟎</m:t>
                      </m:r>
                      <m:r>
                        <a:rPr lang="en-US" b="0" i="1" smtClean="0">
                          <a:latin typeface="Cambria Math" panose="02040503050406030204" pitchFamily="18" charset="0"/>
                        </a:rPr>
                        <m:t>, </m:t>
                      </m:r>
                      <m:r>
                        <m:rPr>
                          <m:nor/>
                        </m:rPr>
                        <a:rPr lang="en-US" b="1" i="0" smtClean="0">
                          <a:latin typeface="Cambria Math" panose="02040503050406030204" pitchFamily="18" charset="0"/>
                        </a:rPr>
                        <m:t>I</m:t>
                      </m:r>
                      <m:r>
                        <a:rPr lang="en-US" b="0" i="1" smtClean="0">
                          <a:latin typeface="Cambria Math" panose="02040503050406030204" pitchFamily="18" charset="0"/>
                        </a:rPr>
                        <m:t>)</m:t>
                      </m:r>
                    </m:oMath>
                  </m:oMathPara>
                </a14:m>
                <a:endParaRPr lang="en-US" dirty="0"/>
              </a:p>
              <a:p>
                <a:pPr marL="0" indent="0">
                  <a:buNone/>
                </a:pPr>
                <a:r>
                  <a:rPr lang="en-US" dirty="0"/>
                  <a:t>Define the likelihood for a data point as:</a:t>
                </a: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𝑝</m:t>
                      </m:r>
                      <m:d>
                        <m:dPr>
                          <m:ctrlPr>
                            <a:rPr lang="en-US" b="0" i="1" smtClean="0">
                              <a:latin typeface="Cambria Math" panose="02040503050406030204" pitchFamily="18" charset="0"/>
                            </a:rPr>
                          </m:ctrlPr>
                        </m:dPr>
                        <m:e>
                          <m:r>
                            <a:rPr lang="en-US" b="0" i="1" smtClean="0">
                              <a:latin typeface="Cambria Math" panose="02040503050406030204" pitchFamily="18" charset="0"/>
                            </a:rPr>
                            <m:t>𝑦</m:t>
                          </m:r>
                        </m:e>
                        <m:e>
                          <m:r>
                            <m:rPr>
                              <m:nor/>
                            </m:rPr>
                            <a:rPr lang="en-US" b="1" i="0" smtClean="0">
                              <a:latin typeface="Cambria Math" panose="02040503050406030204" pitchFamily="18" charset="0"/>
                            </a:rPr>
                            <m:t>x</m:t>
                          </m:r>
                          <m:r>
                            <a:rPr lang="en-US" b="0" i="1" smtClean="0">
                              <a:latin typeface="Cambria Math" panose="02040503050406030204" pitchFamily="18" charset="0"/>
                            </a:rPr>
                            <m:t>,</m:t>
                          </m:r>
                          <m:r>
                            <m:rPr>
                              <m:nor/>
                            </m:rPr>
                            <a:rPr lang="en-US" b="1" i="0" smtClean="0">
                              <a:latin typeface="Cambria Math" panose="02040503050406030204" pitchFamily="18" charset="0"/>
                            </a:rPr>
                            <m:t>w</m:t>
                          </m:r>
                        </m:e>
                      </m:d>
                      <m:r>
                        <a:rPr lang="en-US" b="0" i="1" smtClean="0">
                          <a:latin typeface="Cambria Math" panose="02040503050406030204" pitchFamily="18" charset="0"/>
                        </a:rPr>
                        <m:t>=</m:t>
                      </m:r>
                      <m:r>
                        <m:rPr>
                          <m:nor/>
                        </m:rPr>
                        <a:rPr lang="en-US" b="0" i="0" smtClean="0">
                          <a:latin typeface="Cambria Math" panose="02040503050406030204" pitchFamily="18" charset="0"/>
                        </a:rPr>
                        <m:t>Bernoulli</m:t>
                      </m:r>
                      <m:r>
                        <a:rPr lang="en-US" b="0" i="1" smtClean="0">
                          <a:latin typeface="Cambria Math" panose="02040503050406030204" pitchFamily="18" charset="0"/>
                        </a:rPr>
                        <m:t>(</m:t>
                      </m:r>
                      <m:r>
                        <a:rPr lang="en-US" b="0" i="1" smtClean="0">
                          <a:latin typeface="Cambria Math" panose="02040503050406030204" pitchFamily="18" charset="0"/>
                        </a:rPr>
                        <m:t>𝑁𝑁</m:t>
                      </m:r>
                      <m:r>
                        <a:rPr lang="en-US" b="0" i="1" smtClean="0">
                          <a:latin typeface="Cambria Math" panose="02040503050406030204" pitchFamily="18" charset="0"/>
                        </a:rPr>
                        <m:t>(</m:t>
                      </m:r>
                      <m:r>
                        <m:rPr>
                          <m:nor/>
                        </m:rPr>
                        <a:rPr lang="en-US" b="1">
                          <a:latin typeface="Cambria Math" panose="02040503050406030204" pitchFamily="18" charset="0"/>
                        </a:rPr>
                        <m:t>x</m:t>
                      </m:r>
                      <m:r>
                        <a:rPr lang="en-US" i="1">
                          <a:latin typeface="Cambria Math" panose="02040503050406030204" pitchFamily="18" charset="0"/>
                        </a:rPr>
                        <m:t>,</m:t>
                      </m:r>
                      <m:r>
                        <m:rPr>
                          <m:nor/>
                        </m:rPr>
                        <a:rPr lang="en-US" b="1">
                          <a:latin typeface="Cambria Math" panose="02040503050406030204" pitchFamily="18" charset="0"/>
                        </a:rPr>
                        <m:t>w</m:t>
                      </m:r>
                      <m:r>
                        <m:rPr>
                          <m:nor/>
                        </m:rPr>
                        <a:rPr lang="en-US" b="1" i="0" smtClean="0">
                          <a:latin typeface="Cambria Math" panose="02040503050406030204" pitchFamily="18" charset="0"/>
                        </a:rPr>
                        <m:t>))</m:t>
                      </m:r>
                    </m:oMath>
                  </m:oMathPara>
                </a14:m>
                <a:endParaRPr lang="en-US" dirty="0"/>
              </a:p>
              <a:p>
                <a:pPr marL="0" indent="0" algn="just">
                  <a:buNone/>
                </a:pPr>
                <a:r>
                  <a:rPr lang="en-US" dirty="0"/>
                  <a:t>Where </a:t>
                </a:r>
                <a14:m>
                  <m:oMath xmlns:m="http://schemas.openxmlformats.org/officeDocument/2006/math">
                    <m:r>
                      <m:rPr>
                        <m:nor/>
                      </m:rPr>
                      <a:rPr lang="en-US" b="1" i="0" smtClean="0">
                        <a:latin typeface="Cambria Math" panose="02040503050406030204" pitchFamily="18" charset="0"/>
                      </a:rPr>
                      <m:t>x</m:t>
                    </m:r>
                    <m:r>
                      <a:rPr lang="en-US" b="0" i="1" smtClean="0">
                        <a:latin typeface="Cambria Math" panose="02040503050406030204" pitchFamily="18" charset="0"/>
                        <a:ea typeface="Cambria Math" panose="02040503050406030204" pitchFamily="18" charset="0"/>
                      </a:rPr>
                      <m:t>∈</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ℝ</m:t>
                        </m:r>
                      </m:e>
                      <m:sup>
                        <m:r>
                          <a:rPr lang="en-US" b="0" i="1" smtClean="0">
                            <a:latin typeface="Cambria Math" panose="02040503050406030204" pitchFamily="18" charset="0"/>
                            <a:ea typeface="Cambria Math" panose="02040503050406030204" pitchFamily="18" charset="0"/>
                          </a:rPr>
                          <m:t>𝑑</m:t>
                        </m:r>
                      </m:sup>
                    </m:sSup>
                  </m:oMath>
                </a14:m>
                <a:r>
                  <a:rPr lang="en-US" dirty="0"/>
                  <a:t> is the feature vector, </a:t>
                </a:r>
                <a14:m>
                  <m:oMath xmlns:m="http://schemas.openxmlformats.org/officeDocument/2006/math">
                    <m:r>
                      <a:rPr lang="en-US" b="0" i="1" smtClean="0">
                        <a:latin typeface="Cambria Math" panose="02040503050406030204" pitchFamily="18" charset="0"/>
                      </a:rPr>
                      <m:t>𝑦</m:t>
                    </m:r>
                    <m:r>
                      <a:rPr lang="en-US" b="0" i="1" smtClean="0">
                        <a:latin typeface="Cambria Math" panose="02040503050406030204" pitchFamily="18" charset="0"/>
                        <a:ea typeface="Cambria Math" panose="02040503050406030204" pitchFamily="18" charset="0"/>
                      </a:rPr>
                      <m:t>∈{0,1}</m:t>
                    </m:r>
                  </m:oMath>
                </a14:m>
                <a:r>
                  <a:rPr lang="en-US" dirty="0"/>
                  <a:t> is the output (binary classification), and </a:t>
                </a:r>
                <a14:m>
                  <m:oMath xmlns:m="http://schemas.openxmlformats.org/officeDocument/2006/math">
                    <m:r>
                      <a:rPr lang="en-US" i="1">
                        <a:latin typeface="Cambria Math" panose="02040503050406030204" pitchFamily="18" charset="0"/>
                      </a:rPr>
                      <m:t>𝑁𝑁</m:t>
                    </m:r>
                    <m:r>
                      <a:rPr lang="en-US" i="1">
                        <a:latin typeface="Cambria Math" panose="02040503050406030204" pitchFamily="18" charset="0"/>
                      </a:rPr>
                      <m:t>(</m:t>
                    </m:r>
                    <m:r>
                      <m:rPr>
                        <m:nor/>
                      </m:rPr>
                      <a:rPr lang="en-US" b="1">
                        <a:latin typeface="Cambria Math" panose="02040503050406030204" pitchFamily="18" charset="0"/>
                      </a:rPr>
                      <m:t>x</m:t>
                    </m:r>
                    <m:r>
                      <a:rPr lang="en-US" i="1">
                        <a:latin typeface="Cambria Math" panose="02040503050406030204" pitchFamily="18" charset="0"/>
                      </a:rPr>
                      <m:t>,</m:t>
                    </m:r>
                    <m:r>
                      <m:rPr>
                        <m:nor/>
                      </m:rPr>
                      <a:rPr lang="en-US" b="1">
                        <a:latin typeface="Cambria Math" panose="02040503050406030204" pitchFamily="18" charset="0"/>
                      </a:rPr>
                      <m:t>w</m:t>
                    </m:r>
                    <m:r>
                      <m:rPr>
                        <m:nor/>
                      </m:rPr>
                      <a:rPr lang="en-US" b="1">
                        <a:latin typeface="Cambria Math" panose="02040503050406030204" pitchFamily="18" charset="0"/>
                      </a:rPr>
                      <m:t>)</m:t>
                    </m:r>
                  </m:oMath>
                </a14:m>
                <a:r>
                  <a:rPr lang="en-US" dirty="0"/>
                  <a:t> is the function (deterministic) implemented by the neural network whose weights and biases form the latent variables </a:t>
                </a:r>
                <a14:m>
                  <m:oMath xmlns:m="http://schemas.openxmlformats.org/officeDocument/2006/math">
                    <m:r>
                      <m:rPr>
                        <m:nor/>
                      </m:rPr>
                      <a:rPr lang="en-US" b="1" i="0" smtClean="0">
                        <a:latin typeface="Cambria Math" panose="02040503050406030204" pitchFamily="18" charset="0"/>
                      </a:rPr>
                      <m:t>w</m:t>
                    </m:r>
                  </m:oMath>
                </a14:m>
                <a:r>
                  <a:rPr lang="en-US" dirty="0"/>
                  <a:t>. The output of the neural network must be a value between 0 and 1 (for example the last layer has only one sigmoid neuron).</a:t>
                </a:r>
              </a:p>
              <a:p>
                <a:pPr marL="0" indent="0">
                  <a:buNone/>
                </a:pPr>
                <a:r>
                  <a:rPr lang="en-US" dirty="0"/>
                  <a:t>Or:</a:t>
                </a:r>
              </a:p>
              <a:p>
                <a:pPr marL="0" indent="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𝑝</m:t>
                      </m:r>
                      <m:d>
                        <m:dPr>
                          <m:ctrlPr>
                            <a:rPr lang="en-US" i="1">
                              <a:latin typeface="Cambria Math" panose="02040503050406030204" pitchFamily="18" charset="0"/>
                            </a:rPr>
                          </m:ctrlPr>
                        </m:dPr>
                        <m:e>
                          <m:r>
                            <a:rPr lang="en-US" i="1">
                              <a:latin typeface="Cambria Math" panose="02040503050406030204" pitchFamily="18" charset="0"/>
                            </a:rPr>
                            <m:t>𝑦</m:t>
                          </m:r>
                        </m:e>
                        <m:e>
                          <m:r>
                            <m:rPr>
                              <m:nor/>
                            </m:rPr>
                            <a:rPr lang="en-US" b="1">
                              <a:latin typeface="Cambria Math" panose="02040503050406030204" pitchFamily="18" charset="0"/>
                            </a:rPr>
                            <m:t>x</m:t>
                          </m:r>
                          <m:r>
                            <a:rPr lang="en-US" i="1">
                              <a:latin typeface="Cambria Math" panose="02040503050406030204" pitchFamily="18" charset="0"/>
                            </a:rPr>
                            <m:t>,</m:t>
                          </m:r>
                          <m:r>
                            <m:rPr>
                              <m:nor/>
                            </m:rPr>
                            <a:rPr lang="en-US" b="1">
                              <a:latin typeface="Cambria Math" panose="02040503050406030204" pitchFamily="18" charset="0"/>
                            </a:rPr>
                            <m:t>w</m:t>
                          </m:r>
                        </m:e>
                      </m:d>
                      <m:r>
                        <a:rPr lang="en-US" i="1">
                          <a:latin typeface="Cambria Math" panose="02040503050406030204" pitchFamily="18" charset="0"/>
                        </a:rPr>
                        <m:t>=</m:t>
                      </m:r>
                      <m:r>
                        <m:rPr>
                          <m:nor/>
                        </m:rPr>
                        <a:rPr lang="en-US" b="0" i="0" smtClean="0">
                          <a:latin typeface="Cambria Math" panose="02040503050406030204" pitchFamily="18" charset="0"/>
                        </a:rPr>
                        <m:t>Catego</m:t>
                      </m:r>
                      <m:r>
                        <m:rPr>
                          <m:nor/>
                        </m:rPr>
                        <a:rPr lang="en-US">
                          <a:latin typeface="Cambria Math" panose="02040503050406030204" pitchFamily="18" charset="0"/>
                        </a:rPr>
                        <m:t>r</m:t>
                      </m:r>
                      <m:r>
                        <m:rPr>
                          <m:nor/>
                        </m:rPr>
                        <a:rPr lang="en-US" b="0" i="0" smtClean="0">
                          <a:latin typeface="Cambria Math" panose="02040503050406030204" pitchFamily="18" charset="0"/>
                        </a:rPr>
                        <m:t>ica</m:t>
                      </m:r>
                      <m:r>
                        <m:rPr>
                          <m:nor/>
                        </m:rPr>
                        <a:rPr lang="en-US">
                          <a:latin typeface="Cambria Math" panose="02040503050406030204" pitchFamily="18" charset="0"/>
                        </a:rPr>
                        <m:t>l</m:t>
                      </m:r>
                      <m:r>
                        <a:rPr lang="en-US" i="1">
                          <a:latin typeface="Cambria Math" panose="02040503050406030204" pitchFamily="18" charset="0"/>
                        </a:rPr>
                        <m:t>(</m:t>
                      </m:r>
                      <m:r>
                        <a:rPr lang="en-US" i="1">
                          <a:latin typeface="Cambria Math" panose="02040503050406030204" pitchFamily="18" charset="0"/>
                        </a:rPr>
                        <m:t>𝑁𝑁</m:t>
                      </m:r>
                      <m:r>
                        <a:rPr lang="en-US" i="1">
                          <a:latin typeface="Cambria Math" panose="02040503050406030204" pitchFamily="18" charset="0"/>
                        </a:rPr>
                        <m:t>(</m:t>
                      </m:r>
                      <m:r>
                        <m:rPr>
                          <m:nor/>
                        </m:rPr>
                        <a:rPr lang="en-US" b="1">
                          <a:latin typeface="Cambria Math" panose="02040503050406030204" pitchFamily="18" charset="0"/>
                        </a:rPr>
                        <m:t>x</m:t>
                      </m:r>
                      <m:r>
                        <a:rPr lang="en-US" i="1">
                          <a:latin typeface="Cambria Math" panose="02040503050406030204" pitchFamily="18" charset="0"/>
                        </a:rPr>
                        <m:t>,</m:t>
                      </m:r>
                      <m:r>
                        <m:rPr>
                          <m:nor/>
                        </m:rPr>
                        <a:rPr lang="en-US" b="1">
                          <a:latin typeface="Cambria Math" panose="02040503050406030204" pitchFamily="18" charset="0"/>
                        </a:rPr>
                        <m:t>w</m:t>
                      </m:r>
                      <m:r>
                        <m:rPr>
                          <m:nor/>
                        </m:rPr>
                        <a:rPr lang="en-US" b="1">
                          <a:latin typeface="Cambria Math" panose="02040503050406030204" pitchFamily="18" charset="0"/>
                        </a:rPr>
                        <m:t>))</m:t>
                      </m:r>
                    </m:oMath>
                  </m:oMathPara>
                </a14:m>
                <a:endParaRPr lang="en-US" dirty="0"/>
              </a:p>
              <a:p>
                <a:pPr marL="0" indent="0" algn="just">
                  <a:buNone/>
                </a:pPr>
                <a:r>
                  <a:rPr lang="en-US" dirty="0"/>
                  <a:t>Where </a:t>
                </a:r>
                <a14:m>
                  <m:oMath xmlns:m="http://schemas.openxmlformats.org/officeDocument/2006/math">
                    <m:r>
                      <m:rPr>
                        <m:nor/>
                      </m:rPr>
                      <a:rPr lang="en-US" b="1">
                        <a:latin typeface="Cambria Math" panose="02040503050406030204" pitchFamily="18" charset="0"/>
                      </a:rPr>
                      <m:t>x</m:t>
                    </m:r>
                    <m:r>
                      <a:rPr lang="en-US" i="1">
                        <a:latin typeface="Cambria Math" panose="02040503050406030204" pitchFamily="18" charset="0"/>
                        <a:ea typeface="Cambria Math" panose="02040503050406030204" pitchFamily="18" charset="0"/>
                      </a:rPr>
                      <m:t>∈</m:t>
                    </m:r>
                    <m:sSup>
                      <m:sSupPr>
                        <m:ctrlPr>
                          <a:rPr lang="en-US"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ℝ</m:t>
                        </m:r>
                      </m:e>
                      <m:sup>
                        <m:r>
                          <a:rPr lang="en-US" i="1">
                            <a:latin typeface="Cambria Math" panose="02040503050406030204" pitchFamily="18" charset="0"/>
                            <a:ea typeface="Cambria Math" panose="02040503050406030204" pitchFamily="18" charset="0"/>
                          </a:rPr>
                          <m:t>𝑑</m:t>
                        </m:r>
                      </m:sup>
                    </m:sSup>
                  </m:oMath>
                </a14:m>
                <a:r>
                  <a:rPr lang="en-US" dirty="0"/>
                  <a:t> is the feature vector, </a:t>
                </a:r>
                <a14:m>
                  <m:oMath xmlns:m="http://schemas.openxmlformats.org/officeDocument/2006/math">
                    <m:r>
                      <a:rPr lang="en-US" i="1">
                        <a:latin typeface="Cambria Math" panose="02040503050406030204" pitchFamily="18" charset="0"/>
                      </a:rPr>
                      <m:t>𝑦</m:t>
                    </m:r>
                    <m:r>
                      <a:rPr lang="en-US" i="1">
                        <a:latin typeface="Cambria Math" panose="02040503050406030204" pitchFamily="18" charset="0"/>
                        <a:ea typeface="Cambria Math" panose="02040503050406030204" pitchFamily="18" charset="0"/>
                      </a:rPr>
                      <m:t>∈{1</m:t>
                    </m:r>
                    <m:r>
                      <a:rPr lang="en-US" b="0" i="1" smtClean="0">
                        <a:latin typeface="Cambria Math" panose="02040503050406030204" pitchFamily="18" charset="0"/>
                        <a:ea typeface="Cambria Math" panose="02040503050406030204" pitchFamily="18" charset="0"/>
                      </a:rPr>
                      <m:t>,2,…</m:t>
                    </m:r>
                    <m:r>
                      <a:rPr lang="en-US" b="0" i="1" smtClean="0">
                        <a:latin typeface="Cambria Math" panose="02040503050406030204" pitchFamily="18" charset="0"/>
                        <a:ea typeface="Cambria Math" panose="02040503050406030204" pitchFamily="18" charset="0"/>
                      </a:rPr>
                      <m:t>𝑘</m:t>
                    </m:r>
                    <m:r>
                      <a:rPr lang="en-US" i="1">
                        <a:latin typeface="Cambria Math" panose="02040503050406030204" pitchFamily="18" charset="0"/>
                        <a:ea typeface="Cambria Math" panose="02040503050406030204" pitchFamily="18" charset="0"/>
                      </a:rPr>
                      <m:t>}</m:t>
                    </m:r>
                  </m:oMath>
                </a14:m>
                <a:r>
                  <a:rPr lang="en-US" dirty="0"/>
                  <a:t> is the output (multiclass classification), and </a:t>
                </a:r>
                <a14:m>
                  <m:oMath xmlns:m="http://schemas.openxmlformats.org/officeDocument/2006/math">
                    <m:r>
                      <a:rPr lang="en-US" i="1">
                        <a:latin typeface="Cambria Math" panose="02040503050406030204" pitchFamily="18" charset="0"/>
                      </a:rPr>
                      <m:t>𝑁𝑁</m:t>
                    </m:r>
                    <m:r>
                      <a:rPr lang="en-US" i="1">
                        <a:latin typeface="Cambria Math" panose="02040503050406030204" pitchFamily="18" charset="0"/>
                      </a:rPr>
                      <m:t>(</m:t>
                    </m:r>
                    <m:r>
                      <m:rPr>
                        <m:nor/>
                      </m:rPr>
                      <a:rPr lang="en-US" b="1">
                        <a:latin typeface="Cambria Math" panose="02040503050406030204" pitchFamily="18" charset="0"/>
                      </a:rPr>
                      <m:t>x</m:t>
                    </m:r>
                    <m:r>
                      <a:rPr lang="en-US" i="1">
                        <a:latin typeface="Cambria Math" panose="02040503050406030204" pitchFamily="18" charset="0"/>
                      </a:rPr>
                      <m:t>,</m:t>
                    </m:r>
                    <m:r>
                      <m:rPr>
                        <m:nor/>
                      </m:rPr>
                      <a:rPr lang="en-US" b="1">
                        <a:latin typeface="Cambria Math" panose="02040503050406030204" pitchFamily="18" charset="0"/>
                      </a:rPr>
                      <m:t>w</m:t>
                    </m:r>
                    <m:r>
                      <m:rPr>
                        <m:nor/>
                      </m:rPr>
                      <a:rPr lang="en-US" b="1">
                        <a:latin typeface="Cambria Math" panose="02040503050406030204" pitchFamily="18" charset="0"/>
                      </a:rPr>
                      <m:t>)</m:t>
                    </m:r>
                  </m:oMath>
                </a14:m>
                <a:r>
                  <a:rPr lang="en-US" dirty="0"/>
                  <a:t> is the function (deterministic) implemented by the neural network whose weights and biases form the latent variables </a:t>
                </a:r>
                <a14:m>
                  <m:oMath xmlns:m="http://schemas.openxmlformats.org/officeDocument/2006/math">
                    <m:r>
                      <m:rPr>
                        <m:nor/>
                      </m:rPr>
                      <a:rPr lang="en-US" b="1">
                        <a:latin typeface="Cambria Math" panose="02040503050406030204" pitchFamily="18" charset="0"/>
                      </a:rPr>
                      <m:t>w</m:t>
                    </m:r>
                  </m:oMath>
                </a14:m>
                <a:r>
                  <a:rPr lang="en-US" dirty="0"/>
                  <a:t>. The outputs of the neural network must sum to 1 (for example the last layer is a </a:t>
                </a:r>
                <a:r>
                  <a:rPr lang="en-US" dirty="0" err="1"/>
                  <a:t>softmax</a:t>
                </a:r>
                <a:r>
                  <a:rPr lang="en-US" dirty="0"/>
                  <a:t> layer).</a:t>
                </a:r>
              </a:p>
            </p:txBody>
          </p:sp>
        </mc:Choice>
        <mc:Fallback xmlns="">
          <p:sp>
            <p:nvSpPr>
              <p:cNvPr id="3" name="Content Placeholder 2">
                <a:extLst>
                  <a:ext uri="{FF2B5EF4-FFF2-40B4-BE49-F238E27FC236}">
                    <a16:creationId xmlns:a16="http://schemas.microsoft.com/office/drawing/2014/main" id="{C51BAEA1-D6CF-474B-B914-353D55C94391}"/>
                  </a:ext>
                </a:extLst>
              </p:cNvPr>
              <p:cNvSpPr>
                <a:spLocks noGrp="1" noRot="1" noChangeAspect="1" noMove="1" noResize="1" noEditPoints="1" noAdjustHandles="1" noChangeArrowheads="1" noChangeShapeType="1" noTextEdit="1"/>
              </p:cNvSpPr>
              <p:nvPr>
                <p:ph idx="1"/>
              </p:nvPr>
            </p:nvSpPr>
            <p:spPr>
              <a:xfrm>
                <a:off x="818712" y="2014780"/>
                <a:ext cx="10554574" cy="4843220"/>
              </a:xfrm>
              <a:blipFill>
                <a:blip r:embed="rId2"/>
                <a:stretch>
                  <a:fillRect l="-462" t="-630" r="-462" b="-1134"/>
                </a:stretch>
              </a:blipFill>
            </p:spPr>
            <p:txBody>
              <a:bodyPr/>
              <a:lstStyle/>
              <a:p>
                <a:r>
                  <a:rPr lang="en-US">
                    <a:noFill/>
                  </a:rPr>
                  <a:t> </a:t>
                </a:r>
              </a:p>
            </p:txBody>
          </p:sp>
        </mc:Fallback>
      </mc:AlternateContent>
    </p:spTree>
    <p:extLst>
      <p:ext uri="{BB962C8B-B14F-4D97-AF65-F5344CB8AC3E}">
        <p14:creationId xmlns:p14="http://schemas.microsoft.com/office/powerpoint/2010/main" val="384582978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3CBAFA-6300-5DEE-F0A4-436E7B8057D0}"/>
              </a:ext>
            </a:extLst>
          </p:cNvPr>
          <p:cNvSpPr>
            <a:spLocks noGrp="1"/>
          </p:cNvSpPr>
          <p:nvPr>
            <p:ph type="title"/>
          </p:nvPr>
        </p:nvSpPr>
        <p:spPr/>
        <p:txBody>
          <a:bodyPr/>
          <a:lstStyle/>
          <a:p>
            <a:r>
              <a:rPr lang="en-US" dirty="0"/>
              <a:t>Why Bayesian Neural Networks?</a:t>
            </a:r>
          </a:p>
        </p:txBody>
      </p:sp>
      <p:sp>
        <p:nvSpPr>
          <p:cNvPr id="3" name="Content Placeholder 2">
            <a:extLst>
              <a:ext uri="{FF2B5EF4-FFF2-40B4-BE49-F238E27FC236}">
                <a16:creationId xmlns:a16="http://schemas.microsoft.com/office/drawing/2014/main" id="{C2EF2A7E-5FC6-0437-4A44-914272F2FC3D}"/>
              </a:ext>
            </a:extLst>
          </p:cNvPr>
          <p:cNvSpPr>
            <a:spLocks noGrp="1"/>
          </p:cNvSpPr>
          <p:nvPr>
            <p:ph idx="1"/>
          </p:nvPr>
        </p:nvSpPr>
        <p:spPr/>
        <p:txBody>
          <a:bodyPr/>
          <a:lstStyle/>
          <a:p>
            <a:pPr algn="just"/>
            <a:r>
              <a:rPr lang="en-US" b="1" dirty="0"/>
              <a:t>Uncertainty in predictions</a:t>
            </a:r>
            <a:r>
              <a:rPr lang="en-US" dirty="0"/>
              <a:t>: the Bayesian Neural Network informs us about the uncertainty in its predictions</a:t>
            </a:r>
          </a:p>
          <a:p>
            <a:pPr algn="just"/>
            <a:r>
              <a:rPr lang="en-US" b="1" dirty="0"/>
              <a:t>Uncertainty in representations</a:t>
            </a:r>
            <a:r>
              <a:rPr lang="en-US" dirty="0"/>
              <a:t>: We also get uncertainty estimates of our weights which could inform us about the stability of the learned representations of the network</a:t>
            </a:r>
          </a:p>
          <a:p>
            <a:pPr algn="just"/>
            <a:r>
              <a:rPr lang="en-US" b="1" dirty="0"/>
              <a:t>Regularization with priors</a:t>
            </a:r>
            <a:r>
              <a:rPr lang="en-US" dirty="0"/>
              <a:t>: Weights are often L2-regularized to avoid overfitting, this very naturally becomes a Gaussian prior for the weight coefficients. We could, however, imagine all kinds of other priors</a:t>
            </a:r>
          </a:p>
          <a:p>
            <a:pPr algn="just"/>
            <a:r>
              <a:rPr lang="en-US" b="1" dirty="0"/>
              <a:t>Transfer learning with informed priors</a:t>
            </a:r>
            <a:r>
              <a:rPr lang="en-US" dirty="0"/>
              <a:t>: If we wanted to train a network on a new object recognition data set, we could bootstrap the learning by placing informed priors centered around weights retrieved from other pre-trained networks</a:t>
            </a:r>
          </a:p>
        </p:txBody>
      </p:sp>
    </p:spTree>
    <p:extLst>
      <p:ext uri="{BB962C8B-B14F-4D97-AF65-F5344CB8AC3E}">
        <p14:creationId xmlns:p14="http://schemas.microsoft.com/office/powerpoint/2010/main" val="383810642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489DD0B-0362-4C13-A12A-35686383AE43}"/>
              </a:ext>
            </a:extLst>
          </p:cNvPr>
          <p:cNvSpPr>
            <a:spLocks noGrp="1"/>
          </p:cNvSpPr>
          <p:nvPr>
            <p:ph type="title"/>
          </p:nvPr>
        </p:nvSpPr>
        <p:spPr/>
        <p:txBody>
          <a:bodyPr/>
          <a:lstStyle/>
          <a:p>
            <a:r>
              <a:rPr lang="en-US" dirty="0"/>
              <a:t>Generating Data</a:t>
            </a:r>
          </a:p>
        </p:txBody>
      </p:sp>
      <p:sp>
        <p:nvSpPr>
          <p:cNvPr id="5" name="Content Placeholder 4">
            <a:extLst>
              <a:ext uri="{FF2B5EF4-FFF2-40B4-BE49-F238E27FC236}">
                <a16:creationId xmlns:a16="http://schemas.microsoft.com/office/drawing/2014/main" id="{6D8C5760-4952-4972-8A3A-EEE2D2DB1F3A}"/>
              </a:ext>
            </a:extLst>
          </p:cNvPr>
          <p:cNvSpPr>
            <a:spLocks noGrp="1"/>
          </p:cNvSpPr>
          <p:nvPr>
            <p:ph idx="1"/>
          </p:nvPr>
        </p:nvSpPr>
        <p:spPr>
          <a:xfrm>
            <a:off x="1799373" y="2073200"/>
            <a:ext cx="8895131" cy="787231"/>
          </a:xfrm>
        </p:spPr>
        <p:txBody>
          <a:bodyPr>
            <a:normAutofit/>
          </a:bodyPr>
          <a:lstStyle/>
          <a:p>
            <a:pPr marL="0" indent="0">
              <a:buNone/>
            </a:pPr>
            <a:r>
              <a:rPr lang="en-US" dirty="0"/>
              <a:t>“Two Moons” dataset: toy dataset for a simple binary classification problem that's not linearly separable.</a:t>
            </a:r>
          </a:p>
        </p:txBody>
      </p:sp>
      <p:pic>
        <p:nvPicPr>
          <p:cNvPr id="1026" name="Picture 2">
            <a:extLst>
              <a:ext uri="{FF2B5EF4-FFF2-40B4-BE49-F238E27FC236}">
                <a16:creationId xmlns:a16="http://schemas.microsoft.com/office/drawing/2014/main" id="{ECC68A7A-B4F0-48D4-9F07-4602E169FA1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90648" y="2836055"/>
            <a:ext cx="5095669" cy="3497449"/>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DCDB74D3-E60E-DBF3-46B9-513382A50729}"/>
              </a:ext>
            </a:extLst>
          </p:cNvPr>
          <p:cNvSpPr txBox="1"/>
          <p:nvPr/>
        </p:nvSpPr>
        <p:spPr>
          <a:xfrm>
            <a:off x="187570" y="2743199"/>
            <a:ext cx="7340471" cy="3970318"/>
          </a:xfrm>
          <a:prstGeom prst="rect">
            <a:avLst/>
          </a:prstGeom>
          <a:noFill/>
        </p:spPr>
        <p:txBody>
          <a:bodyPr wrap="none" rtlCol="0">
            <a:spAutoFit/>
          </a:bodyPr>
          <a:lstStyle/>
          <a:p>
            <a:r>
              <a:rPr lang="en-US" sz="1400" dirty="0">
                <a:latin typeface="Consolas" panose="020B0609020204030204" pitchFamily="49" charset="0"/>
              </a:rPr>
              <a:t>import </a:t>
            </a:r>
            <a:r>
              <a:rPr lang="en-US" sz="1400" dirty="0" err="1">
                <a:latin typeface="Consolas" panose="020B0609020204030204" pitchFamily="49" charset="0"/>
              </a:rPr>
              <a:t>numpy</a:t>
            </a:r>
            <a:r>
              <a:rPr lang="en-US" sz="1400" dirty="0">
                <a:latin typeface="Consolas" panose="020B0609020204030204" pitchFamily="49" charset="0"/>
              </a:rPr>
              <a:t> as np</a:t>
            </a:r>
          </a:p>
          <a:p>
            <a:r>
              <a:rPr lang="en-US" sz="1400" dirty="0">
                <a:latin typeface="Consolas" panose="020B0609020204030204" pitchFamily="49" charset="0"/>
              </a:rPr>
              <a:t>import </a:t>
            </a:r>
            <a:r>
              <a:rPr lang="en-US" sz="1400" dirty="0" err="1">
                <a:latin typeface="Consolas" panose="020B0609020204030204" pitchFamily="49" charset="0"/>
              </a:rPr>
              <a:t>pymc</a:t>
            </a:r>
            <a:r>
              <a:rPr lang="en-US" sz="1400" dirty="0">
                <a:latin typeface="Consolas" panose="020B0609020204030204" pitchFamily="49" charset="0"/>
              </a:rPr>
              <a:t> as pm</a:t>
            </a:r>
          </a:p>
          <a:p>
            <a:r>
              <a:rPr lang="en-US" sz="1400" dirty="0">
                <a:latin typeface="Consolas" panose="020B0609020204030204" pitchFamily="49" charset="0"/>
              </a:rPr>
              <a:t>import </a:t>
            </a:r>
            <a:r>
              <a:rPr lang="en-US" sz="1400" dirty="0" err="1">
                <a:latin typeface="Consolas" panose="020B0609020204030204" pitchFamily="49" charset="0"/>
              </a:rPr>
              <a:t>pytensor</a:t>
            </a:r>
            <a:endParaRPr lang="en-US" sz="1400" dirty="0">
              <a:latin typeface="Consolas" panose="020B0609020204030204" pitchFamily="49" charset="0"/>
            </a:endParaRPr>
          </a:p>
          <a:p>
            <a:r>
              <a:rPr lang="en-US" sz="1400" dirty="0">
                <a:latin typeface="Consolas" panose="020B0609020204030204" pitchFamily="49" charset="0"/>
              </a:rPr>
              <a:t>import </a:t>
            </a:r>
            <a:r>
              <a:rPr lang="en-US" sz="1400" dirty="0" err="1">
                <a:latin typeface="Consolas" panose="020B0609020204030204" pitchFamily="49" charset="0"/>
              </a:rPr>
              <a:t>pytensor.tensor</a:t>
            </a:r>
            <a:r>
              <a:rPr lang="en-US" sz="1400" dirty="0">
                <a:latin typeface="Consolas" panose="020B0609020204030204" pitchFamily="49" charset="0"/>
              </a:rPr>
              <a:t> as pt</a:t>
            </a:r>
          </a:p>
          <a:p>
            <a:endParaRPr lang="en-US" sz="1400" dirty="0">
              <a:latin typeface="Consolas" panose="020B0609020204030204" pitchFamily="49" charset="0"/>
            </a:endParaRPr>
          </a:p>
          <a:p>
            <a:r>
              <a:rPr lang="en-US" sz="1400" dirty="0">
                <a:latin typeface="Consolas" panose="020B0609020204030204" pitchFamily="49" charset="0"/>
              </a:rPr>
              <a:t>from </a:t>
            </a:r>
            <a:r>
              <a:rPr lang="en-US" sz="1400" dirty="0" err="1">
                <a:latin typeface="Consolas" panose="020B0609020204030204" pitchFamily="49" charset="0"/>
              </a:rPr>
              <a:t>sklearn.datasets</a:t>
            </a:r>
            <a:r>
              <a:rPr lang="en-US" sz="1400" dirty="0">
                <a:latin typeface="Consolas" panose="020B0609020204030204" pitchFamily="49" charset="0"/>
              </a:rPr>
              <a:t> import </a:t>
            </a:r>
            <a:r>
              <a:rPr lang="en-US" sz="1400" dirty="0" err="1">
                <a:latin typeface="Consolas" panose="020B0609020204030204" pitchFamily="49" charset="0"/>
              </a:rPr>
              <a:t>make_moons</a:t>
            </a:r>
            <a:endParaRPr lang="en-US" sz="1400" dirty="0">
              <a:latin typeface="Consolas" panose="020B0609020204030204" pitchFamily="49" charset="0"/>
            </a:endParaRPr>
          </a:p>
          <a:p>
            <a:r>
              <a:rPr lang="en-US" sz="1400" dirty="0">
                <a:latin typeface="Consolas" panose="020B0609020204030204" pitchFamily="49" charset="0"/>
              </a:rPr>
              <a:t>from </a:t>
            </a:r>
            <a:r>
              <a:rPr lang="en-US" sz="1400" dirty="0" err="1">
                <a:latin typeface="Consolas" panose="020B0609020204030204" pitchFamily="49" charset="0"/>
              </a:rPr>
              <a:t>sklearn.model_selection</a:t>
            </a:r>
            <a:r>
              <a:rPr lang="en-US" sz="1400" dirty="0">
                <a:latin typeface="Consolas" panose="020B0609020204030204" pitchFamily="49" charset="0"/>
              </a:rPr>
              <a:t> import </a:t>
            </a:r>
            <a:r>
              <a:rPr lang="en-US" sz="1400" dirty="0" err="1">
                <a:latin typeface="Consolas" panose="020B0609020204030204" pitchFamily="49" charset="0"/>
              </a:rPr>
              <a:t>train_test_split</a:t>
            </a:r>
            <a:endParaRPr lang="en-US" sz="1400" dirty="0">
              <a:latin typeface="Consolas" panose="020B0609020204030204" pitchFamily="49" charset="0"/>
            </a:endParaRPr>
          </a:p>
          <a:p>
            <a:r>
              <a:rPr lang="en-US" sz="1400" dirty="0">
                <a:latin typeface="Consolas" panose="020B0609020204030204" pitchFamily="49" charset="0"/>
              </a:rPr>
              <a:t>from </a:t>
            </a:r>
            <a:r>
              <a:rPr lang="en-US" sz="1400" dirty="0" err="1">
                <a:latin typeface="Consolas" panose="020B0609020204030204" pitchFamily="49" charset="0"/>
              </a:rPr>
              <a:t>sklearn.preprocessing</a:t>
            </a:r>
            <a:r>
              <a:rPr lang="en-US" sz="1400" dirty="0">
                <a:latin typeface="Consolas" panose="020B0609020204030204" pitchFamily="49" charset="0"/>
              </a:rPr>
              <a:t> import scale</a:t>
            </a:r>
          </a:p>
          <a:p>
            <a:endParaRPr lang="en-US" sz="1400" dirty="0">
              <a:latin typeface="Consolas" panose="020B0609020204030204" pitchFamily="49" charset="0"/>
            </a:endParaRPr>
          </a:p>
          <a:p>
            <a:r>
              <a:rPr lang="en-US" sz="1400" dirty="0" err="1">
                <a:latin typeface="Consolas" panose="020B0609020204030204" pitchFamily="49" charset="0"/>
              </a:rPr>
              <a:t>floatX</a:t>
            </a:r>
            <a:r>
              <a:rPr lang="en-US" sz="1400" dirty="0">
                <a:latin typeface="Consolas" panose="020B0609020204030204" pitchFamily="49" charset="0"/>
              </a:rPr>
              <a:t> = </a:t>
            </a:r>
            <a:r>
              <a:rPr lang="en-US" sz="1400" dirty="0" err="1">
                <a:latin typeface="Consolas" panose="020B0609020204030204" pitchFamily="49" charset="0"/>
              </a:rPr>
              <a:t>pytensor.config.floatX</a:t>
            </a:r>
            <a:endParaRPr lang="en-US" sz="1400" dirty="0">
              <a:latin typeface="Consolas" panose="020B0609020204030204" pitchFamily="49" charset="0"/>
            </a:endParaRPr>
          </a:p>
          <a:p>
            <a:r>
              <a:rPr lang="en-US" sz="1400" dirty="0">
                <a:latin typeface="Consolas" panose="020B0609020204030204" pitchFamily="49" charset="0"/>
              </a:rPr>
              <a:t>RANDOM_SEED = 9927</a:t>
            </a:r>
          </a:p>
          <a:p>
            <a:r>
              <a:rPr lang="en-US" sz="1400" dirty="0" err="1">
                <a:latin typeface="Consolas" panose="020B0609020204030204" pitchFamily="49" charset="0"/>
              </a:rPr>
              <a:t>rng</a:t>
            </a:r>
            <a:r>
              <a:rPr lang="en-US" sz="1400" dirty="0">
                <a:latin typeface="Consolas" panose="020B0609020204030204" pitchFamily="49" charset="0"/>
              </a:rPr>
              <a:t> = </a:t>
            </a:r>
            <a:r>
              <a:rPr lang="en-US" sz="1400" dirty="0" err="1">
                <a:latin typeface="Consolas" panose="020B0609020204030204" pitchFamily="49" charset="0"/>
              </a:rPr>
              <a:t>np.random.default_rng</a:t>
            </a:r>
            <a:r>
              <a:rPr lang="en-US" sz="1400" dirty="0">
                <a:latin typeface="Consolas" panose="020B0609020204030204" pitchFamily="49" charset="0"/>
              </a:rPr>
              <a:t>(RANDOM_SEED)</a:t>
            </a:r>
          </a:p>
          <a:p>
            <a:endParaRPr lang="en-US" sz="1400" dirty="0">
              <a:latin typeface="Consolas" panose="020B0609020204030204" pitchFamily="49" charset="0"/>
            </a:endParaRPr>
          </a:p>
          <a:p>
            <a:r>
              <a:rPr lang="en-US" sz="1400" dirty="0">
                <a:latin typeface="Consolas" panose="020B0609020204030204" pitchFamily="49" charset="0"/>
              </a:rPr>
              <a:t>X, Y = </a:t>
            </a:r>
            <a:r>
              <a:rPr lang="en-US" sz="1400" dirty="0" err="1">
                <a:latin typeface="Consolas" panose="020B0609020204030204" pitchFamily="49" charset="0"/>
              </a:rPr>
              <a:t>make_moons</a:t>
            </a:r>
            <a:r>
              <a:rPr lang="en-US" sz="1400" dirty="0">
                <a:latin typeface="Consolas" panose="020B0609020204030204" pitchFamily="49" charset="0"/>
              </a:rPr>
              <a:t>(noise=0.2, </a:t>
            </a:r>
            <a:r>
              <a:rPr lang="en-US" sz="1400" dirty="0" err="1">
                <a:latin typeface="Consolas" panose="020B0609020204030204" pitchFamily="49" charset="0"/>
              </a:rPr>
              <a:t>random_state</a:t>
            </a:r>
            <a:r>
              <a:rPr lang="en-US" sz="1400" dirty="0">
                <a:latin typeface="Consolas" panose="020B0609020204030204" pitchFamily="49" charset="0"/>
              </a:rPr>
              <a:t>=0, </a:t>
            </a:r>
            <a:r>
              <a:rPr lang="en-US" sz="1400" dirty="0" err="1">
                <a:latin typeface="Consolas" panose="020B0609020204030204" pitchFamily="49" charset="0"/>
              </a:rPr>
              <a:t>n_samples</a:t>
            </a:r>
            <a:r>
              <a:rPr lang="en-US" sz="1400" dirty="0">
                <a:latin typeface="Consolas" panose="020B0609020204030204" pitchFamily="49" charset="0"/>
              </a:rPr>
              <a:t>=1000)</a:t>
            </a:r>
          </a:p>
          <a:p>
            <a:r>
              <a:rPr lang="en-US" sz="1400" dirty="0">
                <a:latin typeface="Consolas" panose="020B0609020204030204" pitchFamily="49" charset="0"/>
              </a:rPr>
              <a:t>X = scale(X)</a:t>
            </a:r>
          </a:p>
          <a:p>
            <a:r>
              <a:rPr lang="en-US" sz="1400" dirty="0">
                <a:latin typeface="Consolas" panose="020B0609020204030204" pitchFamily="49" charset="0"/>
              </a:rPr>
              <a:t>X = </a:t>
            </a:r>
            <a:r>
              <a:rPr lang="en-US" sz="1400" dirty="0" err="1">
                <a:latin typeface="Consolas" panose="020B0609020204030204" pitchFamily="49" charset="0"/>
              </a:rPr>
              <a:t>X.astype</a:t>
            </a:r>
            <a:r>
              <a:rPr lang="en-US" sz="1400" dirty="0">
                <a:latin typeface="Consolas" panose="020B0609020204030204" pitchFamily="49" charset="0"/>
              </a:rPr>
              <a:t>(</a:t>
            </a:r>
            <a:r>
              <a:rPr lang="en-US" sz="1400" dirty="0" err="1">
                <a:latin typeface="Consolas" panose="020B0609020204030204" pitchFamily="49" charset="0"/>
              </a:rPr>
              <a:t>floatX</a:t>
            </a:r>
            <a:r>
              <a:rPr lang="en-US" sz="1400" dirty="0">
                <a:latin typeface="Consolas" panose="020B0609020204030204" pitchFamily="49" charset="0"/>
              </a:rPr>
              <a:t>)</a:t>
            </a:r>
          </a:p>
          <a:p>
            <a:r>
              <a:rPr lang="en-US" sz="1400" dirty="0">
                <a:latin typeface="Consolas" panose="020B0609020204030204" pitchFamily="49" charset="0"/>
              </a:rPr>
              <a:t>Y = </a:t>
            </a:r>
            <a:r>
              <a:rPr lang="en-US" sz="1400" dirty="0" err="1">
                <a:latin typeface="Consolas" panose="020B0609020204030204" pitchFamily="49" charset="0"/>
              </a:rPr>
              <a:t>Y.astype</a:t>
            </a:r>
            <a:r>
              <a:rPr lang="en-US" sz="1400" dirty="0">
                <a:latin typeface="Consolas" panose="020B0609020204030204" pitchFamily="49" charset="0"/>
              </a:rPr>
              <a:t>(</a:t>
            </a:r>
            <a:r>
              <a:rPr lang="en-US" sz="1400" dirty="0" err="1">
                <a:latin typeface="Consolas" panose="020B0609020204030204" pitchFamily="49" charset="0"/>
              </a:rPr>
              <a:t>floatX</a:t>
            </a:r>
            <a:r>
              <a:rPr lang="en-US" sz="1400" dirty="0">
                <a:latin typeface="Consolas" panose="020B0609020204030204" pitchFamily="49" charset="0"/>
              </a:rPr>
              <a:t>)</a:t>
            </a:r>
          </a:p>
          <a:p>
            <a:r>
              <a:rPr lang="en-US" sz="1400" dirty="0" err="1">
                <a:latin typeface="Consolas" panose="020B0609020204030204" pitchFamily="49" charset="0"/>
              </a:rPr>
              <a:t>X_train</a:t>
            </a:r>
            <a:r>
              <a:rPr lang="en-US" sz="1400" dirty="0">
                <a:latin typeface="Consolas" panose="020B0609020204030204" pitchFamily="49" charset="0"/>
              </a:rPr>
              <a:t>, </a:t>
            </a:r>
            <a:r>
              <a:rPr lang="en-US" sz="1400" dirty="0" err="1">
                <a:latin typeface="Consolas" panose="020B0609020204030204" pitchFamily="49" charset="0"/>
              </a:rPr>
              <a:t>X_test</a:t>
            </a:r>
            <a:r>
              <a:rPr lang="en-US" sz="1400" dirty="0">
                <a:latin typeface="Consolas" panose="020B0609020204030204" pitchFamily="49" charset="0"/>
              </a:rPr>
              <a:t>, </a:t>
            </a:r>
            <a:r>
              <a:rPr lang="en-US" sz="1400" dirty="0" err="1">
                <a:latin typeface="Consolas" panose="020B0609020204030204" pitchFamily="49" charset="0"/>
              </a:rPr>
              <a:t>Y_train</a:t>
            </a:r>
            <a:r>
              <a:rPr lang="en-US" sz="1400" dirty="0">
                <a:latin typeface="Consolas" panose="020B0609020204030204" pitchFamily="49" charset="0"/>
              </a:rPr>
              <a:t>, </a:t>
            </a:r>
            <a:r>
              <a:rPr lang="en-US" sz="1400" dirty="0" err="1">
                <a:latin typeface="Consolas" panose="020B0609020204030204" pitchFamily="49" charset="0"/>
              </a:rPr>
              <a:t>Y_test</a:t>
            </a:r>
            <a:r>
              <a:rPr lang="en-US" sz="1400" dirty="0">
                <a:latin typeface="Consolas" panose="020B0609020204030204" pitchFamily="49" charset="0"/>
              </a:rPr>
              <a:t> = </a:t>
            </a:r>
            <a:r>
              <a:rPr lang="en-US" sz="1400" dirty="0" err="1">
                <a:latin typeface="Consolas" panose="020B0609020204030204" pitchFamily="49" charset="0"/>
              </a:rPr>
              <a:t>train_test_split</a:t>
            </a:r>
            <a:r>
              <a:rPr lang="en-US" sz="1400" dirty="0">
                <a:latin typeface="Consolas" panose="020B0609020204030204" pitchFamily="49" charset="0"/>
              </a:rPr>
              <a:t>(X, Y, </a:t>
            </a:r>
            <a:r>
              <a:rPr lang="en-US" sz="1400" dirty="0" err="1">
                <a:latin typeface="Consolas" panose="020B0609020204030204" pitchFamily="49" charset="0"/>
              </a:rPr>
              <a:t>test_size</a:t>
            </a:r>
            <a:r>
              <a:rPr lang="en-US" sz="1400" dirty="0">
                <a:latin typeface="Consolas" panose="020B0609020204030204" pitchFamily="49" charset="0"/>
              </a:rPr>
              <a:t>=0.5)</a:t>
            </a:r>
          </a:p>
        </p:txBody>
      </p:sp>
    </p:spTree>
    <p:extLst>
      <p:ext uri="{BB962C8B-B14F-4D97-AF65-F5344CB8AC3E}">
        <p14:creationId xmlns:p14="http://schemas.microsoft.com/office/powerpoint/2010/main" val="392593518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ED2BE21-D7E0-861D-1130-0EF65F70BAF0}"/>
              </a:ext>
            </a:extLst>
          </p:cNvPr>
          <p:cNvSpPr>
            <a:spLocks noGrp="1"/>
          </p:cNvSpPr>
          <p:nvPr>
            <p:ph type="title"/>
          </p:nvPr>
        </p:nvSpPr>
        <p:spPr/>
        <p:txBody>
          <a:bodyPr/>
          <a:lstStyle/>
          <a:p>
            <a:r>
              <a:rPr lang="en-US" dirty="0"/>
              <a:t>Model Specification</a:t>
            </a:r>
          </a:p>
        </p:txBody>
      </p:sp>
      <p:sp>
        <p:nvSpPr>
          <p:cNvPr id="5" name="Content Placeholder 4">
            <a:extLst>
              <a:ext uri="{FF2B5EF4-FFF2-40B4-BE49-F238E27FC236}">
                <a16:creationId xmlns:a16="http://schemas.microsoft.com/office/drawing/2014/main" id="{F59D01C3-5043-F3E8-4A3D-90E9490F9786}"/>
              </a:ext>
            </a:extLst>
          </p:cNvPr>
          <p:cNvSpPr>
            <a:spLocks noGrp="1"/>
          </p:cNvSpPr>
          <p:nvPr>
            <p:ph idx="1"/>
          </p:nvPr>
        </p:nvSpPr>
        <p:spPr>
          <a:xfrm>
            <a:off x="4620684" y="0"/>
            <a:ext cx="7571315" cy="6858000"/>
          </a:xfrm>
        </p:spPr>
        <p:txBody>
          <a:bodyPr>
            <a:normAutofit fontScale="70000" lnSpcReduction="20000"/>
          </a:bodyPr>
          <a:lstStyle/>
          <a:p>
            <a:pPr marL="0" indent="0">
              <a:buNone/>
            </a:pPr>
            <a:r>
              <a:rPr lang="en-US" sz="1400" dirty="0">
                <a:latin typeface="Consolas" panose="020B0609020204030204" pitchFamily="49" charset="0"/>
              </a:rPr>
              <a:t>def </a:t>
            </a:r>
            <a:r>
              <a:rPr lang="en-US" sz="1400" dirty="0" err="1">
                <a:latin typeface="Consolas" panose="020B0609020204030204" pitchFamily="49" charset="0"/>
              </a:rPr>
              <a:t>construct_nn</a:t>
            </a:r>
            <a:r>
              <a:rPr lang="en-US" sz="1400" dirty="0">
                <a:latin typeface="Consolas" panose="020B0609020204030204" pitchFamily="49" charset="0"/>
              </a:rPr>
              <a:t>(</a:t>
            </a:r>
            <a:r>
              <a:rPr lang="en-US" sz="1400" dirty="0" err="1">
                <a:latin typeface="Consolas" panose="020B0609020204030204" pitchFamily="49" charset="0"/>
              </a:rPr>
              <a:t>ann_input</a:t>
            </a:r>
            <a:r>
              <a:rPr lang="en-US" sz="1400" dirty="0">
                <a:latin typeface="Consolas" panose="020B0609020204030204" pitchFamily="49" charset="0"/>
              </a:rPr>
              <a:t>, </a:t>
            </a:r>
            <a:r>
              <a:rPr lang="en-US" sz="1400" dirty="0" err="1">
                <a:latin typeface="Consolas" panose="020B0609020204030204" pitchFamily="49" charset="0"/>
              </a:rPr>
              <a:t>ann_output</a:t>
            </a:r>
            <a:r>
              <a:rPr lang="en-US" sz="1400" dirty="0">
                <a:latin typeface="Consolas" panose="020B0609020204030204" pitchFamily="49" charset="0"/>
              </a:rPr>
              <a:t>):</a:t>
            </a:r>
          </a:p>
          <a:p>
            <a:pPr marL="0" indent="0">
              <a:buNone/>
            </a:pPr>
            <a:r>
              <a:rPr lang="en-US" sz="1400" dirty="0">
                <a:latin typeface="Consolas" panose="020B0609020204030204" pitchFamily="49" charset="0"/>
              </a:rPr>
              <a:t>    </a:t>
            </a:r>
            <a:r>
              <a:rPr lang="en-US" sz="1400" dirty="0" err="1">
                <a:latin typeface="Consolas" panose="020B0609020204030204" pitchFamily="49" charset="0"/>
              </a:rPr>
              <a:t>n_hidden</a:t>
            </a:r>
            <a:r>
              <a:rPr lang="en-US" sz="1400" dirty="0">
                <a:latin typeface="Consolas" panose="020B0609020204030204" pitchFamily="49" charset="0"/>
              </a:rPr>
              <a:t> = 5</a:t>
            </a:r>
          </a:p>
          <a:p>
            <a:pPr marL="0" indent="0">
              <a:buNone/>
            </a:pPr>
            <a:endParaRPr lang="en-US" sz="1400" dirty="0">
              <a:latin typeface="Consolas" panose="020B0609020204030204" pitchFamily="49" charset="0"/>
            </a:endParaRPr>
          </a:p>
          <a:p>
            <a:pPr marL="0" indent="0">
              <a:buNone/>
            </a:pPr>
            <a:r>
              <a:rPr lang="en-US" sz="1400" dirty="0">
                <a:latin typeface="Consolas" panose="020B0609020204030204" pitchFamily="49" charset="0"/>
              </a:rPr>
              <a:t>    # Initialize random weights between each layer</a:t>
            </a:r>
          </a:p>
          <a:p>
            <a:pPr marL="0" indent="0">
              <a:buNone/>
            </a:pPr>
            <a:r>
              <a:rPr lang="en-US" sz="1400" dirty="0">
                <a:latin typeface="Consolas" panose="020B0609020204030204" pitchFamily="49" charset="0"/>
              </a:rPr>
              <a:t>    init_1 = </a:t>
            </a:r>
            <a:r>
              <a:rPr lang="en-US" sz="1400" dirty="0" err="1">
                <a:latin typeface="Consolas" panose="020B0609020204030204" pitchFamily="49" charset="0"/>
              </a:rPr>
              <a:t>rng.standard_normal</a:t>
            </a:r>
            <a:r>
              <a:rPr lang="en-US" sz="1400" dirty="0">
                <a:latin typeface="Consolas" panose="020B0609020204030204" pitchFamily="49" charset="0"/>
              </a:rPr>
              <a:t>(size=(</a:t>
            </a:r>
            <a:r>
              <a:rPr lang="en-US" sz="1400" dirty="0" err="1">
                <a:latin typeface="Consolas" panose="020B0609020204030204" pitchFamily="49" charset="0"/>
              </a:rPr>
              <a:t>X_train.shape</a:t>
            </a:r>
            <a:r>
              <a:rPr lang="en-US" sz="1400" dirty="0">
                <a:latin typeface="Consolas" panose="020B0609020204030204" pitchFamily="49" charset="0"/>
              </a:rPr>
              <a:t>[1], </a:t>
            </a:r>
            <a:r>
              <a:rPr lang="en-US" sz="1400" dirty="0" err="1">
                <a:latin typeface="Consolas" panose="020B0609020204030204" pitchFamily="49" charset="0"/>
              </a:rPr>
              <a:t>n_hidden</a:t>
            </a:r>
            <a:r>
              <a:rPr lang="en-US" sz="1400" dirty="0">
                <a:latin typeface="Consolas" panose="020B0609020204030204" pitchFamily="49" charset="0"/>
              </a:rPr>
              <a:t>)).</a:t>
            </a:r>
            <a:r>
              <a:rPr lang="en-US" sz="1400" dirty="0" err="1">
                <a:latin typeface="Consolas" panose="020B0609020204030204" pitchFamily="49" charset="0"/>
              </a:rPr>
              <a:t>astype</a:t>
            </a:r>
            <a:r>
              <a:rPr lang="en-US" sz="1400" dirty="0">
                <a:latin typeface="Consolas" panose="020B0609020204030204" pitchFamily="49" charset="0"/>
              </a:rPr>
              <a:t>(</a:t>
            </a:r>
            <a:r>
              <a:rPr lang="en-US" sz="1400" dirty="0" err="1">
                <a:latin typeface="Consolas" panose="020B0609020204030204" pitchFamily="49" charset="0"/>
              </a:rPr>
              <a:t>floatX</a:t>
            </a:r>
            <a:r>
              <a:rPr lang="en-US" sz="1400" dirty="0">
                <a:latin typeface="Consolas" panose="020B0609020204030204" pitchFamily="49" charset="0"/>
              </a:rPr>
              <a:t>)</a:t>
            </a:r>
          </a:p>
          <a:p>
            <a:pPr marL="0" indent="0">
              <a:buNone/>
            </a:pPr>
            <a:r>
              <a:rPr lang="en-US" sz="1400" dirty="0">
                <a:latin typeface="Consolas" panose="020B0609020204030204" pitchFamily="49" charset="0"/>
              </a:rPr>
              <a:t>    init_2 = </a:t>
            </a:r>
            <a:r>
              <a:rPr lang="en-US" sz="1400" dirty="0" err="1">
                <a:latin typeface="Consolas" panose="020B0609020204030204" pitchFamily="49" charset="0"/>
              </a:rPr>
              <a:t>rng.standard_normal</a:t>
            </a:r>
            <a:r>
              <a:rPr lang="en-US" sz="1400" dirty="0">
                <a:latin typeface="Consolas" panose="020B0609020204030204" pitchFamily="49" charset="0"/>
              </a:rPr>
              <a:t>(size=(</a:t>
            </a:r>
            <a:r>
              <a:rPr lang="en-US" sz="1400" dirty="0" err="1">
                <a:latin typeface="Consolas" panose="020B0609020204030204" pitchFamily="49" charset="0"/>
              </a:rPr>
              <a:t>n_hidden</a:t>
            </a:r>
            <a:r>
              <a:rPr lang="en-US" sz="1400" dirty="0">
                <a:latin typeface="Consolas" panose="020B0609020204030204" pitchFamily="49" charset="0"/>
              </a:rPr>
              <a:t>, </a:t>
            </a:r>
            <a:r>
              <a:rPr lang="en-US" sz="1400" dirty="0" err="1">
                <a:latin typeface="Consolas" panose="020B0609020204030204" pitchFamily="49" charset="0"/>
              </a:rPr>
              <a:t>n_hidden</a:t>
            </a:r>
            <a:r>
              <a:rPr lang="en-US" sz="1400" dirty="0">
                <a:latin typeface="Consolas" panose="020B0609020204030204" pitchFamily="49" charset="0"/>
              </a:rPr>
              <a:t>)).</a:t>
            </a:r>
            <a:r>
              <a:rPr lang="en-US" sz="1400" dirty="0" err="1">
                <a:latin typeface="Consolas" panose="020B0609020204030204" pitchFamily="49" charset="0"/>
              </a:rPr>
              <a:t>astype</a:t>
            </a:r>
            <a:r>
              <a:rPr lang="en-US" sz="1400" dirty="0">
                <a:latin typeface="Consolas" panose="020B0609020204030204" pitchFamily="49" charset="0"/>
              </a:rPr>
              <a:t>(</a:t>
            </a:r>
            <a:r>
              <a:rPr lang="en-US" sz="1400" dirty="0" err="1">
                <a:latin typeface="Consolas" panose="020B0609020204030204" pitchFamily="49" charset="0"/>
              </a:rPr>
              <a:t>floatX</a:t>
            </a:r>
            <a:r>
              <a:rPr lang="en-US" sz="1400" dirty="0">
                <a:latin typeface="Consolas" panose="020B0609020204030204" pitchFamily="49" charset="0"/>
              </a:rPr>
              <a:t>)</a:t>
            </a:r>
          </a:p>
          <a:p>
            <a:pPr marL="0" indent="0">
              <a:buNone/>
            </a:pPr>
            <a:r>
              <a:rPr lang="en-US" sz="1400" dirty="0">
                <a:latin typeface="Consolas" panose="020B0609020204030204" pitchFamily="49" charset="0"/>
              </a:rPr>
              <a:t>    </a:t>
            </a:r>
            <a:r>
              <a:rPr lang="en-US" sz="1400" dirty="0" err="1">
                <a:latin typeface="Consolas" panose="020B0609020204030204" pitchFamily="49" charset="0"/>
              </a:rPr>
              <a:t>init_out</a:t>
            </a:r>
            <a:r>
              <a:rPr lang="en-US" sz="1400" dirty="0">
                <a:latin typeface="Consolas" panose="020B0609020204030204" pitchFamily="49" charset="0"/>
              </a:rPr>
              <a:t> = </a:t>
            </a:r>
            <a:r>
              <a:rPr lang="en-US" sz="1400" dirty="0" err="1">
                <a:latin typeface="Consolas" panose="020B0609020204030204" pitchFamily="49" charset="0"/>
              </a:rPr>
              <a:t>rng.standard_normal</a:t>
            </a:r>
            <a:r>
              <a:rPr lang="en-US" sz="1400" dirty="0">
                <a:latin typeface="Consolas" panose="020B0609020204030204" pitchFamily="49" charset="0"/>
              </a:rPr>
              <a:t>(size=</a:t>
            </a:r>
            <a:r>
              <a:rPr lang="en-US" sz="1400" dirty="0" err="1">
                <a:latin typeface="Consolas" panose="020B0609020204030204" pitchFamily="49" charset="0"/>
              </a:rPr>
              <a:t>n_hidden</a:t>
            </a:r>
            <a:r>
              <a:rPr lang="en-US" sz="1400" dirty="0">
                <a:latin typeface="Consolas" panose="020B0609020204030204" pitchFamily="49" charset="0"/>
              </a:rPr>
              <a:t>).</a:t>
            </a:r>
            <a:r>
              <a:rPr lang="en-US" sz="1400" dirty="0" err="1">
                <a:latin typeface="Consolas" panose="020B0609020204030204" pitchFamily="49" charset="0"/>
              </a:rPr>
              <a:t>astype</a:t>
            </a:r>
            <a:r>
              <a:rPr lang="en-US" sz="1400" dirty="0">
                <a:latin typeface="Consolas" panose="020B0609020204030204" pitchFamily="49" charset="0"/>
              </a:rPr>
              <a:t>(</a:t>
            </a:r>
            <a:r>
              <a:rPr lang="en-US" sz="1400" dirty="0" err="1">
                <a:latin typeface="Consolas" panose="020B0609020204030204" pitchFamily="49" charset="0"/>
              </a:rPr>
              <a:t>floatX</a:t>
            </a:r>
            <a:r>
              <a:rPr lang="en-US" sz="1400" dirty="0">
                <a:latin typeface="Consolas" panose="020B0609020204030204" pitchFamily="49" charset="0"/>
              </a:rPr>
              <a:t>)</a:t>
            </a:r>
          </a:p>
          <a:p>
            <a:pPr marL="0" indent="0">
              <a:buNone/>
            </a:pPr>
            <a:endParaRPr lang="en-US" sz="1400" dirty="0">
              <a:latin typeface="Consolas" panose="020B0609020204030204" pitchFamily="49" charset="0"/>
            </a:endParaRPr>
          </a:p>
          <a:p>
            <a:pPr marL="0" indent="0">
              <a:buNone/>
            </a:pPr>
            <a:r>
              <a:rPr lang="en-US" sz="1400" dirty="0">
                <a:latin typeface="Consolas" panose="020B0609020204030204" pitchFamily="49" charset="0"/>
              </a:rPr>
              <a:t>    coords = {</a:t>
            </a:r>
          </a:p>
          <a:p>
            <a:pPr marL="0" indent="0">
              <a:buNone/>
            </a:pPr>
            <a:r>
              <a:rPr lang="en-US" sz="1400" dirty="0">
                <a:latin typeface="Consolas" panose="020B0609020204030204" pitchFamily="49" charset="0"/>
              </a:rPr>
              <a:t>        "hidden_layer_1": </a:t>
            </a:r>
            <a:r>
              <a:rPr lang="en-US" sz="1400" dirty="0" err="1">
                <a:latin typeface="Consolas" panose="020B0609020204030204" pitchFamily="49" charset="0"/>
              </a:rPr>
              <a:t>np.arange</a:t>
            </a:r>
            <a:r>
              <a:rPr lang="en-US" sz="1400" dirty="0">
                <a:latin typeface="Consolas" panose="020B0609020204030204" pitchFamily="49" charset="0"/>
              </a:rPr>
              <a:t>(</a:t>
            </a:r>
            <a:r>
              <a:rPr lang="en-US" sz="1400" dirty="0" err="1">
                <a:latin typeface="Consolas" panose="020B0609020204030204" pitchFamily="49" charset="0"/>
              </a:rPr>
              <a:t>n_hidden</a:t>
            </a:r>
            <a:r>
              <a:rPr lang="en-US" sz="1400" dirty="0">
                <a:latin typeface="Consolas" panose="020B0609020204030204" pitchFamily="49" charset="0"/>
              </a:rPr>
              <a:t>),</a:t>
            </a:r>
          </a:p>
          <a:p>
            <a:pPr marL="0" indent="0">
              <a:buNone/>
            </a:pPr>
            <a:r>
              <a:rPr lang="en-US" sz="1400" dirty="0">
                <a:latin typeface="Consolas" panose="020B0609020204030204" pitchFamily="49" charset="0"/>
              </a:rPr>
              <a:t>        "hidden_layer_2": </a:t>
            </a:r>
            <a:r>
              <a:rPr lang="en-US" sz="1400" dirty="0" err="1">
                <a:latin typeface="Consolas" panose="020B0609020204030204" pitchFamily="49" charset="0"/>
              </a:rPr>
              <a:t>np.arange</a:t>
            </a:r>
            <a:r>
              <a:rPr lang="en-US" sz="1400" dirty="0">
                <a:latin typeface="Consolas" panose="020B0609020204030204" pitchFamily="49" charset="0"/>
              </a:rPr>
              <a:t>(</a:t>
            </a:r>
            <a:r>
              <a:rPr lang="en-US" sz="1400" dirty="0" err="1">
                <a:latin typeface="Consolas" panose="020B0609020204030204" pitchFamily="49" charset="0"/>
              </a:rPr>
              <a:t>n_hidden</a:t>
            </a:r>
            <a:r>
              <a:rPr lang="en-US" sz="1400" dirty="0">
                <a:latin typeface="Consolas" panose="020B0609020204030204" pitchFamily="49" charset="0"/>
              </a:rPr>
              <a:t>),</a:t>
            </a:r>
          </a:p>
          <a:p>
            <a:pPr marL="0" indent="0">
              <a:buNone/>
            </a:pPr>
            <a:r>
              <a:rPr lang="en-US" sz="1400" dirty="0">
                <a:latin typeface="Consolas" panose="020B0609020204030204" pitchFamily="49" charset="0"/>
              </a:rPr>
              <a:t>        "</a:t>
            </a:r>
            <a:r>
              <a:rPr lang="en-US" sz="1400" dirty="0" err="1">
                <a:latin typeface="Consolas" panose="020B0609020204030204" pitchFamily="49" charset="0"/>
              </a:rPr>
              <a:t>train_cols</a:t>
            </a:r>
            <a:r>
              <a:rPr lang="en-US" sz="1400" dirty="0">
                <a:latin typeface="Consolas" panose="020B0609020204030204" pitchFamily="49" charset="0"/>
              </a:rPr>
              <a:t>": </a:t>
            </a:r>
            <a:r>
              <a:rPr lang="en-US" sz="1400" dirty="0" err="1">
                <a:latin typeface="Consolas" panose="020B0609020204030204" pitchFamily="49" charset="0"/>
              </a:rPr>
              <a:t>np.arange</a:t>
            </a:r>
            <a:r>
              <a:rPr lang="en-US" sz="1400" dirty="0">
                <a:latin typeface="Consolas" panose="020B0609020204030204" pitchFamily="49" charset="0"/>
              </a:rPr>
              <a:t>(</a:t>
            </a:r>
            <a:r>
              <a:rPr lang="en-US" sz="1400" dirty="0" err="1">
                <a:latin typeface="Consolas" panose="020B0609020204030204" pitchFamily="49" charset="0"/>
              </a:rPr>
              <a:t>X_train.shape</a:t>
            </a:r>
            <a:r>
              <a:rPr lang="en-US" sz="1400" dirty="0">
                <a:latin typeface="Consolas" panose="020B0609020204030204" pitchFamily="49" charset="0"/>
              </a:rPr>
              <a:t>[1]),</a:t>
            </a:r>
          </a:p>
          <a:p>
            <a:pPr marL="0" indent="0">
              <a:buNone/>
            </a:pPr>
            <a:r>
              <a:rPr lang="en-US" sz="1400" dirty="0">
                <a:latin typeface="Consolas" panose="020B0609020204030204" pitchFamily="49" charset="0"/>
              </a:rPr>
              <a:t>        "</a:t>
            </a:r>
            <a:r>
              <a:rPr lang="en-US" sz="1400" dirty="0" err="1">
                <a:latin typeface="Consolas" panose="020B0609020204030204" pitchFamily="49" charset="0"/>
              </a:rPr>
              <a:t>obs_id</a:t>
            </a:r>
            <a:r>
              <a:rPr lang="en-US" sz="1400" dirty="0">
                <a:latin typeface="Consolas" panose="020B0609020204030204" pitchFamily="49" charset="0"/>
              </a:rPr>
              <a:t>": </a:t>
            </a:r>
            <a:r>
              <a:rPr lang="en-US" sz="1400" dirty="0" err="1">
                <a:latin typeface="Consolas" panose="020B0609020204030204" pitchFamily="49" charset="0"/>
              </a:rPr>
              <a:t>np.arange</a:t>
            </a:r>
            <a:r>
              <a:rPr lang="en-US" sz="1400" dirty="0">
                <a:latin typeface="Consolas" panose="020B0609020204030204" pitchFamily="49" charset="0"/>
              </a:rPr>
              <a:t>(</a:t>
            </a:r>
            <a:r>
              <a:rPr lang="en-US" sz="1400" dirty="0" err="1">
                <a:latin typeface="Consolas" panose="020B0609020204030204" pitchFamily="49" charset="0"/>
              </a:rPr>
              <a:t>X_train.shape</a:t>
            </a:r>
            <a:r>
              <a:rPr lang="en-US" sz="1400" dirty="0">
                <a:latin typeface="Consolas" panose="020B0609020204030204" pitchFamily="49" charset="0"/>
              </a:rPr>
              <a:t>[0]),</a:t>
            </a:r>
          </a:p>
          <a:p>
            <a:pPr marL="0" indent="0">
              <a:buNone/>
            </a:pPr>
            <a:r>
              <a:rPr lang="en-US" sz="1400" dirty="0">
                <a:latin typeface="Consolas" panose="020B0609020204030204" pitchFamily="49" charset="0"/>
              </a:rPr>
              <a:t>    }</a:t>
            </a:r>
          </a:p>
          <a:p>
            <a:pPr marL="0" indent="0">
              <a:buNone/>
            </a:pPr>
            <a:r>
              <a:rPr lang="en-US" sz="1400" dirty="0">
                <a:latin typeface="Consolas" panose="020B0609020204030204" pitchFamily="49" charset="0"/>
              </a:rPr>
              <a:t>    with </a:t>
            </a:r>
            <a:r>
              <a:rPr lang="en-US" sz="1400" dirty="0" err="1">
                <a:latin typeface="Consolas" panose="020B0609020204030204" pitchFamily="49" charset="0"/>
              </a:rPr>
              <a:t>pm.Model</a:t>
            </a:r>
            <a:r>
              <a:rPr lang="en-US" sz="1400" dirty="0">
                <a:latin typeface="Consolas" panose="020B0609020204030204" pitchFamily="49" charset="0"/>
              </a:rPr>
              <a:t>(coords=coords) as </a:t>
            </a:r>
            <a:r>
              <a:rPr lang="en-US" sz="1400" dirty="0" err="1">
                <a:latin typeface="Consolas" panose="020B0609020204030204" pitchFamily="49" charset="0"/>
              </a:rPr>
              <a:t>neural_network</a:t>
            </a:r>
            <a:r>
              <a:rPr lang="en-US" sz="1400" dirty="0">
                <a:latin typeface="Consolas" panose="020B0609020204030204" pitchFamily="49" charset="0"/>
              </a:rPr>
              <a:t>:</a:t>
            </a:r>
          </a:p>
          <a:p>
            <a:pPr marL="0" indent="0">
              <a:buNone/>
            </a:pPr>
            <a:r>
              <a:rPr lang="en-US" sz="1400" dirty="0">
                <a:latin typeface="Consolas" panose="020B0609020204030204" pitchFamily="49" charset="0"/>
              </a:rPr>
              <a:t>        </a:t>
            </a:r>
            <a:r>
              <a:rPr lang="en-US" sz="1400" dirty="0" err="1">
                <a:latin typeface="Consolas" panose="020B0609020204030204" pitchFamily="49" charset="0"/>
              </a:rPr>
              <a:t>ann_input</a:t>
            </a:r>
            <a:r>
              <a:rPr lang="en-US" sz="1400" dirty="0">
                <a:latin typeface="Consolas" panose="020B0609020204030204" pitchFamily="49" charset="0"/>
              </a:rPr>
              <a:t> = </a:t>
            </a:r>
            <a:r>
              <a:rPr lang="en-US" sz="1400" dirty="0" err="1">
                <a:latin typeface="Consolas" panose="020B0609020204030204" pitchFamily="49" charset="0"/>
              </a:rPr>
              <a:t>pm.Data</a:t>
            </a:r>
            <a:r>
              <a:rPr lang="en-US" sz="1400" dirty="0">
                <a:latin typeface="Consolas" panose="020B0609020204030204" pitchFamily="49" charset="0"/>
              </a:rPr>
              <a:t>("</a:t>
            </a:r>
            <a:r>
              <a:rPr lang="en-US" sz="1400" dirty="0" err="1">
                <a:latin typeface="Consolas" panose="020B0609020204030204" pitchFamily="49" charset="0"/>
              </a:rPr>
              <a:t>ann_input</a:t>
            </a:r>
            <a:r>
              <a:rPr lang="en-US" sz="1400" dirty="0">
                <a:latin typeface="Consolas" panose="020B0609020204030204" pitchFamily="49" charset="0"/>
              </a:rPr>
              <a:t>", </a:t>
            </a:r>
            <a:r>
              <a:rPr lang="en-US" sz="1400" dirty="0" err="1">
                <a:latin typeface="Consolas" panose="020B0609020204030204" pitchFamily="49" charset="0"/>
              </a:rPr>
              <a:t>X_train</a:t>
            </a:r>
            <a:r>
              <a:rPr lang="en-US" sz="1400" dirty="0">
                <a:latin typeface="Consolas" panose="020B0609020204030204" pitchFamily="49" charset="0"/>
              </a:rPr>
              <a:t>, mutable=True, dims=("</a:t>
            </a:r>
            <a:r>
              <a:rPr lang="en-US" sz="1400" dirty="0" err="1">
                <a:latin typeface="Consolas" panose="020B0609020204030204" pitchFamily="49" charset="0"/>
              </a:rPr>
              <a:t>obs_id</a:t>
            </a:r>
            <a:r>
              <a:rPr lang="en-US" sz="1400" dirty="0">
                <a:latin typeface="Consolas" panose="020B0609020204030204" pitchFamily="49" charset="0"/>
              </a:rPr>
              <a:t>", "</a:t>
            </a:r>
            <a:r>
              <a:rPr lang="en-US" sz="1400" dirty="0" err="1">
                <a:latin typeface="Consolas" panose="020B0609020204030204" pitchFamily="49" charset="0"/>
              </a:rPr>
              <a:t>train_cols</a:t>
            </a:r>
            <a:r>
              <a:rPr lang="en-US" sz="1400" dirty="0">
                <a:latin typeface="Consolas" panose="020B0609020204030204" pitchFamily="49" charset="0"/>
              </a:rPr>
              <a:t>"))</a:t>
            </a:r>
          </a:p>
          <a:p>
            <a:pPr marL="0" indent="0">
              <a:buNone/>
            </a:pPr>
            <a:r>
              <a:rPr lang="en-US" sz="1400" dirty="0">
                <a:latin typeface="Consolas" panose="020B0609020204030204" pitchFamily="49" charset="0"/>
              </a:rPr>
              <a:t>        </a:t>
            </a:r>
            <a:r>
              <a:rPr lang="en-US" sz="1400" dirty="0" err="1">
                <a:latin typeface="Consolas" panose="020B0609020204030204" pitchFamily="49" charset="0"/>
              </a:rPr>
              <a:t>ann_output</a:t>
            </a:r>
            <a:r>
              <a:rPr lang="en-US" sz="1400" dirty="0">
                <a:latin typeface="Consolas" panose="020B0609020204030204" pitchFamily="49" charset="0"/>
              </a:rPr>
              <a:t> = </a:t>
            </a:r>
            <a:r>
              <a:rPr lang="en-US" sz="1400" dirty="0" err="1">
                <a:latin typeface="Consolas" panose="020B0609020204030204" pitchFamily="49" charset="0"/>
              </a:rPr>
              <a:t>pm.Data</a:t>
            </a:r>
            <a:r>
              <a:rPr lang="en-US" sz="1400" dirty="0">
                <a:latin typeface="Consolas" panose="020B0609020204030204" pitchFamily="49" charset="0"/>
              </a:rPr>
              <a:t>("</a:t>
            </a:r>
            <a:r>
              <a:rPr lang="en-US" sz="1400" dirty="0" err="1">
                <a:latin typeface="Consolas" panose="020B0609020204030204" pitchFamily="49" charset="0"/>
              </a:rPr>
              <a:t>ann_output</a:t>
            </a:r>
            <a:r>
              <a:rPr lang="en-US" sz="1400" dirty="0">
                <a:latin typeface="Consolas" panose="020B0609020204030204" pitchFamily="49" charset="0"/>
              </a:rPr>
              <a:t>", </a:t>
            </a:r>
            <a:r>
              <a:rPr lang="en-US" sz="1400" dirty="0" err="1">
                <a:latin typeface="Consolas" panose="020B0609020204030204" pitchFamily="49" charset="0"/>
              </a:rPr>
              <a:t>Y_train</a:t>
            </a:r>
            <a:r>
              <a:rPr lang="en-US" sz="1400" dirty="0">
                <a:latin typeface="Consolas" panose="020B0609020204030204" pitchFamily="49" charset="0"/>
              </a:rPr>
              <a:t>, mutable=True, dims="</a:t>
            </a:r>
            <a:r>
              <a:rPr lang="en-US" sz="1400" dirty="0" err="1">
                <a:latin typeface="Consolas" panose="020B0609020204030204" pitchFamily="49" charset="0"/>
              </a:rPr>
              <a:t>obs_id</a:t>
            </a:r>
            <a:r>
              <a:rPr lang="en-US" sz="1400" dirty="0">
                <a:latin typeface="Consolas" panose="020B0609020204030204" pitchFamily="49" charset="0"/>
              </a:rPr>
              <a:t>")</a:t>
            </a:r>
          </a:p>
          <a:p>
            <a:pPr marL="0" indent="0">
              <a:buNone/>
            </a:pPr>
            <a:endParaRPr lang="en-US" sz="1400" dirty="0">
              <a:latin typeface="Consolas" panose="020B0609020204030204" pitchFamily="49" charset="0"/>
            </a:endParaRPr>
          </a:p>
          <a:p>
            <a:pPr marL="0" indent="0">
              <a:buNone/>
            </a:pPr>
            <a:r>
              <a:rPr lang="en-US" sz="1400" dirty="0">
                <a:latin typeface="Consolas" panose="020B0609020204030204" pitchFamily="49" charset="0"/>
              </a:rPr>
              <a:t>        # Weights from input to hidden layer</a:t>
            </a:r>
          </a:p>
          <a:p>
            <a:pPr marL="0" indent="0">
              <a:buNone/>
            </a:pPr>
            <a:r>
              <a:rPr lang="en-US" sz="1400" dirty="0">
                <a:latin typeface="Consolas" panose="020B0609020204030204" pitchFamily="49" charset="0"/>
              </a:rPr>
              <a:t>        weights_in_1 = </a:t>
            </a:r>
            <a:r>
              <a:rPr lang="en-US" sz="1400" dirty="0" err="1">
                <a:latin typeface="Consolas" panose="020B0609020204030204" pitchFamily="49" charset="0"/>
              </a:rPr>
              <a:t>pm.Normal</a:t>
            </a:r>
            <a:r>
              <a:rPr lang="en-US" sz="1400" dirty="0">
                <a:latin typeface="Consolas" panose="020B0609020204030204" pitchFamily="49" charset="0"/>
              </a:rPr>
              <a:t>(</a:t>
            </a:r>
          </a:p>
          <a:p>
            <a:pPr marL="0" indent="0">
              <a:buNone/>
            </a:pPr>
            <a:r>
              <a:rPr lang="en-US" sz="1400" dirty="0">
                <a:latin typeface="Consolas" panose="020B0609020204030204" pitchFamily="49" charset="0"/>
              </a:rPr>
              <a:t>            "w_in_1", 0, sigma=1, </a:t>
            </a:r>
            <a:r>
              <a:rPr lang="en-US" sz="1400" dirty="0" err="1">
                <a:latin typeface="Consolas" panose="020B0609020204030204" pitchFamily="49" charset="0"/>
              </a:rPr>
              <a:t>initval</a:t>
            </a:r>
            <a:r>
              <a:rPr lang="en-US" sz="1400" dirty="0">
                <a:latin typeface="Consolas" panose="020B0609020204030204" pitchFamily="49" charset="0"/>
              </a:rPr>
              <a:t>=init_1, dims=("</a:t>
            </a:r>
            <a:r>
              <a:rPr lang="en-US" sz="1400" dirty="0" err="1">
                <a:latin typeface="Consolas" panose="020B0609020204030204" pitchFamily="49" charset="0"/>
              </a:rPr>
              <a:t>train_cols</a:t>
            </a:r>
            <a:r>
              <a:rPr lang="en-US" sz="1400" dirty="0">
                <a:latin typeface="Consolas" panose="020B0609020204030204" pitchFamily="49" charset="0"/>
              </a:rPr>
              <a:t>", "hidden_layer_1")</a:t>
            </a:r>
          </a:p>
          <a:p>
            <a:pPr marL="0" indent="0">
              <a:buNone/>
            </a:pPr>
            <a:r>
              <a:rPr lang="en-US" sz="1400" dirty="0">
                <a:latin typeface="Consolas" panose="020B0609020204030204" pitchFamily="49" charset="0"/>
              </a:rPr>
              <a:t>        )</a:t>
            </a:r>
          </a:p>
          <a:p>
            <a:pPr marL="0" indent="0">
              <a:buNone/>
            </a:pPr>
            <a:endParaRPr lang="en-US" sz="1400" dirty="0">
              <a:latin typeface="Consolas" panose="020B0609020204030204" pitchFamily="49" charset="0"/>
            </a:endParaRPr>
          </a:p>
          <a:p>
            <a:pPr marL="0" indent="0">
              <a:buNone/>
            </a:pPr>
            <a:r>
              <a:rPr lang="en-US" sz="1400" dirty="0">
                <a:latin typeface="Consolas" panose="020B0609020204030204" pitchFamily="49" charset="0"/>
              </a:rPr>
              <a:t>        # Weights from 1st to 2nd layer</a:t>
            </a:r>
          </a:p>
          <a:p>
            <a:pPr marL="0" indent="0">
              <a:buNone/>
            </a:pPr>
            <a:r>
              <a:rPr lang="en-US" sz="1400" dirty="0">
                <a:latin typeface="Consolas" panose="020B0609020204030204" pitchFamily="49" charset="0"/>
              </a:rPr>
              <a:t>        weights_1_2 = </a:t>
            </a:r>
            <a:r>
              <a:rPr lang="en-US" sz="1400" dirty="0" err="1">
                <a:latin typeface="Consolas" panose="020B0609020204030204" pitchFamily="49" charset="0"/>
              </a:rPr>
              <a:t>pm.Normal</a:t>
            </a:r>
            <a:r>
              <a:rPr lang="en-US" sz="1400" dirty="0">
                <a:latin typeface="Consolas" panose="020B0609020204030204" pitchFamily="49" charset="0"/>
              </a:rPr>
              <a:t>(</a:t>
            </a:r>
          </a:p>
          <a:p>
            <a:pPr marL="0" indent="0">
              <a:buNone/>
            </a:pPr>
            <a:r>
              <a:rPr lang="en-US" sz="1400" dirty="0">
                <a:latin typeface="Consolas" panose="020B0609020204030204" pitchFamily="49" charset="0"/>
              </a:rPr>
              <a:t>            "w_1_2", 0, sigma=1, </a:t>
            </a:r>
            <a:r>
              <a:rPr lang="en-US" sz="1400" dirty="0" err="1">
                <a:latin typeface="Consolas" panose="020B0609020204030204" pitchFamily="49" charset="0"/>
              </a:rPr>
              <a:t>initval</a:t>
            </a:r>
            <a:r>
              <a:rPr lang="en-US" sz="1400" dirty="0">
                <a:latin typeface="Consolas" panose="020B0609020204030204" pitchFamily="49" charset="0"/>
              </a:rPr>
              <a:t>=init_2, dims=("hidden_layer_1", "hidden_layer_2")</a:t>
            </a:r>
          </a:p>
          <a:p>
            <a:pPr marL="0" indent="0">
              <a:buNone/>
            </a:pPr>
            <a:r>
              <a:rPr lang="en-US" sz="1400" dirty="0">
                <a:latin typeface="Consolas" panose="020B0609020204030204" pitchFamily="49" charset="0"/>
              </a:rPr>
              <a:t>        )</a:t>
            </a:r>
          </a:p>
          <a:p>
            <a:pPr marL="0" indent="0">
              <a:buNone/>
            </a:pPr>
            <a:endParaRPr lang="en-US" sz="1400" dirty="0">
              <a:latin typeface="Consolas" panose="020B0609020204030204" pitchFamily="49" charset="0"/>
            </a:endParaRPr>
          </a:p>
          <a:p>
            <a:pPr marL="0" indent="0">
              <a:buNone/>
            </a:pPr>
            <a:r>
              <a:rPr lang="en-US" sz="1400" dirty="0">
                <a:latin typeface="Consolas" panose="020B0609020204030204" pitchFamily="49" charset="0"/>
              </a:rPr>
              <a:t>        # Weights from hidden layer to output</a:t>
            </a:r>
          </a:p>
          <a:p>
            <a:pPr marL="0" indent="0">
              <a:buNone/>
            </a:pPr>
            <a:r>
              <a:rPr lang="en-US" sz="1400" dirty="0">
                <a:latin typeface="Consolas" panose="020B0609020204030204" pitchFamily="49" charset="0"/>
              </a:rPr>
              <a:t>        weights_2_out = </a:t>
            </a:r>
            <a:r>
              <a:rPr lang="en-US" sz="1400" dirty="0" err="1">
                <a:latin typeface="Consolas" panose="020B0609020204030204" pitchFamily="49" charset="0"/>
              </a:rPr>
              <a:t>pm.Normal</a:t>
            </a:r>
            <a:r>
              <a:rPr lang="en-US" sz="1400" dirty="0">
                <a:latin typeface="Consolas" panose="020B0609020204030204" pitchFamily="49" charset="0"/>
              </a:rPr>
              <a:t>("w_2_out", 0, sigma=1, </a:t>
            </a:r>
            <a:r>
              <a:rPr lang="en-US" sz="1400" dirty="0" err="1">
                <a:latin typeface="Consolas" panose="020B0609020204030204" pitchFamily="49" charset="0"/>
              </a:rPr>
              <a:t>initval</a:t>
            </a:r>
            <a:r>
              <a:rPr lang="en-US" sz="1400" dirty="0">
                <a:latin typeface="Consolas" panose="020B0609020204030204" pitchFamily="49" charset="0"/>
              </a:rPr>
              <a:t>=</a:t>
            </a:r>
            <a:r>
              <a:rPr lang="en-US" sz="1400" dirty="0" err="1">
                <a:latin typeface="Consolas" panose="020B0609020204030204" pitchFamily="49" charset="0"/>
              </a:rPr>
              <a:t>init_out</a:t>
            </a:r>
            <a:r>
              <a:rPr lang="en-US" sz="1400" dirty="0">
                <a:latin typeface="Consolas" panose="020B0609020204030204" pitchFamily="49" charset="0"/>
              </a:rPr>
              <a:t>, dims="hidden_layer_2")</a:t>
            </a:r>
          </a:p>
        </p:txBody>
      </p:sp>
    </p:spTree>
    <p:extLst>
      <p:ext uri="{BB962C8B-B14F-4D97-AF65-F5344CB8AC3E}">
        <p14:creationId xmlns:p14="http://schemas.microsoft.com/office/powerpoint/2010/main" val="234379949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ED2BE21-D7E0-861D-1130-0EF65F70BAF0}"/>
              </a:ext>
            </a:extLst>
          </p:cNvPr>
          <p:cNvSpPr>
            <a:spLocks noGrp="1"/>
          </p:cNvSpPr>
          <p:nvPr>
            <p:ph type="title"/>
          </p:nvPr>
        </p:nvSpPr>
        <p:spPr/>
        <p:txBody>
          <a:bodyPr/>
          <a:lstStyle/>
          <a:p>
            <a:r>
              <a:rPr lang="en-US" dirty="0"/>
              <a:t>Model Specification</a:t>
            </a:r>
          </a:p>
        </p:txBody>
      </p:sp>
      <p:sp>
        <p:nvSpPr>
          <p:cNvPr id="5" name="Content Placeholder 4">
            <a:extLst>
              <a:ext uri="{FF2B5EF4-FFF2-40B4-BE49-F238E27FC236}">
                <a16:creationId xmlns:a16="http://schemas.microsoft.com/office/drawing/2014/main" id="{F59D01C3-5043-F3E8-4A3D-90E9490F9786}"/>
              </a:ext>
            </a:extLst>
          </p:cNvPr>
          <p:cNvSpPr>
            <a:spLocks noGrp="1"/>
          </p:cNvSpPr>
          <p:nvPr>
            <p:ph idx="1"/>
          </p:nvPr>
        </p:nvSpPr>
        <p:spPr>
          <a:xfrm>
            <a:off x="4620684" y="0"/>
            <a:ext cx="7571315" cy="6858000"/>
          </a:xfrm>
        </p:spPr>
        <p:txBody>
          <a:bodyPr>
            <a:normAutofit/>
          </a:bodyPr>
          <a:lstStyle/>
          <a:p>
            <a:pPr marL="0" indent="0">
              <a:buNone/>
            </a:pPr>
            <a:r>
              <a:rPr lang="en-US" sz="1400" dirty="0">
                <a:latin typeface="Consolas" panose="020B0609020204030204" pitchFamily="49" charset="0"/>
              </a:rPr>
              <a:t>        # Build neural-network using tanh activation function</a:t>
            </a:r>
          </a:p>
          <a:p>
            <a:pPr marL="0" indent="0">
              <a:buNone/>
            </a:pPr>
            <a:r>
              <a:rPr lang="en-US" sz="1400" dirty="0">
                <a:latin typeface="Consolas" panose="020B0609020204030204" pitchFamily="49" charset="0"/>
              </a:rPr>
              <a:t>        act_1 = </a:t>
            </a:r>
            <a:r>
              <a:rPr lang="en-US" sz="1400" dirty="0" err="1">
                <a:latin typeface="Consolas" panose="020B0609020204030204" pitchFamily="49" charset="0"/>
              </a:rPr>
              <a:t>pm.math.tanh</a:t>
            </a:r>
            <a:r>
              <a:rPr lang="en-US" sz="1400" dirty="0">
                <a:latin typeface="Consolas" panose="020B0609020204030204" pitchFamily="49" charset="0"/>
              </a:rPr>
              <a:t>(pm.math.dot(</a:t>
            </a:r>
            <a:r>
              <a:rPr lang="en-US" sz="1400" dirty="0" err="1">
                <a:latin typeface="Consolas" panose="020B0609020204030204" pitchFamily="49" charset="0"/>
              </a:rPr>
              <a:t>ann_input</a:t>
            </a:r>
            <a:r>
              <a:rPr lang="en-US" sz="1400" dirty="0">
                <a:latin typeface="Consolas" panose="020B0609020204030204" pitchFamily="49" charset="0"/>
              </a:rPr>
              <a:t>, weights_in_1))</a:t>
            </a:r>
          </a:p>
          <a:p>
            <a:pPr marL="0" indent="0">
              <a:buNone/>
            </a:pPr>
            <a:r>
              <a:rPr lang="en-US" sz="1400" dirty="0">
                <a:latin typeface="Consolas" panose="020B0609020204030204" pitchFamily="49" charset="0"/>
              </a:rPr>
              <a:t>        act_2 = </a:t>
            </a:r>
            <a:r>
              <a:rPr lang="en-US" sz="1400" dirty="0" err="1">
                <a:latin typeface="Consolas" panose="020B0609020204030204" pitchFamily="49" charset="0"/>
              </a:rPr>
              <a:t>pm.math.tanh</a:t>
            </a:r>
            <a:r>
              <a:rPr lang="en-US" sz="1400" dirty="0">
                <a:latin typeface="Consolas" panose="020B0609020204030204" pitchFamily="49" charset="0"/>
              </a:rPr>
              <a:t>(pm.math.dot(act_1, weights_1_2))</a:t>
            </a:r>
          </a:p>
          <a:p>
            <a:pPr marL="0" indent="0">
              <a:buNone/>
            </a:pPr>
            <a:r>
              <a:rPr lang="en-US" sz="1400" dirty="0">
                <a:latin typeface="Consolas" panose="020B0609020204030204" pitchFamily="49" charset="0"/>
              </a:rPr>
              <a:t>        </a:t>
            </a:r>
            <a:r>
              <a:rPr lang="en-US" sz="1400" dirty="0" err="1">
                <a:latin typeface="Consolas" panose="020B0609020204030204" pitchFamily="49" charset="0"/>
              </a:rPr>
              <a:t>act_out</a:t>
            </a:r>
            <a:r>
              <a:rPr lang="en-US" sz="1400" dirty="0">
                <a:latin typeface="Consolas" panose="020B0609020204030204" pitchFamily="49" charset="0"/>
              </a:rPr>
              <a:t> = </a:t>
            </a:r>
            <a:r>
              <a:rPr lang="en-US" sz="1400" dirty="0" err="1">
                <a:latin typeface="Consolas" panose="020B0609020204030204" pitchFamily="49" charset="0"/>
              </a:rPr>
              <a:t>pm.math.sigmoid</a:t>
            </a:r>
            <a:r>
              <a:rPr lang="en-US" sz="1400" dirty="0">
                <a:latin typeface="Consolas" panose="020B0609020204030204" pitchFamily="49" charset="0"/>
              </a:rPr>
              <a:t>(pm.math.dot(act_2, weights_2_out))</a:t>
            </a:r>
          </a:p>
          <a:p>
            <a:pPr marL="0" indent="0">
              <a:buNone/>
            </a:pPr>
            <a:endParaRPr lang="en-US" sz="1400" dirty="0">
              <a:latin typeface="Consolas" panose="020B0609020204030204" pitchFamily="49" charset="0"/>
            </a:endParaRPr>
          </a:p>
          <a:p>
            <a:pPr marL="0" indent="0">
              <a:buNone/>
            </a:pPr>
            <a:r>
              <a:rPr lang="en-US" sz="1400" dirty="0">
                <a:latin typeface="Consolas" panose="020B0609020204030204" pitchFamily="49" charset="0"/>
              </a:rPr>
              <a:t>        # Binary classification -&gt; Bernoulli likelihood</a:t>
            </a:r>
          </a:p>
          <a:p>
            <a:pPr marL="0" indent="0">
              <a:buNone/>
            </a:pPr>
            <a:r>
              <a:rPr lang="en-US" sz="1400" dirty="0">
                <a:latin typeface="Consolas" panose="020B0609020204030204" pitchFamily="49" charset="0"/>
              </a:rPr>
              <a:t>        out = </a:t>
            </a:r>
            <a:r>
              <a:rPr lang="en-US" sz="1400" dirty="0" err="1">
                <a:latin typeface="Consolas" panose="020B0609020204030204" pitchFamily="49" charset="0"/>
              </a:rPr>
              <a:t>pm.Bernoulli</a:t>
            </a:r>
            <a:r>
              <a:rPr lang="en-US" sz="1400" dirty="0">
                <a:latin typeface="Consolas" panose="020B0609020204030204" pitchFamily="49" charset="0"/>
              </a:rPr>
              <a:t>(</a:t>
            </a:r>
          </a:p>
          <a:p>
            <a:pPr marL="0" indent="0">
              <a:buNone/>
            </a:pPr>
            <a:r>
              <a:rPr lang="en-US" sz="1400" dirty="0">
                <a:latin typeface="Consolas" panose="020B0609020204030204" pitchFamily="49" charset="0"/>
              </a:rPr>
              <a:t>            "out",</a:t>
            </a:r>
          </a:p>
          <a:p>
            <a:pPr marL="0" indent="0">
              <a:buNone/>
            </a:pPr>
            <a:r>
              <a:rPr lang="en-US" sz="1400" dirty="0">
                <a:latin typeface="Consolas" panose="020B0609020204030204" pitchFamily="49" charset="0"/>
              </a:rPr>
              <a:t>            </a:t>
            </a:r>
            <a:r>
              <a:rPr lang="en-US" sz="1400" dirty="0" err="1">
                <a:latin typeface="Consolas" panose="020B0609020204030204" pitchFamily="49" charset="0"/>
              </a:rPr>
              <a:t>act_out</a:t>
            </a:r>
            <a:r>
              <a:rPr lang="en-US" sz="1400" dirty="0">
                <a:latin typeface="Consolas" panose="020B0609020204030204" pitchFamily="49" charset="0"/>
              </a:rPr>
              <a:t>,</a:t>
            </a:r>
          </a:p>
          <a:p>
            <a:pPr marL="0" indent="0">
              <a:buNone/>
            </a:pPr>
            <a:r>
              <a:rPr lang="en-US" sz="1400" dirty="0">
                <a:latin typeface="Consolas" panose="020B0609020204030204" pitchFamily="49" charset="0"/>
              </a:rPr>
              <a:t>            observed=</a:t>
            </a:r>
            <a:r>
              <a:rPr lang="en-US" sz="1400" dirty="0" err="1">
                <a:latin typeface="Consolas" panose="020B0609020204030204" pitchFamily="49" charset="0"/>
              </a:rPr>
              <a:t>ann_output</a:t>
            </a:r>
            <a:r>
              <a:rPr lang="en-US" sz="1400" dirty="0">
                <a:latin typeface="Consolas" panose="020B0609020204030204" pitchFamily="49" charset="0"/>
              </a:rPr>
              <a:t>,</a:t>
            </a:r>
          </a:p>
          <a:p>
            <a:pPr marL="0" indent="0">
              <a:buNone/>
            </a:pPr>
            <a:r>
              <a:rPr lang="en-US" sz="1400" dirty="0">
                <a:latin typeface="Consolas" panose="020B0609020204030204" pitchFamily="49" charset="0"/>
              </a:rPr>
              <a:t>            </a:t>
            </a:r>
            <a:r>
              <a:rPr lang="en-US" sz="1400" dirty="0" err="1">
                <a:latin typeface="Consolas" panose="020B0609020204030204" pitchFamily="49" charset="0"/>
              </a:rPr>
              <a:t>total_size</a:t>
            </a:r>
            <a:r>
              <a:rPr lang="en-US" sz="1400" dirty="0">
                <a:latin typeface="Consolas" panose="020B0609020204030204" pitchFamily="49" charset="0"/>
              </a:rPr>
              <a:t>=</a:t>
            </a:r>
            <a:r>
              <a:rPr lang="en-US" sz="1400" dirty="0" err="1">
                <a:latin typeface="Consolas" panose="020B0609020204030204" pitchFamily="49" charset="0"/>
              </a:rPr>
              <a:t>Y_train.shape</a:t>
            </a:r>
            <a:r>
              <a:rPr lang="en-US" sz="1400" dirty="0">
                <a:latin typeface="Consolas" panose="020B0609020204030204" pitchFamily="49" charset="0"/>
              </a:rPr>
              <a:t>[0],  # IMPORTANT for minibatches</a:t>
            </a:r>
          </a:p>
          <a:p>
            <a:pPr marL="0" indent="0">
              <a:buNone/>
            </a:pPr>
            <a:r>
              <a:rPr lang="en-US" sz="1400" dirty="0">
                <a:latin typeface="Consolas" panose="020B0609020204030204" pitchFamily="49" charset="0"/>
              </a:rPr>
              <a:t>            dims="</a:t>
            </a:r>
            <a:r>
              <a:rPr lang="en-US" sz="1400" dirty="0" err="1">
                <a:latin typeface="Consolas" panose="020B0609020204030204" pitchFamily="49" charset="0"/>
              </a:rPr>
              <a:t>obs_id</a:t>
            </a:r>
            <a:r>
              <a:rPr lang="en-US" sz="1400" dirty="0">
                <a:latin typeface="Consolas" panose="020B0609020204030204" pitchFamily="49" charset="0"/>
              </a:rPr>
              <a:t>",</a:t>
            </a:r>
          </a:p>
          <a:p>
            <a:pPr marL="0" indent="0">
              <a:buNone/>
            </a:pPr>
            <a:r>
              <a:rPr lang="en-US" sz="1400" dirty="0">
                <a:latin typeface="Consolas" panose="020B0609020204030204" pitchFamily="49" charset="0"/>
              </a:rPr>
              <a:t>        )</a:t>
            </a:r>
          </a:p>
          <a:p>
            <a:pPr marL="0" indent="0">
              <a:buNone/>
            </a:pPr>
            <a:r>
              <a:rPr lang="en-US" sz="1400" dirty="0">
                <a:latin typeface="Consolas" panose="020B0609020204030204" pitchFamily="49" charset="0"/>
              </a:rPr>
              <a:t>    return </a:t>
            </a:r>
            <a:r>
              <a:rPr lang="en-US" sz="1400" dirty="0" err="1">
                <a:latin typeface="Consolas" panose="020B0609020204030204" pitchFamily="49" charset="0"/>
              </a:rPr>
              <a:t>neural_network</a:t>
            </a:r>
            <a:endParaRPr lang="en-US" sz="1400" dirty="0">
              <a:latin typeface="Consolas" panose="020B0609020204030204" pitchFamily="49" charset="0"/>
            </a:endParaRPr>
          </a:p>
          <a:p>
            <a:pPr marL="0" indent="0">
              <a:buNone/>
            </a:pPr>
            <a:endParaRPr lang="en-US" sz="1400" dirty="0">
              <a:latin typeface="Consolas" panose="020B0609020204030204" pitchFamily="49" charset="0"/>
            </a:endParaRPr>
          </a:p>
          <a:p>
            <a:pPr marL="0" indent="0">
              <a:buNone/>
            </a:pPr>
            <a:endParaRPr lang="en-US" sz="1400" dirty="0">
              <a:latin typeface="Consolas" panose="020B0609020204030204" pitchFamily="49" charset="0"/>
            </a:endParaRPr>
          </a:p>
          <a:p>
            <a:pPr marL="0" indent="0">
              <a:buNone/>
            </a:pPr>
            <a:r>
              <a:rPr lang="en-US" sz="1400" dirty="0" err="1">
                <a:latin typeface="Consolas" panose="020B0609020204030204" pitchFamily="49" charset="0"/>
              </a:rPr>
              <a:t>neural_network</a:t>
            </a:r>
            <a:r>
              <a:rPr lang="en-US" sz="1400" dirty="0">
                <a:latin typeface="Consolas" panose="020B0609020204030204" pitchFamily="49" charset="0"/>
              </a:rPr>
              <a:t> = </a:t>
            </a:r>
            <a:r>
              <a:rPr lang="en-US" sz="1400" dirty="0" err="1">
                <a:latin typeface="Consolas" panose="020B0609020204030204" pitchFamily="49" charset="0"/>
              </a:rPr>
              <a:t>construct_nn</a:t>
            </a:r>
            <a:r>
              <a:rPr lang="en-US" sz="1400" dirty="0">
                <a:latin typeface="Consolas" panose="020B0609020204030204" pitchFamily="49" charset="0"/>
              </a:rPr>
              <a:t>(</a:t>
            </a:r>
            <a:r>
              <a:rPr lang="en-US" sz="1400" dirty="0" err="1">
                <a:latin typeface="Consolas" panose="020B0609020204030204" pitchFamily="49" charset="0"/>
              </a:rPr>
              <a:t>X_train</a:t>
            </a:r>
            <a:r>
              <a:rPr lang="en-US" sz="1400" dirty="0">
                <a:latin typeface="Consolas" panose="020B0609020204030204" pitchFamily="49" charset="0"/>
              </a:rPr>
              <a:t>, </a:t>
            </a:r>
            <a:r>
              <a:rPr lang="en-US" sz="1400" dirty="0" err="1">
                <a:latin typeface="Consolas" panose="020B0609020204030204" pitchFamily="49" charset="0"/>
              </a:rPr>
              <a:t>Y_train</a:t>
            </a:r>
            <a:r>
              <a:rPr lang="en-US" sz="1400" dirty="0">
                <a:latin typeface="Consolas" panose="020B0609020204030204" pitchFamily="49" charset="0"/>
              </a:rPr>
              <a:t>)</a:t>
            </a:r>
          </a:p>
        </p:txBody>
      </p:sp>
    </p:spTree>
    <p:extLst>
      <p:ext uri="{BB962C8B-B14F-4D97-AF65-F5344CB8AC3E}">
        <p14:creationId xmlns:p14="http://schemas.microsoft.com/office/powerpoint/2010/main" val="244849864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C7C586A-2736-896E-ED2E-651DCA8A57B5}"/>
              </a:ext>
            </a:extLst>
          </p:cNvPr>
          <p:cNvSpPr>
            <a:spLocks noGrp="1"/>
          </p:cNvSpPr>
          <p:nvPr>
            <p:ph type="title"/>
          </p:nvPr>
        </p:nvSpPr>
        <p:spPr/>
        <p:txBody>
          <a:bodyPr/>
          <a:lstStyle/>
          <a:p>
            <a:r>
              <a:rPr lang="en-US" dirty="0"/>
              <a:t>Automatic Differentiation Variational Inference (ADVI)</a:t>
            </a:r>
          </a:p>
        </p:txBody>
      </p:sp>
      <p:sp>
        <p:nvSpPr>
          <p:cNvPr id="6" name="Content Placeholder 5">
            <a:extLst>
              <a:ext uri="{FF2B5EF4-FFF2-40B4-BE49-F238E27FC236}">
                <a16:creationId xmlns:a16="http://schemas.microsoft.com/office/drawing/2014/main" id="{E307DD59-3BE7-50D8-669A-1CCE53E8F67E}"/>
              </a:ext>
            </a:extLst>
          </p:cNvPr>
          <p:cNvSpPr>
            <a:spLocks noGrp="1"/>
          </p:cNvSpPr>
          <p:nvPr>
            <p:ph idx="1"/>
          </p:nvPr>
        </p:nvSpPr>
        <p:spPr>
          <a:xfrm>
            <a:off x="818712" y="2222287"/>
            <a:ext cx="3573534" cy="2849898"/>
          </a:xfrm>
        </p:spPr>
        <p:txBody>
          <a:bodyPr>
            <a:normAutofit/>
          </a:bodyPr>
          <a:lstStyle/>
          <a:p>
            <a:pPr marL="0" indent="0">
              <a:buNone/>
            </a:pPr>
            <a:r>
              <a:rPr lang="en-US" sz="1400" dirty="0">
                <a:latin typeface="Consolas" panose="020B0609020204030204" pitchFamily="49" charset="0"/>
              </a:rPr>
              <a:t>with </a:t>
            </a:r>
            <a:r>
              <a:rPr lang="en-US" sz="1400" dirty="0" err="1">
                <a:latin typeface="Consolas" panose="020B0609020204030204" pitchFamily="49" charset="0"/>
              </a:rPr>
              <a:t>neural_network</a:t>
            </a:r>
            <a:r>
              <a:rPr lang="en-US" sz="1400" dirty="0">
                <a:latin typeface="Consolas" panose="020B0609020204030204" pitchFamily="49" charset="0"/>
              </a:rPr>
              <a:t>:</a:t>
            </a:r>
          </a:p>
          <a:p>
            <a:pPr marL="0" indent="0">
              <a:buNone/>
            </a:pPr>
            <a:r>
              <a:rPr lang="en-US" sz="1400" dirty="0">
                <a:latin typeface="Consolas" panose="020B0609020204030204" pitchFamily="49" charset="0"/>
              </a:rPr>
              <a:t>    </a:t>
            </a:r>
            <a:r>
              <a:rPr lang="en-US" sz="1400" dirty="0" err="1">
                <a:latin typeface="Consolas" panose="020B0609020204030204" pitchFamily="49" charset="0"/>
              </a:rPr>
              <a:t>approx</a:t>
            </a:r>
            <a:r>
              <a:rPr lang="en-US" sz="1400" dirty="0">
                <a:latin typeface="Consolas" panose="020B0609020204030204" pitchFamily="49" charset="0"/>
              </a:rPr>
              <a:t> = </a:t>
            </a:r>
            <a:r>
              <a:rPr lang="en-US" sz="1400" dirty="0" err="1">
                <a:latin typeface="Consolas" panose="020B0609020204030204" pitchFamily="49" charset="0"/>
              </a:rPr>
              <a:t>pm.fit</a:t>
            </a:r>
            <a:r>
              <a:rPr lang="en-US" sz="1400" dirty="0">
                <a:latin typeface="Consolas" panose="020B0609020204030204" pitchFamily="49" charset="0"/>
              </a:rPr>
              <a:t>(n=30_000)</a:t>
            </a:r>
          </a:p>
          <a:p>
            <a:pPr marL="0" indent="0">
              <a:buNone/>
            </a:pPr>
            <a:endParaRPr lang="en-US" sz="1400" dirty="0">
              <a:latin typeface="Consolas" panose="020B0609020204030204" pitchFamily="49" charset="0"/>
            </a:endParaRPr>
          </a:p>
          <a:p>
            <a:pPr marL="0" indent="0">
              <a:buNone/>
            </a:pPr>
            <a:r>
              <a:rPr lang="en-US" sz="1400" dirty="0" err="1">
                <a:latin typeface="Consolas" panose="020B0609020204030204" pitchFamily="49" charset="0"/>
              </a:rPr>
              <a:t>plt.plot</a:t>
            </a:r>
            <a:r>
              <a:rPr lang="en-US" sz="1400" dirty="0">
                <a:latin typeface="Consolas" panose="020B0609020204030204" pitchFamily="49" charset="0"/>
              </a:rPr>
              <a:t>(</a:t>
            </a:r>
            <a:r>
              <a:rPr lang="en-US" sz="1400" dirty="0" err="1">
                <a:latin typeface="Consolas" panose="020B0609020204030204" pitchFamily="49" charset="0"/>
              </a:rPr>
              <a:t>approx.hist</a:t>
            </a:r>
            <a:r>
              <a:rPr lang="en-US" sz="1400" dirty="0">
                <a:latin typeface="Consolas" panose="020B0609020204030204" pitchFamily="49" charset="0"/>
              </a:rPr>
              <a:t>, alpha=0.3)</a:t>
            </a:r>
          </a:p>
          <a:p>
            <a:pPr marL="0" indent="0">
              <a:buNone/>
            </a:pPr>
            <a:r>
              <a:rPr lang="en-US" sz="1400" dirty="0" err="1">
                <a:latin typeface="Consolas" panose="020B0609020204030204" pitchFamily="49" charset="0"/>
              </a:rPr>
              <a:t>plt.ylabel</a:t>
            </a:r>
            <a:r>
              <a:rPr lang="en-US" sz="1400" dirty="0">
                <a:latin typeface="Consolas" panose="020B0609020204030204" pitchFamily="49" charset="0"/>
              </a:rPr>
              <a:t>("ELBO")</a:t>
            </a:r>
          </a:p>
          <a:p>
            <a:pPr marL="0" indent="0">
              <a:buNone/>
            </a:pPr>
            <a:r>
              <a:rPr lang="en-US" sz="1400" dirty="0" err="1">
                <a:latin typeface="Consolas" panose="020B0609020204030204" pitchFamily="49" charset="0"/>
              </a:rPr>
              <a:t>plt.xlabel</a:t>
            </a:r>
            <a:r>
              <a:rPr lang="en-US" sz="1400" dirty="0">
                <a:latin typeface="Consolas" panose="020B0609020204030204" pitchFamily="49" charset="0"/>
              </a:rPr>
              <a:t>("iteration")</a:t>
            </a:r>
          </a:p>
        </p:txBody>
      </p:sp>
      <p:pic>
        <p:nvPicPr>
          <p:cNvPr id="7" name="Picture 6">
            <a:extLst>
              <a:ext uri="{FF2B5EF4-FFF2-40B4-BE49-F238E27FC236}">
                <a16:creationId xmlns:a16="http://schemas.microsoft.com/office/drawing/2014/main" id="{A4209ED2-69B1-1CBE-B934-CA2B933526CA}"/>
              </a:ext>
            </a:extLst>
          </p:cNvPr>
          <p:cNvPicPr>
            <a:picLocks noChangeAspect="1"/>
          </p:cNvPicPr>
          <p:nvPr/>
        </p:nvPicPr>
        <p:blipFill>
          <a:blip r:embed="rId2"/>
          <a:stretch>
            <a:fillRect/>
          </a:stretch>
        </p:blipFill>
        <p:spPr>
          <a:xfrm>
            <a:off x="4814276" y="1900854"/>
            <a:ext cx="7377723" cy="4957145"/>
          </a:xfrm>
          <a:prstGeom prst="rect">
            <a:avLst/>
          </a:prstGeom>
        </p:spPr>
      </p:pic>
    </p:spTree>
    <p:extLst>
      <p:ext uri="{BB962C8B-B14F-4D97-AF65-F5344CB8AC3E}">
        <p14:creationId xmlns:p14="http://schemas.microsoft.com/office/powerpoint/2010/main" val="159975176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B7EF4C-3C31-926B-FAF6-5881B0448F03}"/>
              </a:ext>
            </a:extLst>
          </p:cNvPr>
          <p:cNvSpPr>
            <a:spLocks noGrp="1"/>
          </p:cNvSpPr>
          <p:nvPr>
            <p:ph type="title"/>
          </p:nvPr>
        </p:nvSpPr>
        <p:spPr/>
        <p:txBody>
          <a:bodyPr/>
          <a:lstStyle/>
          <a:p>
            <a:r>
              <a:rPr lang="en-US" dirty="0"/>
              <a:t>Prediction</a:t>
            </a:r>
          </a:p>
        </p:txBody>
      </p:sp>
      <p:sp>
        <p:nvSpPr>
          <p:cNvPr id="3" name="Content Placeholder 2">
            <a:extLst>
              <a:ext uri="{FF2B5EF4-FFF2-40B4-BE49-F238E27FC236}">
                <a16:creationId xmlns:a16="http://schemas.microsoft.com/office/drawing/2014/main" id="{A92FB103-AD7A-E3D9-CF27-AC29A85B3C7C}"/>
              </a:ext>
            </a:extLst>
          </p:cNvPr>
          <p:cNvSpPr>
            <a:spLocks noGrp="1"/>
          </p:cNvSpPr>
          <p:nvPr>
            <p:ph idx="1"/>
          </p:nvPr>
        </p:nvSpPr>
        <p:spPr>
          <a:xfrm>
            <a:off x="818712" y="2222287"/>
            <a:ext cx="10554574" cy="4635713"/>
          </a:xfrm>
        </p:spPr>
        <p:txBody>
          <a:bodyPr/>
          <a:lstStyle/>
          <a:p>
            <a:r>
              <a:rPr lang="en-US" dirty="0"/>
              <a:t>We can use </a:t>
            </a:r>
            <a:r>
              <a:rPr lang="en-US" sz="1400" dirty="0" err="1">
                <a:latin typeface="Consolas" panose="020B0609020204030204" pitchFamily="49" charset="0"/>
              </a:rPr>
              <a:t>sample_posterior_predictive</a:t>
            </a:r>
            <a:r>
              <a:rPr lang="en-US" sz="1400" dirty="0">
                <a:latin typeface="Consolas" panose="020B0609020204030204" pitchFamily="49" charset="0"/>
              </a:rPr>
              <a:t>()</a:t>
            </a:r>
            <a:r>
              <a:rPr lang="en-US" dirty="0"/>
              <a:t> to generate new data (in this case class predictions) from the posterior (sampled from the variational estimation)</a:t>
            </a:r>
          </a:p>
          <a:p>
            <a:pPr marL="400050" lvl="1" indent="0">
              <a:buNone/>
            </a:pPr>
            <a:r>
              <a:rPr lang="en-US" sz="1400" dirty="0">
                <a:latin typeface="Consolas" panose="020B0609020204030204" pitchFamily="49" charset="0"/>
              </a:rPr>
              <a:t>trace = </a:t>
            </a:r>
            <a:r>
              <a:rPr lang="en-US" sz="1400" dirty="0" err="1">
                <a:latin typeface="Consolas" panose="020B0609020204030204" pitchFamily="49" charset="0"/>
              </a:rPr>
              <a:t>approx.sample</a:t>
            </a:r>
            <a:r>
              <a:rPr lang="en-US" sz="1400" dirty="0">
                <a:latin typeface="Consolas" panose="020B0609020204030204" pitchFamily="49" charset="0"/>
              </a:rPr>
              <a:t>(draws=5000)</a:t>
            </a:r>
          </a:p>
          <a:p>
            <a:pPr marL="400050" lvl="1" indent="0">
              <a:buNone/>
            </a:pPr>
            <a:r>
              <a:rPr lang="en-US" sz="1400" dirty="0">
                <a:latin typeface="Consolas" panose="020B0609020204030204" pitchFamily="49" charset="0"/>
              </a:rPr>
              <a:t>with </a:t>
            </a:r>
            <a:r>
              <a:rPr lang="en-US" sz="1400" dirty="0" err="1">
                <a:latin typeface="Consolas" panose="020B0609020204030204" pitchFamily="49" charset="0"/>
              </a:rPr>
              <a:t>neural_network</a:t>
            </a:r>
            <a:r>
              <a:rPr lang="en-US" sz="1400" dirty="0">
                <a:latin typeface="Consolas" panose="020B0609020204030204" pitchFamily="49" charset="0"/>
              </a:rPr>
              <a:t>:</a:t>
            </a:r>
          </a:p>
          <a:p>
            <a:pPr marL="400050" lvl="1" indent="0">
              <a:buNone/>
            </a:pPr>
            <a:r>
              <a:rPr lang="en-US" sz="1400" dirty="0">
                <a:latin typeface="Consolas" panose="020B0609020204030204" pitchFamily="49" charset="0"/>
              </a:rPr>
              <a:t>    </a:t>
            </a:r>
            <a:r>
              <a:rPr lang="en-US" sz="1400" dirty="0" err="1">
                <a:latin typeface="Consolas" panose="020B0609020204030204" pitchFamily="49" charset="0"/>
              </a:rPr>
              <a:t>pm.set_data</a:t>
            </a:r>
            <a:r>
              <a:rPr lang="en-US" sz="1400" dirty="0">
                <a:latin typeface="Consolas" panose="020B0609020204030204" pitchFamily="49" charset="0"/>
              </a:rPr>
              <a:t>(</a:t>
            </a:r>
            <a:r>
              <a:rPr lang="en-US" sz="1400" dirty="0" err="1">
                <a:latin typeface="Consolas" panose="020B0609020204030204" pitchFamily="49" charset="0"/>
              </a:rPr>
              <a:t>new_data</a:t>
            </a:r>
            <a:r>
              <a:rPr lang="en-US" sz="1400" dirty="0">
                <a:latin typeface="Consolas" panose="020B0609020204030204" pitchFamily="49" charset="0"/>
              </a:rPr>
              <a:t>={"</a:t>
            </a:r>
            <a:r>
              <a:rPr lang="en-US" sz="1400" dirty="0" err="1">
                <a:latin typeface="Consolas" panose="020B0609020204030204" pitchFamily="49" charset="0"/>
              </a:rPr>
              <a:t>ann_input</a:t>
            </a:r>
            <a:r>
              <a:rPr lang="en-US" sz="1400" dirty="0">
                <a:latin typeface="Consolas" panose="020B0609020204030204" pitchFamily="49" charset="0"/>
              </a:rPr>
              <a:t>": </a:t>
            </a:r>
            <a:r>
              <a:rPr lang="en-US" sz="1400" dirty="0" err="1">
                <a:latin typeface="Consolas" panose="020B0609020204030204" pitchFamily="49" charset="0"/>
              </a:rPr>
              <a:t>X_test</a:t>
            </a:r>
            <a:r>
              <a:rPr lang="en-US" sz="1400" dirty="0">
                <a:latin typeface="Consolas" panose="020B0609020204030204" pitchFamily="49" charset="0"/>
              </a:rPr>
              <a:t>})</a:t>
            </a:r>
          </a:p>
          <a:p>
            <a:pPr marL="400050" lvl="1" indent="0">
              <a:buNone/>
            </a:pPr>
            <a:r>
              <a:rPr lang="en-US" sz="1400" dirty="0">
                <a:latin typeface="Consolas" panose="020B0609020204030204" pitchFamily="49" charset="0"/>
              </a:rPr>
              <a:t>    </a:t>
            </a:r>
            <a:r>
              <a:rPr lang="en-US" sz="1400" dirty="0" err="1">
                <a:latin typeface="Consolas" panose="020B0609020204030204" pitchFamily="49" charset="0"/>
              </a:rPr>
              <a:t>ppc</a:t>
            </a:r>
            <a:r>
              <a:rPr lang="en-US" sz="1400" dirty="0">
                <a:latin typeface="Consolas" panose="020B0609020204030204" pitchFamily="49" charset="0"/>
              </a:rPr>
              <a:t> = </a:t>
            </a:r>
            <a:r>
              <a:rPr lang="en-US" sz="1400" dirty="0" err="1">
                <a:latin typeface="Consolas" panose="020B0609020204030204" pitchFamily="49" charset="0"/>
              </a:rPr>
              <a:t>pm.sample_posterior_predictive</a:t>
            </a:r>
            <a:r>
              <a:rPr lang="en-US" sz="1400" dirty="0">
                <a:latin typeface="Consolas" panose="020B0609020204030204" pitchFamily="49" charset="0"/>
              </a:rPr>
              <a:t>(trace)</a:t>
            </a:r>
          </a:p>
          <a:p>
            <a:pPr marL="400050" lvl="1" indent="0">
              <a:buNone/>
            </a:pPr>
            <a:r>
              <a:rPr lang="en-US" sz="1400" dirty="0">
                <a:latin typeface="Consolas" panose="020B0609020204030204" pitchFamily="49" charset="0"/>
              </a:rPr>
              <a:t>    </a:t>
            </a:r>
            <a:r>
              <a:rPr lang="en-US" sz="1400" dirty="0" err="1">
                <a:latin typeface="Consolas" panose="020B0609020204030204" pitchFamily="49" charset="0"/>
              </a:rPr>
              <a:t>trace.extend</a:t>
            </a:r>
            <a:r>
              <a:rPr lang="en-US" sz="1400" dirty="0">
                <a:latin typeface="Consolas" panose="020B0609020204030204" pitchFamily="49" charset="0"/>
              </a:rPr>
              <a:t>(</a:t>
            </a:r>
            <a:r>
              <a:rPr lang="en-US" sz="1400" dirty="0" err="1">
                <a:latin typeface="Consolas" panose="020B0609020204030204" pitchFamily="49" charset="0"/>
              </a:rPr>
              <a:t>ppc</a:t>
            </a:r>
            <a:r>
              <a:rPr lang="en-US" sz="1400" dirty="0">
                <a:latin typeface="Consolas" panose="020B0609020204030204" pitchFamily="49" charset="0"/>
              </a:rPr>
              <a:t>)</a:t>
            </a:r>
          </a:p>
          <a:p>
            <a:r>
              <a:rPr lang="en-US" dirty="0"/>
              <a:t>We can average the predictions for each observation to estimate the underlying probability of class 1</a:t>
            </a:r>
          </a:p>
          <a:p>
            <a:pPr marL="400050" lvl="1" indent="0">
              <a:buNone/>
            </a:pPr>
            <a:r>
              <a:rPr lang="en-US" sz="1400" dirty="0">
                <a:latin typeface="Consolas" panose="020B0609020204030204" pitchFamily="49" charset="0"/>
              </a:rPr>
              <a:t>pred = </a:t>
            </a:r>
            <a:r>
              <a:rPr lang="en-US" sz="1400" dirty="0" err="1">
                <a:latin typeface="Consolas" panose="020B0609020204030204" pitchFamily="49" charset="0"/>
              </a:rPr>
              <a:t>ppc.posterior_predictive</a:t>
            </a:r>
            <a:r>
              <a:rPr lang="en-US" sz="1400" dirty="0">
                <a:latin typeface="Consolas" panose="020B0609020204030204" pitchFamily="49" charset="0"/>
              </a:rPr>
              <a:t>["out"].mean(("chain", "draw")) &gt; 0.5</a:t>
            </a:r>
          </a:p>
          <a:p>
            <a:pPr marL="400050" lvl="1" indent="0">
              <a:buNone/>
            </a:pPr>
            <a:r>
              <a:rPr lang="en-US" sz="1400" dirty="0">
                <a:latin typeface="Consolas" panose="020B0609020204030204" pitchFamily="49" charset="0"/>
              </a:rPr>
              <a:t>print(</a:t>
            </a:r>
            <a:r>
              <a:rPr lang="en-US" sz="1400" dirty="0" err="1">
                <a:latin typeface="Consolas" panose="020B0609020204030204" pitchFamily="49" charset="0"/>
              </a:rPr>
              <a:t>f"Accuracy</a:t>
            </a:r>
            <a:r>
              <a:rPr lang="en-US" sz="1400" dirty="0">
                <a:latin typeface="Consolas" panose="020B0609020204030204" pitchFamily="49" charset="0"/>
              </a:rPr>
              <a:t> = {(</a:t>
            </a:r>
            <a:r>
              <a:rPr lang="en-US" sz="1400" dirty="0" err="1">
                <a:latin typeface="Consolas" panose="020B0609020204030204" pitchFamily="49" charset="0"/>
              </a:rPr>
              <a:t>Y_test</a:t>
            </a:r>
            <a:r>
              <a:rPr lang="en-US" sz="1400" dirty="0">
                <a:latin typeface="Consolas" panose="020B0609020204030204" pitchFamily="49" charset="0"/>
              </a:rPr>
              <a:t> == </a:t>
            </a:r>
            <a:r>
              <a:rPr lang="en-US" sz="1400" dirty="0" err="1">
                <a:latin typeface="Consolas" panose="020B0609020204030204" pitchFamily="49" charset="0"/>
              </a:rPr>
              <a:t>pred.values</a:t>
            </a:r>
            <a:r>
              <a:rPr lang="en-US" sz="1400" dirty="0">
                <a:latin typeface="Consolas" panose="020B0609020204030204" pitchFamily="49" charset="0"/>
              </a:rPr>
              <a:t>).mean() * 100}%")   </a:t>
            </a:r>
            <a:r>
              <a:rPr lang="en-US" sz="1400">
                <a:latin typeface="Consolas" panose="020B0609020204030204" pitchFamily="49" charset="0"/>
              </a:rPr>
              <a:t># output:  Accuracy = 95.0%</a:t>
            </a:r>
            <a:endParaRPr lang="en-US" sz="1400" dirty="0">
              <a:latin typeface="Consolas" panose="020B0609020204030204" pitchFamily="49" charset="0"/>
            </a:endParaRPr>
          </a:p>
        </p:txBody>
      </p:sp>
    </p:spTree>
    <p:extLst>
      <p:ext uri="{BB962C8B-B14F-4D97-AF65-F5344CB8AC3E}">
        <p14:creationId xmlns:p14="http://schemas.microsoft.com/office/powerpoint/2010/main" val="226014828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Quotable">
  <a:themeElements>
    <a:clrScheme name="Default">
      <a:dk1>
        <a:srgbClr val="000000"/>
      </a:dk1>
      <a:lt1>
        <a:sysClr val="window" lastClr="FFFFFF"/>
      </a:lt1>
      <a:dk2>
        <a:srgbClr val="3F3F3F"/>
      </a:dk2>
      <a:lt2>
        <a:srgbClr val="E7E6E6"/>
      </a:lt2>
      <a:accent1>
        <a:srgbClr val="700000"/>
      </a:accent1>
      <a:accent2>
        <a:srgbClr val="ED7D31"/>
      </a:accent2>
      <a:accent3>
        <a:srgbClr val="A5A5A5"/>
      </a:accent3>
      <a:accent4>
        <a:srgbClr val="FFC000"/>
      </a:accent4>
      <a:accent5>
        <a:srgbClr val="700000"/>
      </a:accent5>
      <a:accent6>
        <a:srgbClr val="978869"/>
      </a:accent6>
      <a:hlink>
        <a:srgbClr val="FFC000"/>
      </a:hlink>
      <a:folHlink>
        <a:srgbClr val="7F7F7F"/>
      </a:folHlink>
    </a:clrScheme>
    <a:fontScheme name="Century Gothic">
      <a:majorFont>
        <a:latin typeface="Century Gothic" panose="020F030202020403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F03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Quotable">
      <a:fillStyleLst>
        <a:solidFill>
          <a:schemeClr val="phClr"/>
        </a:solidFill>
        <a:gradFill rotWithShape="1">
          <a:gsLst>
            <a:gs pos="0">
              <a:schemeClr val="phClr">
                <a:tint val="80000"/>
                <a:lumMod val="105000"/>
              </a:schemeClr>
            </a:gs>
            <a:gs pos="100000">
              <a:schemeClr val="phClr">
                <a:tint val="90000"/>
              </a:schemeClr>
            </a:gs>
          </a:gsLst>
          <a:lin ang="5400000" scaled="0"/>
        </a:gradFill>
        <a:blipFill rotWithShape="1">
          <a:blip xmlns:r="http://schemas.openxmlformats.org/officeDocument/2006/relationships" r:embed="rId1">
            <a:duotone>
              <a:schemeClr val="phClr">
                <a:tint val="98000"/>
                <a:lumMod val="102000"/>
              </a:schemeClr>
              <a:schemeClr val="phClr">
                <a:shade val="98000"/>
                <a:lumMod val="98000"/>
              </a:schemeClr>
            </a:duotone>
          </a:blip>
          <a:tile tx="0" ty="0" sx="100000" sy="100000" flip="none" algn="tl"/>
        </a:blipFill>
      </a:fillStyleLst>
      <a:lnStyleLst>
        <a:ln w="9525" cap="rnd" cmpd="sng" algn="ctr">
          <a:solidFill>
            <a:schemeClr val="ph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effectStyle>
        <a:effectStyle>
          <a:effectLst>
            <a:innerShdw blurRad="63500" dist="25400" dir="13500000">
              <a:srgbClr val="000000">
                <a:alpha val="75000"/>
              </a:srgbClr>
            </a:innerShdw>
          </a:effectLst>
        </a:effectStyle>
      </a:effectStyleLst>
      <a:bgFillStyleLst>
        <a:solidFill>
          <a:schemeClr val="phClr"/>
        </a:solidFill>
        <a:gradFill rotWithShape="1">
          <a:gsLst>
            <a:gs pos="0">
              <a:schemeClr val="phClr">
                <a:tint val="100000"/>
              </a:schemeClr>
            </a:gs>
            <a:gs pos="100000">
              <a:schemeClr val="phClr">
                <a:tint val="84000"/>
                <a:shade val="84000"/>
                <a:lumMod val="90000"/>
              </a:schemeClr>
            </a:gs>
          </a:gsLst>
          <a:lin ang="5400000" scaled="0"/>
        </a:gradFill>
        <a:gradFill rotWithShape="1">
          <a:gsLst>
            <a:gs pos="0">
              <a:schemeClr val="phClr">
                <a:tint val="84000"/>
                <a:shade val="90000"/>
                <a:satMod val="120000"/>
                <a:lumMod val="90000"/>
              </a:schemeClr>
            </a:gs>
            <a:gs pos="100000">
              <a:schemeClr val="phClr"/>
            </a:gs>
          </a:gsLst>
          <a:lin ang="5400000" scaled="0"/>
        </a:gradFill>
      </a:bgFillStyleLst>
    </a:fmtScheme>
  </a:themeElements>
  <a:objectDefaults/>
  <a:extraClrSchemeLst/>
  <a:extLst>
    <a:ext uri="{05A4C25C-085E-4340-85A3-A5531E510DB2}">
      <thm15:themeFamily xmlns:thm15="http://schemas.microsoft.com/office/thememl/2012/main" name="Persuasive Speech Outline_SL_v5" id="{5581881B-4813-400F-8DBA-5A98066FCECE}" vid="{804D9012-1EE1-49D9-B1AB-A146B02984B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416B40607B74BC429BA29107EE76F9BC" ma:contentTypeVersion="3" ma:contentTypeDescription="Create a new document." ma:contentTypeScope="" ma:versionID="8d954ed4b3cb9c29b263d8f4cc7a1621">
  <xsd:schema xmlns:xsd="http://www.w3.org/2001/XMLSchema" xmlns:xs="http://www.w3.org/2001/XMLSchema" xmlns:p="http://schemas.microsoft.com/office/2006/metadata/properties" xmlns:ns2="3fdd4eb4-493c-48cf-bddf-25f1a88be6fa" targetNamespace="http://schemas.microsoft.com/office/2006/metadata/properties" ma:root="true" ma:fieldsID="5620d4e465eb8e8b26209b43ace93774" ns2:_="">
    <xsd:import namespace="3fdd4eb4-493c-48cf-bddf-25f1a88be6fa"/>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fdd4eb4-493c-48cf-bddf-25f1a88be6f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0DC75368-59C6-47C9-94A5-81D396CCE5D1}">
  <ds:schemaRefs>
    <ds:schemaRef ds:uri="http://schemas.microsoft.com/sharepoint/v3/contenttype/forms"/>
  </ds:schemaRefs>
</ds:datastoreItem>
</file>

<file path=customXml/itemProps2.xml><?xml version="1.0" encoding="utf-8"?>
<ds:datastoreItem xmlns:ds="http://schemas.openxmlformats.org/officeDocument/2006/customXml" ds:itemID="{05B17F53-3D11-4C01-86DB-297D244183FB}"/>
</file>

<file path=customXml/itemProps3.xml><?xml version="1.0" encoding="utf-8"?>
<ds:datastoreItem xmlns:ds="http://schemas.openxmlformats.org/officeDocument/2006/customXml" ds:itemID="{9A1DE3E1-BE43-4468-8986-14BA0CF36A3F}">
  <ds:schemaRefs>
    <ds:schemaRef ds:uri="http://schemas.microsoft.com/office/2006/documentManagement/types"/>
    <ds:schemaRef ds:uri="http://purl.org/dc/elements/1.1/"/>
    <ds:schemaRef ds:uri="6dc4bcd6-49db-4c07-9060-8acfc67cef9f"/>
    <ds:schemaRef ds:uri="http://schemas.microsoft.com/office/2006/metadata/properties"/>
    <ds:schemaRef ds:uri="http://purl.org/dc/terms/"/>
    <ds:schemaRef ds:uri="http://purl.org/dc/dcmitype/"/>
    <ds:schemaRef ds:uri="http://schemas.microsoft.com/office/infopath/2007/PartnerControls"/>
    <ds:schemaRef ds:uri="http://schemas.microsoft.com/sharepoint/v3"/>
    <ds:schemaRef ds:uri="http://schemas.openxmlformats.org/package/2006/metadata/core-properties"/>
    <ds:schemaRef ds:uri="fb0879af-3eba-417a-a55a-ffe6dcd6ca77"/>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Persuasive speech outline </Template>
  <TotalTime>0</TotalTime>
  <Words>2469</Words>
  <Application>Microsoft Office PowerPoint</Application>
  <PresentationFormat>Widescreen</PresentationFormat>
  <Paragraphs>187</Paragraphs>
  <Slides>24</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24</vt:i4>
      </vt:variant>
    </vt:vector>
  </HeadingPairs>
  <TitlesOfParts>
    <vt:vector size="30" baseType="lpstr">
      <vt:lpstr>Calibri</vt:lpstr>
      <vt:lpstr>Cambria Math</vt:lpstr>
      <vt:lpstr>Century Gothic</vt:lpstr>
      <vt:lpstr>Consolas</vt:lpstr>
      <vt:lpstr>Wingdings 2</vt:lpstr>
      <vt:lpstr>Quotable</vt:lpstr>
      <vt:lpstr>Probabilistic Programming</vt:lpstr>
      <vt:lpstr>Variational Bayesian Methods</vt:lpstr>
      <vt:lpstr>Variational Bayesian Methods</vt:lpstr>
      <vt:lpstr>Variational Inference</vt:lpstr>
      <vt:lpstr>Approximate inference</vt:lpstr>
      <vt:lpstr>Variational Inference</vt:lpstr>
      <vt:lpstr>KL-divergence comes from Information Theory</vt:lpstr>
      <vt:lpstr>Information Theory</vt:lpstr>
      <vt:lpstr>The Entropy</vt:lpstr>
      <vt:lpstr>Kullback–Leibler Divergence</vt:lpstr>
      <vt:lpstr>Kullback–Leibler Divergence</vt:lpstr>
      <vt:lpstr>Coming Back to Variational Inference</vt:lpstr>
      <vt:lpstr>The Evidence Lower Bound (ELBO)</vt:lpstr>
      <vt:lpstr>Variational Inference</vt:lpstr>
      <vt:lpstr>Variational Inference</vt:lpstr>
      <vt:lpstr>Example: Bayesian Neural Networks</vt:lpstr>
      <vt:lpstr>Bayesian Neural Networks</vt:lpstr>
      <vt:lpstr>Bayesian Neural Networks</vt:lpstr>
      <vt:lpstr>Why Bayesian Neural Networks?</vt:lpstr>
      <vt:lpstr>Generating Data</vt:lpstr>
      <vt:lpstr>Model Specification</vt:lpstr>
      <vt:lpstr>Model Specification</vt:lpstr>
      <vt:lpstr>Automatic Differentiation Variational Inference (ADVI)</vt:lpstr>
      <vt:lpstr>Prediction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2018-09-08T07:39:54Z</dcterms:created>
  <dcterms:modified xsi:type="dcterms:W3CDTF">2026-01-26T08:22:46Z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0x010100416B40607B74BC429BA29107EE76F9BC</vt:lpwstr>
  </property>
</Properties>
</file>