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72" r:id="rId4"/>
  </p:sldMasterIdLst>
  <p:notesMasterIdLst>
    <p:notesMasterId r:id="rId46"/>
  </p:notesMasterIdLst>
  <p:handoutMasterIdLst>
    <p:handoutMasterId r:id="rId47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300" r:id="rId12"/>
    <p:sldId id="263" r:id="rId13"/>
    <p:sldId id="266" r:id="rId14"/>
    <p:sldId id="267" r:id="rId15"/>
    <p:sldId id="268" r:id="rId16"/>
    <p:sldId id="269" r:id="rId17"/>
    <p:sldId id="270" r:id="rId18"/>
    <p:sldId id="288" r:id="rId19"/>
    <p:sldId id="289" r:id="rId20"/>
    <p:sldId id="271" r:id="rId21"/>
    <p:sldId id="304" r:id="rId22"/>
    <p:sldId id="305" r:id="rId23"/>
    <p:sldId id="306" r:id="rId24"/>
    <p:sldId id="278" r:id="rId25"/>
    <p:sldId id="279" r:id="rId26"/>
    <p:sldId id="301" r:id="rId27"/>
    <p:sldId id="303" r:id="rId28"/>
    <p:sldId id="307" r:id="rId29"/>
    <p:sldId id="296" r:id="rId30"/>
    <p:sldId id="297" r:id="rId31"/>
    <p:sldId id="298" r:id="rId32"/>
    <p:sldId id="299" r:id="rId33"/>
    <p:sldId id="302" r:id="rId34"/>
    <p:sldId id="280" r:id="rId35"/>
    <p:sldId id="290" r:id="rId36"/>
    <p:sldId id="284" r:id="rId37"/>
    <p:sldId id="285" r:id="rId38"/>
    <p:sldId id="286" r:id="rId39"/>
    <p:sldId id="287" r:id="rId40"/>
    <p:sldId id="291" r:id="rId41"/>
    <p:sldId id="292" r:id="rId42"/>
    <p:sldId id="293" r:id="rId43"/>
    <p:sldId id="294" r:id="rId44"/>
    <p:sldId id="295" r:id="rId4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E3E3E"/>
    <a:srgbClr val="6D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C7853C-536D-4A76-A0AE-DD22124D55A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84346" autoAdjust="0"/>
  </p:normalViewPr>
  <p:slideViewPr>
    <p:cSldViewPr snapToGrid="0">
      <p:cViewPr varScale="1">
        <p:scale>
          <a:sx n="114" d="100"/>
          <a:sy n="114" d="100"/>
        </p:scale>
        <p:origin x="474" y="31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5" d="100"/>
          <a:sy n="55" d="100"/>
        </p:scale>
        <p:origin x="2880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3EDD3B8-5E68-48E9-AAB1-5DE570C28ED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897E35-4312-4077-83D3-69953080BC2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836F02-AF67-416B-AB85-08CFF698F86D}" type="datetimeFigureOut">
              <a:rPr lang="en-US" smtClean="0"/>
              <a:t>10/16/2025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853C52-2B92-4B9E-86F4-DB78684BEC8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0E0EA4-BAD2-4335-9446-CA4CCFEC14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65BC62-3B36-43F8-8B69-D6E5E743DA3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65184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B7E8F0-931C-4E43-98D1-A3CD0E0034DC}" type="datetimeFigureOut">
              <a:rPr lang="en-US" smtClean="0"/>
              <a:t>10/16/2025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AEB063-7F11-4E3B-BA52-07405B1C2D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2930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AEB063-7F11-4E3B-BA52-07405B1C2D9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51671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381388F-6D01-4763-9497-2C5F78AF5477}"/>
              </a:ext>
            </a:extLst>
          </p:cNvPr>
          <p:cNvSpPr/>
          <p:nvPr userDrawn="1"/>
        </p:nvSpPr>
        <p:spPr>
          <a:xfrm>
            <a:off x="0" y="4818185"/>
            <a:ext cx="12192000" cy="20398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/>
          <p:cNvSpPr/>
          <p:nvPr/>
        </p:nvSpPr>
        <p:spPr bwMode="ltGray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>
            <a:innerShdw blurRad="63500" dist="50800" dir="5400000">
              <a:prstClr val="black">
                <a:alpha val="50000"/>
              </a:prstClr>
            </a:innerShdw>
          </a:effectLst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 algn="ctr">
              <a:defRPr sz="5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>
            <a:no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F6C47-B260-4BB6-8230-7D14D5CDE026}" type="datetimeFigureOut">
              <a:rPr lang="en-US" smtClean="0"/>
              <a:t>10/16/2025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dirty="0"/>
              <a:t>Add a footer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42799-31AF-4FF8-9D79-C1A3E01FB20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4326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ltGray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ffectLst>
            <a:innerShdw blurRad="63500" dist="50800" dir="5400000">
              <a:prstClr val="black">
                <a:alpha val="50000"/>
              </a:prstClr>
            </a:innerShdw>
          </a:effectLst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  <a:noFill/>
          <a:ln w="25400">
            <a:gradFill>
              <a:gsLst>
                <a:gs pos="50000">
                  <a:schemeClr val="bg2"/>
                </a:gs>
                <a:gs pos="0">
                  <a:schemeClr val="bg2"/>
                </a:gs>
                <a:gs pos="100000">
                  <a:schemeClr val="accent1"/>
                </a:gs>
              </a:gsLst>
              <a:lin ang="5400000" scaled="1"/>
            </a:gra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F6C47-B260-4BB6-8230-7D14D5CDE026}" type="datetimeFigureOut">
              <a:rPr lang="en-US" smtClean="0"/>
              <a:t>10/16/2025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dirty="0"/>
              <a:t>Add a footer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42799-31AF-4FF8-9D79-C1A3E01FB20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A4059F8-A688-4FFE-AA79-3B6D811FA9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222287"/>
            <a:ext cx="5181600" cy="363876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64910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Content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ltGray">
          <a:xfrm>
            <a:off x="0" y="1"/>
            <a:ext cx="12192000" cy="6251330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1514" y="451513"/>
            <a:ext cx="11288972" cy="5149187"/>
          </a:xfrm>
        </p:spPr>
        <p:txBody>
          <a:bodyPr anchor="ctr" anchorCtr="0"/>
          <a:lstStyle>
            <a:lvl1pPr algn="ctr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F6C47-B260-4BB6-8230-7D14D5CDE026}" type="datetimeFigureOut">
              <a:rPr lang="en-US" smtClean="0"/>
              <a:t>10/16/2025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dirty="0"/>
              <a:t>Add a footer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42799-31AF-4FF8-9D79-C1A3E01FB20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3193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ltGray">
          <a:xfrm flipH="1">
            <a:off x="12699" y="0"/>
            <a:ext cx="6004585" cy="2041975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ffectLst>
            <a:innerShdw blurRad="63500" dist="50800" dir="8100000">
              <a:prstClr val="black">
                <a:alpha val="50000"/>
              </a:prstClr>
            </a:innerShdw>
          </a:effectLst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1514" y="375313"/>
            <a:ext cx="5114017" cy="1139895"/>
          </a:xfrm>
        </p:spPr>
        <p:txBody>
          <a:bodyPr/>
          <a:lstStyle>
            <a:lvl1pPr algn="l">
              <a:defRPr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1514" y="2222287"/>
            <a:ext cx="5553071" cy="3638763"/>
          </a:xfrm>
          <a:ln w="25400">
            <a:gradFill>
              <a:gsLst>
                <a:gs pos="0">
                  <a:schemeClr val="bg2"/>
                </a:gs>
                <a:gs pos="50000">
                  <a:srgbClr val="4A3030"/>
                </a:gs>
                <a:gs pos="100000">
                  <a:schemeClr val="accent1"/>
                </a:gs>
              </a:gsLst>
              <a:lin ang="5400000" scaled="1"/>
            </a:gra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F6C47-B260-4BB6-8230-7D14D5CDE026}" type="datetimeFigureOut">
              <a:rPr lang="en-US" smtClean="0"/>
              <a:t>10/16/2025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dirty="0"/>
              <a:t>Add a footer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42799-31AF-4FF8-9D79-C1A3E01FB20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C95D556F-51D2-4EF4-B60F-D319BF23288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56099" y="375312"/>
            <a:ext cx="5186363" cy="5485737"/>
          </a:xfrm>
        </p:spPr>
        <p:txBody>
          <a:bodyPr anchor="t" anchorCtr="0"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44642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ltGray">
          <a:xfrm flipH="1">
            <a:off x="6187414" y="0"/>
            <a:ext cx="6004583" cy="2041975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ffectLst>
            <a:innerShdw blurRad="63500" dist="50800" dir="2700000">
              <a:prstClr val="black">
                <a:alpha val="50000"/>
              </a:prstClr>
            </a:innerShdw>
          </a:effectLst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32696" y="359551"/>
            <a:ext cx="5114017" cy="1139895"/>
          </a:xfrm>
        </p:spPr>
        <p:txBody>
          <a:bodyPr/>
          <a:lstStyle>
            <a:lvl1pPr algn="l">
              <a:defRPr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1514" y="451513"/>
            <a:ext cx="5553071" cy="5409537"/>
          </a:xfrm>
        </p:spPr>
        <p:txBody>
          <a:bodyPr anchor="t" anchorCtr="0">
            <a:normAutofit/>
          </a:bodyPr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54563" y="2222287"/>
            <a:ext cx="5553071" cy="3638764"/>
          </a:xfrm>
          <a:ln>
            <a:gradFill>
              <a:gsLst>
                <a:gs pos="0">
                  <a:schemeClr val="bg2"/>
                </a:gs>
                <a:gs pos="50000">
                  <a:schemeClr val="bg2"/>
                </a:gs>
                <a:gs pos="100000">
                  <a:schemeClr val="accent1"/>
                </a:gs>
              </a:gsLst>
              <a:lin ang="5400000" scaled="1"/>
            </a:gra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F6C47-B260-4BB6-8230-7D14D5CDE026}" type="datetimeFigureOut">
              <a:rPr lang="en-US" smtClean="0"/>
              <a:t>10/16/2025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dirty="0"/>
              <a:t>Add a footer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42799-31AF-4FF8-9D79-C1A3E01FB20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031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B2B99B50-4971-48A5-8202-4CC55C7F97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96000" y="0"/>
            <a:ext cx="6096000" cy="6857999"/>
          </a:xfrm>
          <a:custGeom>
            <a:avLst/>
            <a:gdLst>
              <a:gd name="connsiteX0" fmla="*/ 404916 w 6526400"/>
              <a:gd name="connsiteY0" fmla="*/ 0 h 6857999"/>
              <a:gd name="connsiteX1" fmla="*/ 1425163 w 6526400"/>
              <a:gd name="connsiteY1" fmla="*/ 0 h 6857999"/>
              <a:gd name="connsiteX2" fmla="*/ 2955534 w 6526400"/>
              <a:gd name="connsiteY2" fmla="*/ 0 h 6857999"/>
              <a:gd name="connsiteX3" fmla="*/ 6526400 w 6526400"/>
              <a:gd name="connsiteY3" fmla="*/ 0 h 6857999"/>
              <a:gd name="connsiteX4" fmla="*/ 6526400 w 6526400"/>
              <a:gd name="connsiteY4" fmla="*/ 6857999 h 6857999"/>
              <a:gd name="connsiteX5" fmla="*/ 404916 w 6526400"/>
              <a:gd name="connsiteY5" fmla="*/ 6857999 h 6857999"/>
              <a:gd name="connsiteX6" fmla="*/ 377830 w 6526400"/>
              <a:gd name="connsiteY6" fmla="*/ 2463800 h 6857999"/>
              <a:gd name="connsiteX7" fmla="*/ 0 w 6526400"/>
              <a:gd name="connsiteY7" fmla="*/ 2203407 h 6857999"/>
              <a:gd name="connsiteX8" fmla="*/ 391373 w 6526400"/>
              <a:gd name="connsiteY8" fmla="*/ 1854200 h 6857999"/>
              <a:gd name="connsiteX9" fmla="*/ 404916 w 6526400"/>
              <a:gd name="connsiteY9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526400" h="6857999">
                <a:moveTo>
                  <a:pt x="404916" y="0"/>
                </a:moveTo>
                <a:lnTo>
                  <a:pt x="1425163" y="0"/>
                </a:lnTo>
                <a:lnTo>
                  <a:pt x="2955534" y="0"/>
                </a:lnTo>
                <a:lnTo>
                  <a:pt x="6526400" y="0"/>
                </a:lnTo>
                <a:lnTo>
                  <a:pt x="6526400" y="6857999"/>
                </a:lnTo>
                <a:lnTo>
                  <a:pt x="404916" y="6857999"/>
                </a:lnTo>
                <a:lnTo>
                  <a:pt x="377830" y="2463800"/>
                </a:lnTo>
                <a:lnTo>
                  <a:pt x="0" y="2203407"/>
                </a:lnTo>
                <a:lnTo>
                  <a:pt x="391373" y="1854200"/>
                </a:lnTo>
                <a:cubicBezTo>
                  <a:pt x="395887" y="1282700"/>
                  <a:pt x="400402" y="571500"/>
                  <a:pt x="404916" y="0"/>
                </a:cubicBezTo>
                <a:close/>
              </a:path>
            </a:pathLst>
          </a:custGeom>
          <a:ln/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396" y="311813"/>
            <a:ext cx="5334448" cy="1453488"/>
          </a:xfrm>
          <a:effectLst/>
        </p:spPr>
        <p:txBody>
          <a:bodyPr anchor="b">
            <a:normAutofit/>
          </a:bodyPr>
          <a:lstStyle>
            <a:lvl1pPr algn="l">
              <a:defRPr sz="4000" b="0">
                <a:ln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FB7F6C47-B260-4BB6-8230-7D14D5CDE026}" type="datetimeFigureOut">
              <a:rPr lang="en-US" smtClean="0"/>
              <a:t>10/16/2025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r>
              <a:rPr lang="en-ZA" dirty="0"/>
              <a:t>Add a footer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A4942799-31AF-4FF8-9D79-C1A3E01FB20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EB4FB892-38DF-40F9-B034-BC1E61FC6B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0396" y="2057400"/>
            <a:ext cx="5334448" cy="3811588"/>
          </a:xfrm>
        </p:spPr>
        <p:txBody>
          <a:bodyPr anchor="t"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97305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ltGray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ffectLst>
            <a:innerShdw blurRad="63500" dist="50800" dir="5400000">
              <a:prstClr val="black">
                <a:alpha val="50000"/>
              </a:prstClr>
            </a:innerShdw>
          </a:effectLst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10001" y="2222287"/>
            <a:ext cx="10571998" cy="3638764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F6C47-B260-4BB6-8230-7D14D5CDE026}" type="datetimeFigureOut">
              <a:rPr lang="en-US" smtClean="0"/>
              <a:t>10/16/2025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dirty="0"/>
              <a:t>Add a footer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42799-31AF-4FF8-9D79-C1A3E01FB20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7688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89884"/>
            <a:ext cx="10561418" cy="1426004"/>
          </a:xfrm>
        </p:spPr>
        <p:txBody>
          <a:bodyPr anchor="ctr" anchorCtr="0">
            <a:normAutofit/>
          </a:bodyPr>
          <a:lstStyle>
            <a:lvl1pPr algn="ctr">
              <a:defRPr sz="4000" b="0">
                <a:ln>
                  <a:noFill/>
                </a:ln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F6C47-B260-4BB6-8230-7D14D5CDE026}" type="datetimeFigureOut">
              <a:rPr lang="en-US" smtClean="0"/>
              <a:t>10/16/2025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dirty="0"/>
              <a:t>Add a footer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42799-31AF-4FF8-9D79-C1A3E01FB20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C1FEB3F-0898-4AE0-B8C4-970BF80A3766}"/>
              </a:ext>
            </a:extLst>
          </p:cNvPr>
          <p:cNvSpPr>
            <a:spLocks noGrp="1"/>
          </p:cNvSpPr>
          <p:nvPr>
            <p:ph sz="quarter" idx="14"/>
          </p:nvPr>
        </p:nvSpPr>
        <p:spPr bwMode="ltGray">
          <a:xfrm>
            <a:off x="-5291" y="-57584"/>
            <a:ext cx="12192000" cy="4851400"/>
          </a:xfrm>
          <a:custGeom>
            <a:avLst/>
            <a:gdLst>
              <a:gd name="connsiteX0" fmla="*/ 0 w 10561638"/>
              <a:gd name="connsiteY0" fmla="*/ 0 h 3937000"/>
              <a:gd name="connsiteX1" fmla="*/ 1760273 w 10561638"/>
              <a:gd name="connsiteY1" fmla="*/ 0 h 3937000"/>
              <a:gd name="connsiteX2" fmla="*/ 1760273 w 10561638"/>
              <a:gd name="connsiteY2" fmla="*/ 0 h 3937000"/>
              <a:gd name="connsiteX3" fmla="*/ 4400683 w 10561638"/>
              <a:gd name="connsiteY3" fmla="*/ 0 h 3937000"/>
              <a:gd name="connsiteX4" fmla="*/ 10561638 w 10561638"/>
              <a:gd name="connsiteY4" fmla="*/ 0 h 3937000"/>
              <a:gd name="connsiteX5" fmla="*/ 10561638 w 10561638"/>
              <a:gd name="connsiteY5" fmla="*/ 2296583 h 3937000"/>
              <a:gd name="connsiteX6" fmla="*/ 10561638 w 10561638"/>
              <a:gd name="connsiteY6" fmla="*/ 2296583 h 3937000"/>
              <a:gd name="connsiteX7" fmla="*/ 10561638 w 10561638"/>
              <a:gd name="connsiteY7" fmla="*/ 3280833 h 3937000"/>
              <a:gd name="connsiteX8" fmla="*/ 10561638 w 10561638"/>
              <a:gd name="connsiteY8" fmla="*/ 3937000 h 3937000"/>
              <a:gd name="connsiteX9" fmla="*/ 4400683 w 10561638"/>
              <a:gd name="connsiteY9" fmla="*/ 3937000 h 3937000"/>
              <a:gd name="connsiteX10" fmla="*/ 2077263 w 10561638"/>
              <a:gd name="connsiteY10" fmla="*/ 4251330 h 3937000"/>
              <a:gd name="connsiteX11" fmla="*/ 1760273 w 10561638"/>
              <a:gd name="connsiteY11" fmla="*/ 3937000 h 3937000"/>
              <a:gd name="connsiteX12" fmla="*/ 0 w 10561638"/>
              <a:gd name="connsiteY12" fmla="*/ 3937000 h 3937000"/>
              <a:gd name="connsiteX13" fmla="*/ 0 w 10561638"/>
              <a:gd name="connsiteY13" fmla="*/ 3280833 h 3937000"/>
              <a:gd name="connsiteX14" fmla="*/ 0 w 10561638"/>
              <a:gd name="connsiteY14" fmla="*/ 2296583 h 3937000"/>
              <a:gd name="connsiteX15" fmla="*/ 0 w 10561638"/>
              <a:gd name="connsiteY15" fmla="*/ 2296583 h 3937000"/>
              <a:gd name="connsiteX16" fmla="*/ 0 w 10561638"/>
              <a:gd name="connsiteY16" fmla="*/ 0 h 3937000"/>
              <a:gd name="connsiteX0" fmla="*/ 0 w 10561638"/>
              <a:gd name="connsiteY0" fmla="*/ 0 h 4251330"/>
              <a:gd name="connsiteX1" fmla="*/ 1760273 w 10561638"/>
              <a:gd name="connsiteY1" fmla="*/ 0 h 4251330"/>
              <a:gd name="connsiteX2" fmla="*/ 1760273 w 10561638"/>
              <a:gd name="connsiteY2" fmla="*/ 0 h 4251330"/>
              <a:gd name="connsiteX3" fmla="*/ 4400683 w 10561638"/>
              <a:gd name="connsiteY3" fmla="*/ 0 h 4251330"/>
              <a:gd name="connsiteX4" fmla="*/ 10561638 w 10561638"/>
              <a:gd name="connsiteY4" fmla="*/ 0 h 4251330"/>
              <a:gd name="connsiteX5" fmla="*/ 10561638 w 10561638"/>
              <a:gd name="connsiteY5" fmla="*/ 2296583 h 4251330"/>
              <a:gd name="connsiteX6" fmla="*/ 10561638 w 10561638"/>
              <a:gd name="connsiteY6" fmla="*/ 2296583 h 4251330"/>
              <a:gd name="connsiteX7" fmla="*/ 10561638 w 10561638"/>
              <a:gd name="connsiteY7" fmla="*/ 3280833 h 4251330"/>
              <a:gd name="connsiteX8" fmla="*/ 10561638 w 10561638"/>
              <a:gd name="connsiteY8" fmla="*/ 3937000 h 4251330"/>
              <a:gd name="connsiteX9" fmla="*/ 2482983 w 10561638"/>
              <a:gd name="connsiteY9" fmla="*/ 3975100 h 4251330"/>
              <a:gd name="connsiteX10" fmla="*/ 2077263 w 10561638"/>
              <a:gd name="connsiteY10" fmla="*/ 4251330 h 4251330"/>
              <a:gd name="connsiteX11" fmla="*/ 1760273 w 10561638"/>
              <a:gd name="connsiteY11" fmla="*/ 3937000 h 4251330"/>
              <a:gd name="connsiteX12" fmla="*/ 0 w 10561638"/>
              <a:gd name="connsiteY12" fmla="*/ 3937000 h 4251330"/>
              <a:gd name="connsiteX13" fmla="*/ 0 w 10561638"/>
              <a:gd name="connsiteY13" fmla="*/ 3280833 h 4251330"/>
              <a:gd name="connsiteX14" fmla="*/ 0 w 10561638"/>
              <a:gd name="connsiteY14" fmla="*/ 2296583 h 4251330"/>
              <a:gd name="connsiteX15" fmla="*/ 0 w 10561638"/>
              <a:gd name="connsiteY15" fmla="*/ 2296583 h 4251330"/>
              <a:gd name="connsiteX16" fmla="*/ 0 w 10561638"/>
              <a:gd name="connsiteY16" fmla="*/ 0 h 4251330"/>
              <a:gd name="connsiteX0" fmla="*/ 0 w 10561638"/>
              <a:gd name="connsiteY0" fmla="*/ 0 h 4251330"/>
              <a:gd name="connsiteX1" fmla="*/ 1760273 w 10561638"/>
              <a:gd name="connsiteY1" fmla="*/ 0 h 4251330"/>
              <a:gd name="connsiteX2" fmla="*/ 1760273 w 10561638"/>
              <a:gd name="connsiteY2" fmla="*/ 0 h 4251330"/>
              <a:gd name="connsiteX3" fmla="*/ 4400683 w 10561638"/>
              <a:gd name="connsiteY3" fmla="*/ 0 h 4251330"/>
              <a:gd name="connsiteX4" fmla="*/ 10561638 w 10561638"/>
              <a:gd name="connsiteY4" fmla="*/ 0 h 4251330"/>
              <a:gd name="connsiteX5" fmla="*/ 10561638 w 10561638"/>
              <a:gd name="connsiteY5" fmla="*/ 2296583 h 4251330"/>
              <a:gd name="connsiteX6" fmla="*/ 10561638 w 10561638"/>
              <a:gd name="connsiteY6" fmla="*/ 2296583 h 4251330"/>
              <a:gd name="connsiteX7" fmla="*/ 10561638 w 10561638"/>
              <a:gd name="connsiteY7" fmla="*/ 3280833 h 4251330"/>
              <a:gd name="connsiteX8" fmla="*/ 10561638 w 10561638"/>
              <a:gd name="connsiteY8" fmla="*/ 3937000 h 4251330"/>
              <a:gd name="connsiteX9" fmla="*/ 2343283 w 10561638"/>
              <a:gd name="connsiteY9" fmla="*/ 3987800 h 4251330"/>
              <a:gd name="connsiteX10" fmla="*/ 2077263 w 10561638"/>
              <a:gd name="connsiteY10" fmla="*/ 4251330 h 4251330"/>
              <a:gd name="connsiteX11" fmla="*/ 1760273 w 10561638"/>
              <a:gd name="connsiteY11" fmla="*/ 3937000 h 4251330"/>
              <a:gd name="connsiteX12" fmla="*/ 0 w 10561638"/>
              <a:gd name="connsiteY12" fmla="*/ 3937000 h 4251330"/>
              <a:gd name="connsiteX13" fmla="*/ 0 w 10561638"/>
              <a:gd name="connsiteY13" fmla="*/ 3280833 h 4251330"/>
              <a:gd name="connsiteX14" fmla="*/ 0 w 10561638"/>
              <a:gd name="connsiteY14" fmla="*/ 2296583 h 4251330"/>
              <a:gd name="connsiteX15" fmla="*/ 0 w 10561638"/>
              <a:gd name="connsiteY15" fmla="*/ 2296583 h 4251330"/>
              <a:gd name="connsiteX16" fmla="*/ 0 w 10561638"/>
              <a:gd name="connsiteY16" fmla="*/ 0 h 4251330"/>
              <a:gd name="connsiteX0" fmla="*/ 0 w 10561638"/>
              <a:gd name="connsiteY0" fmla="*/ 0 h 4251330"/>
              <a:gd name="connsiteX1" fmla="*/ 1760273 w 10561638"/>
              <a:gd name="connsiteY1" fmla="*/ 0 h 4251330"/>
              <a:gd name="connsiteX2" fmla="*/ 1760273 w 10561638"/>
              <a:gd name="connsiteY2" fmla="*/ 0 h 4251330"/>
              <a:gd name="connsiteX3" fmla="*/ 4400683 w 10561638"/>
              <a:gd name="connsiteY3" fmla="*/ 0 h 4251330"/>
              <a:gd name="connsiteX4" fmla="*/ 10561638 w 10561638"/>
              <a:gd name="connsiteY4" fmla="*/ 0 h 4251330"/>
              <a:gd name="connsiteX5" fmla="*/ 10561638 w 10561638"/>
              <a:gd name="connsiteY5" fmla="*/ 2296583 h 4251330"/>
              <a:gd name="connsiteX6" fmla="*/ 10561638 w 10561638"/>
              <a:gd name="connsiteY6" fmla="*/ 2296583 h 4251330"/>
              <a:gd name="connsiteX7" fmla="*/ 10561638 w 10561638"/>
              <a:gd name="connsiteY7" fmla="*/ 3280833 h 4251330"/>
              <a:gd name="connsiteX8" fmla="*/ 10561638 w 10561638"/>
              <a:gd name="connsiteY8" fmla="*/ 3937000 h 4251330"/>
              <a:gd name="connsiteX9" fmla="*/ 2343283 w 10561638"/>
              <a:gd name="connsiteY9" fmla="*/ 3962400 h 4251330"/>
              <a:gd name="connsiteX10" fmla="*/ 2077263 w 10561638"/>
              <a:gd name="connsiteY10" fmla="*/ 4251330 h 4251330"/>
              <a:gd name="connsiteX11" fmla="*/ 1760273 w 10561638"/>
              <a:gd name="connsiteY11" fmla="*/ 3937000 h 4251330"/>
              <a:gd name="connsiteX12" fmla="*/ 0 w 10561638"/>
              <a:gd name="connsiteY12" fmla="*/ 3937000 h 4251330"/>
              <a:gd name="connsiteX13" fmla="*/ 0 w 10561638"/>
              <a:gd name="connsiteY13" fmla="*/ 3280833 h 4251330"/>
              <a:gd name="connsiteX14" fmla="*/ 0 w 10561638"/>
              <a:gd name="connsiteY14" fmla="*/ 2296583 h 4251330"/>
              <a:gd name="connsiteX15" fmla="*/ 0 w 10561638"/>
              <a:gd name="connsiteY15" fmla="*/ 2296583 h 4251330"/>
              <a:gd name="connsiteX16" fmla="*/ 0 w 10561638"/>
              <a:gd name="connsiteY16" fmla="*/ 0 h 4251330"/>
              <a:gd name="connsiteX0" fmla="*/ 0 w 10561638"/>
              <a:gd name="connsiteY0" fmla="*/ 0 h 4251330"/>
              <a:gd name="connsiteX1" fmla="*/ 1760273 w 10561638"/>
              <a:gd name="connsiteY1" fmla="*/ 0 h 4251330"/>
              <a:gd name="connsiteX2" fmla="*/ 1760273 w 10561638"/>
              <a:gd name="connsiteY2" fmla="*/ 0 h 4251330"/>
              <a:gd name="connsiteX3" fmla="*/ 4400683 w 10561638"/>
              <a:gd name="connsiteY3" fmla="*/ 0 h 4251330"/>
              <a:gd name="connsiteX4" fmla="*/ 10561638 w 10561638"/>
              <a:gd name="connsiteY4" fmla="*/ 0 h 4251330"/>
              <a:gd name="connsiteX5" fmla="*/ 10561638 w 10561638"/>
              <a:gd name="connsiteY5" fmla="*/ 2296583 h 4251330"/>
              <a:gd name="connsiteX6" fmla="*/ 10561638 w 10561638"/>
              <a:gd name="connsiteY6" fmla="*/ 2296583 h 4251330"/>
              <a:gd name="connsiteX7" fmla="*/ 10561638 w 10561638"/>
              <a:gd name="connsiteY7" fmla="*/ 3280833 h 4251330"/>
              <a:gd name="connsiteX8" fmla="*/ 10561638 w 10561638"/>
              <a:gd name="connsiteY8" fmla="*/ 3937000 h 4251330"/>
              <a:gd name="connsiteX9" fmla="*/ 2343283 w 10561638"/>
              <a:gd name="connsiteY9" fmla="*/ 3924300 h 4251330"/>
              <a:gd name="connsiteX10" fmla="*/ 2077263 w 10561638"/>
              <a:gd name="connsiteY10" fmla="*/ 4251330 h 4251330"/>
              <a:gd name="connsiteX11" fmla="*/ 1760273 w 10561638"/>
              <a:gd name="connsiteY11" fmla="*/ 3937000 h 4251330"/>
              <a:gd name="connsiteX12" fmla="*/ 0 w 10561638"/>
              <a:gd name="connsiteY12" fmla="*/ 3937000 h 4251330"/>
              <a:gd name="connsiteX13" fmla="*/ 0 w 10561638"/>
              <a:gd name="connsiteY13" fmla="*/ 3280833 h 4251330"/>
              <a:gd name="connsiteX14" fmla="*/ 0 w 10561638"/>
              <a:gd name="connsiteY14" fmla="*/ 2296583 h 4251330"/>
              <a:gd name="connsiteX15" fmla="*/ 0 w 10561638"/>
              <a:gd name="connsiteY15" fmla="*/ 2296583 h 4251330"/>
              <a:gd name="connsiteX16" fmla="*/ 0 w 10561638"/>
              <a:gd name="connsiteY16" fmla="*/ 0 h 4251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561638" h="4251330">
                <a:moveTo>
                  <a:pt x="0" y="0"/>
                </a:moveTo>
                <a:lnTo>
                  <a:pt x="1760273" y="0"/>
                </a:lnTo>
                <a:lnTo>
                  <a:pt x="1760273" y="0"/>
                </a:lnTo>
                <a:lnTo>
                  <a:pt x="4400683" y="0"/>
                </a:lnTo>
                <a:lnTo>
                  <a:pt x="10561638" y="0"/>
                </a:lnTo>
                <a:lnTo>
                  <a:pt x="10561638" y="2296583"/>
                </a:lnTo>
                <a:lnTo>
                  <a:pt x="10561638" y="2296583"/>
                </a:lnTo>
                <a:lnTo>
                  <a:pt x="10561638" y="3280833"/>
                </a:lnTo>
                <a:lnTo>
                  <a:pt x="10561638" y="3937000"/>
                </a:lnTo>
                <a:lnTo>
                  <a:pt x="2343283" y="3924300"/>
                </a:lnTo>
                <a:lnTo>
                  <a:pt x="2077263" y="4251330"/>
                </a:lnTo>
                <a:lnTo>
                  <a:pt x="1760273" y="3937000"/>
                </a:lnTo>
                <a:lnTo>
                  <a:pt x="0" y="3937000"/>
                </a:lnTo>
                <a:lnTo>
                  <a:pt x="0" y="3280833"/>
                </a:lnTo>
                <a:lnTo>
                  <a:pt x="0" y="2296583"/>
                </a:lnTo>
                <a:lnTo>
                  <a:pt x="0" y="22965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duotone>
                <a:schemeClr val="accent1">
                  <a:tint val="98000"/>
                  <a:lumMod val="102000"/>
                </a:schemeClr>
                <a:schemeClr val="accent1">
                  <a:shade val="98000"/>
                  <a:lumMod val="98000"/>
                </a:schemeClr>
              </a:duotone>
            </a:blip>
            <a:tile tx="0" ty="0" sx="100000" sy="100000" flip="none" algn="tl"/>
          </a:blipFill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31117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ltGray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ffectLst>
            <a:innerShdw blurRad="63500" dist="50800" dir="5400000">
              <a:prstClr val="black">
                <a:alpha val="50000"/>
              </a:prstClr>
            </a:innerShdw>
          </a:effectLst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 anchor="ctr" anchorCtr="0"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F6C47-B260-4BB6-8230-7D14D5CDE026}" type="datetimeFigureOut">
              <a:rPr lang="en-US" smtClean="0"/>
              <a:t>10/16/2025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dirty="0"/>
              <a:t>Add a footer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42799-31AF-4FF8-9D79-C1A3E01FB20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0281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ltGray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606669"/>
            <a:ext cx="10561418" cy="3813527"/>
          </a:xfrm>
        </p:spPr>
        <p:txBody>
          <a:bodyPr anchor="ctr" anchorCtr="0"/>
          <a:lstStyle>
            <a:lvl1pPr algn="ctr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ctr" anchorCtr="0">
            <a:no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F6C47-B260-4BB6-8230-7D14D5CDE026}" type="datetimeFigureOut">
              <a:rPr lang="en-US" smtClean="0"/>
              <a:t>10/16/2025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dirty="0"/>
              <a:t>Add a footer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42799-31AF-4FF8-9D79-C1A3E01FB20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6405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ltGray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ffectLst>
            <a:innerShdw blurRad="63500" dist="50800" dir="5400000">
              <a:prstClr val="black">
                <a:alpha val="50000"/>
              </a:prstClr>
            </a:innerShdw>
          </a:effectLst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F6C47-B260-4BB6-8230-7D14D5CDE026}" type="datetimeFigureOut">
              <a:rPr lang="en-US" smtClean="0"/>
              <a:t>10/16/2025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dirty="0"/>
              <a:t>Add a footer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42799-31AF-4FF8-9D79-C1A3E01FB20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506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ltGray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ffectLst>
            <a:innerShdw blurRad="63500" dist="50800" dir="5400000">
              <a:prstClr val="black">
                <a:alpha val="50000"/>
              </a:prstClr>
            </a:innerShdw>
          </a:effectLst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F6C47-B260-4BB6-8230-7D14D5CDE026}" type="datetimeFigureOut">
              <a:rPr lang="en-US" smtClean="0"/>
              <a:t>10/16/2025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dirty="0"/>
              <a:t>Add a footer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42799-31AF-4FF8-9D79-C1A3E01FB20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81268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F6C47-B260-4BB6-8230-7D14D5CDE026}" type="datetimeFigureOut">
              <a:rPr lang="en-US" smtClean="0"/>
              <a:t>10/16/2025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dirty="0"/>
              <a:t>Add a footer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42799-31AF-4FF8-9D79-C1A3E01FB20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03657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ltGray">
          <a:xfrm>
            <a:off x="1073151" y="446087"/>
            <a:ext cx="3547533" cy="2838449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ffectLst>
            <a:innerShdw blurRad="114300">
              <a:prstClr val="black"/>
            </a:innerShdw>
          </a:effectLst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2576512"/>
          </a:xfrm>
        </p:spPr>
        <p:txBody>
          <a:bodyPr anchor="ctr" anchorCtr="0"/>
          <a:lstStyle>
            <a:lvl1pPr algn="l"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3022600"/>
            <a:ext cx="3547533" cy="2838449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F6C47-B260-4BB6-8230-7D14D5CDE026}" type="datetimeFigureOut">
              <a:rPr lang="en-US" smtClean="0"/>
              <a:t>10/16/2025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dirty="0"/>
              <a:t>Add a footer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42799-31AF-4FF8-9D79-C1A3E01FB20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56117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ltGray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  <a:effectLst>
            <a:innerShdw blurRad="114300">
              <a:prstClr val="black"/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ctr" anchorCtr="0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 anchorCtr="0">
            <a:normAutofit/>
          </a:bodyPr>
          <a:lstStyle>
            <a:lvl1pPr marL="0" indent="0" algn="l">
              <a:buFontTx/>
              <a:buNone/>
              <a:defRPr sz="28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F6C47-B260-4BB6-8230-7D14D5CDE026}" type="datetimeFigureOut">
              <a:rPr lang="en-US" smtClean="0"/>
              <a:t>10/16/2025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dirty="0"/>
              <a:t>Add a footer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42799-31AF-4FF8-9D79-C1A3E01FB20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09645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ltGray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  <a:effectLst>
            <a:innerShdw blurRad="114300">
              <a:prstClr val="black"/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 anchor="ctr" anchorCtr="0"/>
          <a:lstStyle>
            <a:lvl1pPr algn="l"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ctr" anchorCtr="0">
            <a:normAutofit/>
          </a:bodyPr>
          <a:lstStyle>
            <a:lvl1pPr marL="0" indent="0" algn="ctr">
              <a:buFontTx/>
              <a:buNone/>
              <a:defRPr sz="28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F6C47-B260-4BB6-8230-7D14D5CDE026}" type="datetimeFigureOut">
              <a:rPr lang="en-US" smtClean="0"/>
              <a:t>10/16/2025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dirty="0"/>
              <a:t>Add a footer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42799-31AF-4FF8-9D79-C1A3E01FB20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461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ltGray">
          <a:xfrm>
            <a:off x="7669651" y="0"/>
            <a:ext cx="4522349" cy="5861051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ffectLst>
            <a:innerShdw blurRad="63500" dist="50800" dir="8100000">
              <a:prstClr val="black">
                <a:alpha val="50000"/>
              </a:prstClr>
            </a:innerShdw>
          </a:effectLst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3754460" cy="5134798"/>
          </a:xfrm>
        </p:spPr>
        <p:txBody>
          <a:bodyPr vert="horz" anchor="ctr" anchorCtr="1"/>
          <a:lstStyle>
            <a:lvl1pPr algn="l">
              <a:defRPr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horz" anchor="ctr" anchorCtr="1"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F6C47-B260-4BB6-8230-7D14D5CDE026}" type="datetimeFigureOut">
              <a:rPr lang="en-US" smtClean="0"/>
              <a:t>10/16/2025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dirty="0"/>
              <a:t>Add a footer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42799-31AF-4FF8-9D79-C1A3E01FB20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3694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blackWhite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/>
        </p:spPr>
        <p:txBody>
          <a:bodyPr vert="horz" lIns="91440" tIns="45720" rIns="91440" bIns="45720" rtlCol="0" anchor="ctr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ZA" dirty="0"/>
              <a:t>Add a footer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FB7F6C47-B260-4BB6-8230-7D14D5CDE026}" type="datetimeFigureOut">
              <a:rPr lang="en-US" smtClean="0"/>
              <a:t>10/16/2025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A4942799-31AF-4FF8-9D79-C1A3E01FB20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9481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6" r:id="rId2"/>
    <p:sldLayoutId id="2147483687" r:id="rId3"/>
    <p:sldLayoutId id="2147483688" r:id="rId4"/>
    <p:sldLayoutId id="2147483689" r:id="rId5"/>
    <p:sldLayoutId id="2147483681" r:id="rId6"/>
    <p:sldLayoutId id="2147483690" r:id="rId7"/>
    <p:sldLayoutId id="2147483682" r:id="rId8"/>
    <p:sldLayoutId id="2147483674" r:id="rId9"/>
    <p:sldLayoutId id="2147483675" r:id="rId10"/>
    <p:sldLayoutId id="2147483677" r:id="rId11"/>
    <p:sldLayoutId id="2147483678" r:id="rId12"/>
    <p:sldLayoutId id="2147483679" r:id="rId13"/>
    <p:sldLayoutId id="2147483680" r:id="rId14"/>
    <p:sldLayoutId id="2147483683" r:id="rId15"/>
    <p:sldLayoutId id="2147483684" r:id="rId16"/>
    <p:sldLayoutId id="2147483686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000" b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popescunmarius@gmail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BBD2A-60FD-4D0C-8344-28D7E6E38B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Probabilistic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5F24E6-2AE8-4FD8-B92D-FE2CE716A2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001" y="5280846"/>
            <a:ext cx="10572000" cy="1398249"/>
          </a:xfrm>
        </p:spPr>
        <p:txBody>
          <a:bodyPr/>
          <a:lstStyle/>
          <a:p>
            <a:r>
              <a:rPr lang="en-US" dirty="0"/>
              <a:t>Marius Popescu</a:t>
            </a:r>
          </a:p>
          <a:p>
            <a:r>
              <a:rPr lang="en-US" sz="1800" dirty="0">
                <a:hlinkClick r:id="rId3"/>
              </a:rPr>
              <a:t>popescunmarius@gmail.com</a:t>
            </a:r>
            <a:endParaRPr lang="en-US" sz="1800" dirty="0"/>
          </a:p>
          <a:p>
            <a:r>
              <a:rPr lang="en-US" dirty="0"/>
              <a:t>2025 - 2026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3881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91C4BC9-7379-41D0-A763-FB66B3413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More Elaborate “Hello World!”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5F9DD07-02EB-46E0-9189-B73823B14F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dirty="0"/>
              <a:t>Your most humble servant and most faithful friend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35BB791-E5EF-4242-8654-816672030C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0350" y="4276725"/>
            <a:ext cx="1771650" cy="258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702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159CFF6-11B8-4A2B-860C-D36DB8D4C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Inferring </a:t>
            </a:r>
            <a:r>
              <a:rPr lang="en-US" dirty="0" err="1"/>
              <a:t>behaviour</a:t>
            </a:r>
            <a:r>
              <a:rPr lang="en-US" dirty="0"/>
              <a:t> from text-message data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C071760-4FD1-4120-A265-6940A252AF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06148"/>
            <a:ext cx="12192000" cy="4182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2633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C9638-E575-4E69-91C1-4F1E6684E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can we start to model this?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B648B0-54EF-4C02-B0F8-9CAC2397D4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Denoting day </a:t>
                </a:r>
                <a:r>
                  <a:rPr lang="en-US" i="1" dirty="0"/>
                  <a:t>i</a:t>
                </a:r>
                <a:r>
                  <a:rPr lang="en-US" dirty="0"/>
                  <a:t>'s text-message count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a random variable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What can be the distribution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 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B648B0-54EF-4C02-B0F8-9CAC2397D4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46" t="-503" b="-16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rrow: Down 3">
            <a:extLst>
              <a:ext uri="{FF2B5EF4-FFF2-40B4-BE49-F238E27FC236}">
                <a16:creationId xmlns:a16="http://schemas.microsoft.com/office/drawing/2014/main" id="{526594A2-CBBC-40C7-BA40-45BC4610AFE8}"/>
              </a:ext>
            </a:extLst>
          </p:cNvPr>
          <p:cNvSpPr/>
          <p:nvPr/>
        </p:nvSpPr>
        <p:spPr>
          <a:xfrm>
            <a:off x="2040835" y="2939796"/>
            <a:ext cx="484632" cy="9784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2176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2FA45-D2D1-4FEF-BABB-619B6FF7C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Probability Distributions (Memento)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675A8C-C170-4EFE-8B0E-E201E63E98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dirty="0"/>
                  <a:t> be some random variable. Then associated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dirty="0"/>
                  <a:t> is a probability distribution function that assigns probabilities to the different outcomes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dirty="0"/>
                  <a:t> can take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b="1" dirty="0"/>
                  <a:t>Discrete Case</a:t>
                </a:r>
                <a:r>
                  <a:rPr lang="en-US" dirty="0"/>
                  <a:t>: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dirty="0"/>
                  <a:t> is discrete, then its distribution is called a </a:t>
                </a:r>
                <a:r>
                  <a:rPr lang="en-US" i="1" dirty="0"/>
                  <a:t>probability mass function</a:t>
                </a:r>
                <a:r>
                  <a:rPr lang="en-US" dirty="0"/>
                  <a:t>, which measures the probability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dirty="0"/>
                  <a:t> takes on the value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, denoted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b="1" dirty="0"/>
                  <a:t>Continuous Case</a:t>
                </a:r>
                <a:r>
                  <a:rPr lang="en-US" dirty="0"/>
                  <a:t>: Instead of a probability mass function, a continuous random variable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dirty="0"/>
                  <a:t> has a </a:t>
                </a:r>
                <a:r>
                  <a:rPr lang="en-US" i="1" dirty="0"/>
                  <a:t>probability density function</a:t>
                </a:r>
                <a:r>
                  <a:rPr lang="en-US" dirty="0"/>
                  <a:t>, denoted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𝑑𝑧</m:t>
                        </m:r>
                      </m:e>
                    </m:nary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675A8C-C170-4EFE-8B0E-E201E63E98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62" b="-65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77894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F5B8F-EDF3-4D2B-86BB-EF7704FE9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Poisson Distribution (Memento)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8EE3FA-8603-490F-8346-C9D2C242EA1D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294860" y="3096931"/>
                <a:ext cx="5483087" cy="3638764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Poi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=0,1,2,…,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8EE3FA-8603-490F-8346-C9D2C242EA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294860" y="3096931"/>
                <a:ext cx="5483087" cy="3638764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 descr="A close up of a piece of paper&#10;&#10;Description generated with high confidence">
            <a:extLst>
              <a:ext uri="{FF2B5EF4-FFF2-40B4-BE49-F238E27FC236}">
                <a16:creationId xmlns:a16="http://schemas.microsoft.com/office/drawing/2014/main" id="{D51B17D9-6BC6-4291-9B73-EC2EC62BCB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5350" y="1979336"/>
            <a:ext cx="7486650" cy="258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9372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E1D6A12-9022-4CB2-B047-0E7C068B7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Exponential Distribution (Memento)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D8A36327-6265-485E-BC58-921C1DFB1D6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12034" y="3968335"/>
                <a:ext cx="5883965" cy="2442477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Exp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  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𝑍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𝑑𝑧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D8A36327-6265-485E-BC58-921C1DFB1D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2034" y="3968335"/>
                <a:ext cx="5883965" cy="2442477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 descr="A close up of a map&#10;&#10;Description generated with high confidence">
            <a:extLst>
              <a:ext uri="{FF2B5EF4-FFF2-40B4-BE49-F238E27FC236}">
                <a16:creationId xmlns:a16="http://schemas.microsoft.com/office/drawing/2014/main" id="{48F7D8F9-1556-40F4-99C2-CF3E452DB7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9175" y="2052637"/>
            <a:ext cx="7362825" cy="275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6377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F9414D2-CA83-4F5D-8FE8-15EEC90EB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17E5F7-69C2-4751-8F45-2DC1BE996C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4705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C9638-E575-4E69-91C1-4F1E6684E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can we start to model this?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B648B0-54EF-4C02-B0F8-9CAC2397D4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Denoting day </a:t>
                </a:r>
                <a:r>
                  <a:rPr lang="en-US" i="1" dirty="0"/>
                  <a:t>i</a:t>
                </a:r>
                <a:r>
                  <a:rPr lang="en-US" dirty="0"/>
                  <a:t>'s text-message count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a random variable</a:t>
                </a:r>
              </a:p>
              <a:p>
                <a:pPr marL="0" indent="0">
                  <a:buNone/>
                </a:pPr>
                <a:r>
                  <a:rPr lang="en-US" dirty="0"/>
                  <a:t>What can be the distribution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 ?</a:t>
                </a:r>
              </a:p>
              <a:p>
                <a:pPr marL="0" indent="0">
                  <a:buNone/>
                </a:pPr>
                <a:r>
                  <a:rPr lang="en-US" dirty="0"/>
                  <a:t>A Poisson random variable is a very appropriate model for this type of count data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m:rPr>
                          <m:nor/>
                        </m:rP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Poi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B648B0-54EF-4C02-B0F8-9CAC2397D4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62" t="-8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rrow: Down 3">
            <a:extLst>
              <a:ext uri="{FF2B5EF4-FFF2-40B4-BE49-F238E27FC236}">
                <a16:creationId xmlns:a16="http://schemas.microsoft.com/office/drawing/2014/main" id="{526594A2-CBBC-40C7-BA40-45BC4610AFE8}"/>
              </a:ext>
            </a:extLst>
          </p:cNvPr>
          <p:cNvSpPr/>
          <p:nvPr/>
        </p:nvSpPr>
        <p:spPr>
          <a:xfrm>
            <a:off x="2120348" y="2757333"/>
            <a:ext cx="484632" cy="9784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962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1F428-5E99-421E-9E3A-D54F98A9F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Inferring </a:t>
            </a:r>
            <a:r>
              <a:rPr lang="en-US" dirty="0" err="1"/>
              <a:t>behaviour</a:t>
            </a:r>
            <a:r>
              <a:rPr lang="en-US" dirty="0"/>
              <a:t> from text-message data: prior distributions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12A512-FF35-4F95-887E-0962DDB8A5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m:rPr>
                          <m:nor/>
                        </m:rP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Poi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 algn="just">
                  <a:buNone/>
                </a:pPr>
                <a:r>
                  <a:rPr lang="en-US" dirty="0"/>
                  <a:t>We are not sure what the value of the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 parameter really is, however. Looking at the chart above, it appears that the rate might become higher late in the observation period, which is equivalent to saying that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 increases at some point during the observations. (Recall that a higher value of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 assigns more probability to larger outcomes. That is, there is a higher probability of many text messages having been sent on a given day)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12A512-FF35-4F95-887E-0962DDB8A5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62" r="-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67697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1F428-5E99-421E-9E3A-D54F98A9F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Inferring </a:t>
            </a:r>
            <a:r>
              <a:rPr lang="en-US" dirty="0" err="1"/>
              <a:t>behaviour</a:t>
            </a:r>
            <a:r>
              <a:rPr lang="en-US" dirty="0"/>
              <a:t> from text-message data: prior distributions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12A512-FF35-4F95-887E-0962DDB8A5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 algn="just">
                  <a:buNone/>
                </a:pPr>
                <a:r>
                  <a:rPr lang="en-US" dirty="0"/>
                  <a:t>How can we represent this observation mathematically? Let's assume that on some day during the observation period (call it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dirty="0"/>
                  <a:t>), the parameter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 suddenly jumps to a higher value. So we really have two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 parameters: one for the period before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dirty="0"/>
                  <a:t>, and one for the rest of the observation period. In the literature, a sudden transition like this would be called a switch point:</a:t>
                </a:r>
              </a:p>
              <a:p>
                <a:pPr marL="0" indent="0" algn="just">
                  <a:buNone/>
                </a:pPr>
                <a:endParaRPr lang="en-US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if</m:t>
                              </m:r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m:rPr>
                                  <m:nor/>
                                </m:rPr>
                                <a:rPr lang="en-US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if</m:t>
                              </m:r>
                              <m:r>
                                <m:rPr>
                                  <m:nor/>
                                </m:rPr>
                                <a:rPr lang="en-US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 algn="just">
                  <a:buNone/>
                </a:pPr>
                <a:endParaRPr lang="en-US" dirty="0"/>
              </a:p>
              <a:p>
                <a:pPr marL="0" indent="0" algn="just">
                  <a:buNone/>
                </a:pPr>
                <a:r>
                  <a:rPr lang="en-US" dirty="0"/>
                  <a:t>If, in reality, no sudden change occurred and indeed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, then the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s posterior distributions should look about equal.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12A512-FF35-4F95-887E-0962DDB8A5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62" r="-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49839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DE5F7-4AE4-4E4A-BC7D-E573F3633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Inferring </a:t>
            </a:r>
            <a:r>
              <a:rPr lang="en-US" dirty="0" err="1"/>
              <a:t>behaviour</a:t>
            </a:r>
            <a:r>
              <a:rPr lang="en-US" dirty="0"/>
              <a:t> from text-message data: prior distributions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29E145-8A9C-4F80-8728-F4477BF01A2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 algn="just">
                  <a:buNone/>
                </a:pPr>
                <a:r>
                  <a:rPr lang="en-US" dirty="0"/>
                  <a:t>We are interested in inferring the unknown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s. To use Bayesian inference, we need to assign prior probabilities to the different possible values of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. What would be good prior probability distributions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? Recall that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 can be any positive number. As we saw earlier, the exponential distribution provides a continuous density function for positive numbers, so it might be a good choice for modeling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. But recall that the exponential distribution takes a parameter of its own, so we'll need to include that parameter in our model. Let's call that parameter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Exp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m:rPr>
                          <m:nor/>
                        </m:rP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Exp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 algn="just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29E145-8A9C-4F80-8728-F4477BF01A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62" r="-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12521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01699-6F39-4EBD-A786-82BB0A4E5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Inferring </a:t>
            </a:r>
            <a:r>
              <a:rPr lang="en-US" dirty="0" err="1"/>
              <a:t>behaviour</a:t>
            </a:r>
            <a:r>
              <a:rPr lang="en-US" dirty="0"/>
              <a:t> from text-message data: prior distributions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FD6F6A-1608-4D00-96DD-073E4B18A4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 algn="just">
                  <a:buNone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 is called a hyper-parameter or parent variable. In literal terms, it is a parameter that influences other parameters. Our initial guess at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 does not influence the model too strongly, so we have some flexibility in our choice. A good rule of thumb is to set the exponential parameter equal to the inverse of the average of the count data</a:t>
                </a:r>
              </a:p>
              <a:p>
                <a:pPr marL="0" indent="0" algn="just">
                  <a:buNone/>
                </a:pPr>
                <a:endParaRPr lang="en-US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FD6F6A-1608-4D00-96DD-073E4B18A4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62" r="-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60558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B50E9-1670-498B-AA6C-F15559BB2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Inferring </a:t>
            </a:r>
            <a:r>
              <a:rPr lang="en-US" dirty="0" err="1"/>
              <a:t>behaviour</a:t>
            </a:r>
            <a:r>
              <a:rPr lang="en-US" dirty="0"/>
              <a:t> from text-message data: prior distributions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AB62C8-772D-4248-9FA0-A21EA7CDE52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 algn="just">
                  <a:buNone/>
                </a:pPr>
                <a:r>
                  <a:rPr lang="en-US" dirty="0"/>
                  <a:t>What about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dirty="0"/>
                  <a:t>? Because of the noisiness of the data, it's difficult to pick out a priori when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dirty="0"/>
                  <a:t> might have occurred. Instead, we can assign a </a:t>
                </a:r>
                <a:r>
                  <a:rPr lang="en-US" i="1" dirty="0"/>
                  <a:t>uniform prior belief </a:t>
                </a:r>
                <a:r>
                  <a:rPr lang="en-US" dirty="0"/>
                  <a:t>to every possible day. This is equivalent to saying:</a:t>
                </a:r>
              </a:p>
              <a:p>
                <a:pPr marL="0" indent="0" algn="just">
                  <a:buNone/>
                </a:pPr>
                <a:endParaRPr lang="en-US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74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AB62C8-772D-4248-9FA0-A21EA7CDE5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62" r="-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31920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6D041-54A8-40A3-AC6D-A4CD70E77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712" y="447188"/>
            <a:ext cx="10571998" cy="970450"/>
          </a:xfrm>
        </p:spPr>
        <p:txBody>
          <a:bodyPr/>
          <a:lstStyle/>
          <a:p>
            <a:r>
              <a:rPr lang="en-US" dirty="0"/>
              <a:t>Bayesian modeling is to think about how your data might have been generated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74F6A8-BEFD-4556-BDC0-523513E6AE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:r>
                  <a:rPr lang="en-US" dirty="0"/>
                  <a:t>We started by thinking "what is the best random variable to describe this count data?" A Poisson random variable is a good candidate because it can represent count data. So we model the number of </a:t>
                </a:r>
                <a:r>
                  <a:rPr lang="en-US" dirty="0" err="1"/>
                  <a:t>sms's</a:t>
                </a:r>
                <a:r>
                  <a:rPr lang="en-US" dirty="0"/>
                  <a:t> received as sampled from a Poisson distribution.</a:t>
                </a:r>
              </a:p>
              <a:p>
                <a:pPr algn="just"/>
                <a:r>
                  <a:rPr lang="en-US" dirty="0"/>
                  <a:t>Next, we think, "Ok, assuming </a:t>
                </a:r>
                <a:r>
                  <a:rPr lang="en-US" dirty="0" err="1"/>
                  <a:t>sms's</a:t>
                </a:r>
                <a:r>
                  <a:rPr lang="en-US" dirty="0"/>
                  <a:t> are Poisson-distributed, what do I need for the Poisson distribution?" Well, the Poisson distribution has a parameter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.</a:t>
                </a:r>
              </a:p>
              <a:p>
                <a:pPr algn="just"/>
                <a:r>
                  <a:rPr lang="en-US" dirty="0"/>
                  <a:t>Do we know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? No. In fact, we have a suspicion that there are two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 values, one for the earlier </a:t>
                </a:r>
                <a:r>
                  <a:rPr lang="en-US" dirty="0" err="1"/>
                  <a:t>behaviour</a:t>
                </a:r>
                <a:r>
                  <a:rPr lang="en-US" dirty="0"/>
                  <a:t> and one for the later </a:t>
                </a:r>
                <a:r>
                  <a:rPr lang="en-US" dirty="0" err="1"/>
                  <a:t>behaviour</a:t>
                </a:r>
                <a:r>
                  <a:rPr lang="en-US" dirty="0"/>
                  <a:t>. We don't know when the </a:t>
                </a:r>
                <a:r>
                  <a:rPr lang="en-US" dirty="0" err="1"/>
                  <a:t>behaviour</a:t>
                </a:r>
                <a:r>
                  <a:rPr lang="en-US" dirty="0"/>
                  <a:t> switches though, but call the </a:t>
                </a:r>
                <a:r>
                  <a:rPr lang="en-US" dirty="0" err="1"/>
                  <a:t>switchpoint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dirty="0"/>
                  <a:t>.</a:t>
                </a:r>
              </a:p>
              <a:p>
                <a:pPr algn="just"/>
                <a:r>
                  <a:rPr lang="en-US" dirty="0"/>
                  <a:t>What is a good distribution for the two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s? The exponential is good, as it assigns probabilities to positive real numbers. Well the exponential distribution has a parameter too, call it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74F6A8-BEFD-4556-BDC0-523513E6AE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8" r="-462" b="-8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0071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76ABD-E3FE-4F30-8876-3B5A81A6B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Bayesian modeling is to think about how your data might have been generated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937322-5017-4343-8297-C6821B56C19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algn="just"/>
                <a:r>
                  <a:rPr lang="en-US" dirty="0"/>
                  <a:t>Do we know what the parameter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 might be? No. At this point, we could continue and assign a distribution to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, but it's better to stop once we reach a set level of ignorance: whereas we have a prior belief about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, ("it probably changes over time", "it's likely between 10 and 30", etc.), we don't really have any strong beliefs about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. So it's best to stop here.</a:t>
                </a:r>
              </a:p>
              <a:p>
                <a:pPr marL="400050" lvl="1" indent="0" algn="just">
                  <a:buNone/>
                </a:pPr>
                <a:r>
                  <a:rPr lang="en-US" sz="1900" dirty="0"/>
                  <a:t>What is a good value for </a:t>
                </a:r>
                <a14:m>
                  <m:oMath xmlns:m="http://schemas.openxmlformats.org/officeDocument/2006/math">
                    <m:r>
                      <a:rPr lang="en-US" sz="19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1900" dirty="0"/>
                  <a:t> then? We think that the </a:t>
                </a:r>
                <a14:m>
                  <m:oMath xmlns:m="http://schemas.openxmlformats.org/officeDocument/2006/math">
                    <m:r>
                      <a:rPr lang="en-US" sz="19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US" sz="19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900" dirty="0"/>
                  <a:t>s are between 10-30, so if we set </a:t>
                </a:r>
                <a14:m>
                  <m:oMath xmlns:m="http://schemas.openxmlformats.org/officeDocument/2006/math">
                    <m:r>
                      <a:rPr lang="en-US" sz="19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1900" dirty="0"/>
                  <a:t> really low (which corresponds to larger probability on high values) we are not reflecting our prior well. Similar, a too-high alpha misses our prior belief as well. A good idea for </a:t>
                </a:r>
                <a14:m>
                  <m:oMath xmlns:m="http://schemas.openxmlformats.org/officeDocument/2006/math">
                    <m:r>
                      <a:rPr lang="en-US" sz="19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1900" dirty="0"/>
                  <a:t> as to reflect our belief is to set the value so that the mean of </a:t>
                </a:r>
                <a14:m>
                  <m:oMath xmlns:m="http://schemas.openxmlformats.org/officeDocument/2006/math">
                    <m:r>
                      <a:rPr lang="en-US" sz="19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1900" dirty="0"/>
                  <a:t>, given </a:t>
                </a:r>
                <a14:m>
                  <m:oMath xmlns:m="http://schemas.openxmlformats.org/officeDocument/2006/math">
                    <m:r>
                      <a:rPr lang="en-US" sz="19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1900" dirty="0"/>
                  <a:t>, is equal to our observed mean.</a:t>
                </a:r>
              </a:p>
              <a:p>
                <a:pPr algn="just"/>
                <a:endParaRPr lang="en-US" dirty="0"/>
              </a:p>
              <a:p>
                <a:pPr algn="just"/>
                <a:r>
                  <a:rPr lang="en-US" dirty="0"/>
                  <a:t>We have no expert opinion of when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dirty="0"/>
                  <a:t> might have occurred. So we will suppose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dirty="0"/>
                  <a:t> is from a discrete uniform distribution over the entire timespan.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937322-5017-4343-8297-C6821B56C1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r="-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7946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74328-B260-493F-B18A-8C6CE0161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Model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E71915-98C0-47B1-96E0-210D3584C7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693" y="2162240"/>
            <a:ext cx="10163818" cy="3843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6161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73DDA-B559-42DA-BC37-77BFE14DA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Generative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9CCE7-10C9-4390-B151-B9797BF090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4635713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/>
              <a:t>Generative models are statistical models that describe a joint distribution over three types of random variables:</a:t>
            </a:r>
          </a:p>
          <a:p>
            <a:pPr algn="just"/>
            <a:r>
              <a:rPr lang="en-US" dirty="0"/>
              <a:t>The “observed” random variables (often the “input space”), which are the random variables we have data for.</a:t>
            </a:r>
          </a:p>
          <a:p>
            <a:pPr algn="just"/>
            <a:r>
              <a:rPr lang="en-US" dirty="0"/>
              <a:t>The “latent” random variables, which are the random variables that play a role in the statistical model, but which are never observed (in the Bayesian setting, these are usually, at the very least, the parameters of the model).</a:t>
            </a:r>
          </a:p>
          <a:p>
            <a:pPr algn="just"/>
            <a:r>
              <a:rPr lang="en-US" dirty="0"/>
              <a:t>The “predicted” random variables, which are the random variables that represent the target predictions.</a:t>
            </a:r>
          </a:p>
          <a:p>
            <a:pPr algn="just"/>
            <a:endParaRPr lang="en-US" dirty="0"/>
          </a:p>
          <a:p>
            <a:pPr marL="0" indent="0" algn="just">
              <a:buNone/>
            </a:pPr>
            <a:r>
              <a:rPr lang="en-US" dirty="0"/>
              <a:t>This categorization for the random variables in the joint distribution is not mutually exclusive</a:t>
            </a:r>
          </a:p>
          <a:p>
            <a:pPr marL="0" indent="0" algn="just">
              <a:buNone/>
            </a:pPr>
            <a:r>
              <a:rPr lang="en-US" dirty="0"/>
              <a:t>(though observed random variables are never latent). For example, the predicted random</a:t>
            </a:r>
          </a:p>
          <a:p>
            <a:pPr marL="0" indent="0" algn="just">
              <a:buNone/>
            </a:pPr>
            <a:r>
              <a:rPr lang="en-US" dirty="0"/>
              <a:t>variables can be also latent, such as in the unsupervised setting</a:t>
            </a:r>
          </a:p>
        </p:txBody>
      </p:sp>
    </p:spTree>
    <p:extLst>
      <p:ext uri="{BB962C8B-B14F-4D97-AF65-F5344CB8AC3E}">
        <p14:creationId xmlns:p14="http://schemas.microsoft.com/office/powerpoint/2010/main" val="39091588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334D3-E8F1-42D0-AC2E-82A1BD379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Generative Stories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0C800F-51B2-48AA-8BE7-6C0D7991C1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222288"/>
            <a:ext cx="10554574" cy="2527944"/>
          </a:xfrm>
        </p:spPr>
        <p:txBody>
          <a:bodyPr/>
          <a:lstStyle/>
          <a:p>
            <a:pPr algn="just"/>
            <a:r>
              <a:rPr lang="en-US" dirty="0"/>
              <a:t>A generative stories identify a joint distribution over the variables in the model, where this joint distribution is a product of several factors.</a:t>
            </a:r>
          </a:p>
          <a:p>
            <a:pPr algn="just"/>
            <a:r>
              <a:rPr lang="en-US" dirty="0"/>
              <a:t>The generative story picks an ordering for the random variables, and the </a:t>
            </a:r>
            <a:r>
              <a:rPr lang="en-US" i="1" dirty="0"/>
              <a:t>chain rule</a:t>
            </a:r>
            <a:r>
              <a:rPr lang="en-US" dirty="0"/>
              <a:t> is applied using that order to yield the joint distribution.</a:t>
            </a:r>
          </a:p>
          <a:p>
            <a:pPr algn="just"/>
            <a:r>
              <a:rPr lang="en-US" dirty="0"/>
              <a:t>Each factor can theoretically condition on all possible random variables that were generated before, but the independence assumptions in the model make some of these variables unnecessary to condition on.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hought Bubble: Cloud 4">
                <a:extLst>
                  <a:ext uri="{FF2B5EF4-FFF2-40B4-BE49-F238E27FC236}">
                    <a16:creationId xmlns:a16="http://schemas.microsoft.com/office/drawing/2014/main" id="{D2F763AD-8B7D-445F-8357-889EC2630937}"/>
                  </a:ext>
                </a:extLst>
              </p:cNvPr>
              <p:cNvSpPr/>
              <p:nvPr/>
            </p:nvSpPr>
            <p:spPr>
              <a:xfrm>
                <a:off x="1898542" y="5147421"/>
                <a:ext cx="9988658" cy="923410"/>
              </a:xfrm>
              <a:prstGeom prst="cloudCallout">
                <a:avLst>
                  <a:gd name="adj1" fmla="val 36338"/>
                  <a:gd name="adj2" fmla="val -223663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d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sup>
                          </m:sSup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nary>
                        <m:naryPr>
                          <m:chr m:val="∏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d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,…,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hought Bubble: Cloud 4">
                <a:extLst>
                  <a:ext uri="{FF2B5EF4-FFF2-40B4-BE49-F238E27FC236}">
                    <a16:creationId xmlns:a16="http://schemas.microsoft.com/office/drawing/2014/main" id="{D2F763AD-8B7D-445F-8357-889EC263093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8542" y="5147421"/>
                <a:ext cx="9988658" cy="923410"/>
              </a:xfrm>
              <a:prstGeom prst="cloudCallout">
                <a:avLst>
                  <a:gd name="adj1" fmla="val 36338"/>
                  <a:gd name="adj2" fmla="val -223663"/>
                </a:avLst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0589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74328-B260-493F-B18A-8C6CE0161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Model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E71915-98C0-47B1-96E0-210D3584C7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200" y="2153004"/>
            <a:ext cx="10163818" cy="3843353"/>
          </a:xfrm>
          <a:prstGeom prst="rect">
            <a:avLst/>
          </a:prstGeom>
        </p:spPr>
      </p:pic>
      <p:sp>
        <p:nvSpPr>
          <p:cNvPr id="3" name="Callout: Double Bent Line 2">
            <a:extLst>
              <a:ext uri="{FF2B5EF4-FFF2-40B4-BE49-F238E27FC236}">
                <a16:creationId xmlns:a16="http://schemas.microsoft.com/office/drawing/2014/main" id="{1EC48467-2526-49F3-BD94-9A66C850899B}"/>
              </a:ext>
            </a:extLst>
          </p:cNvPr>
          <p:cNvSpPr/>
          <p:nvPr/>
        </p:nvSpPr>
        <p:spPr>
          <a:xfrm>
            <a:off x="6315559" y="5517397"/>
            <a:ext cx="1518835" cy="612648"/>
          </a:xfrm>
          <a:prstGeom prst="borderCallout3">
            <a:avLst>
              <a:gd name="adj1" fmla="val 47394"/>
              <a:gd name="adj2" fmla="val -1036"/>
              <a:gd name="adj3" fmla="val 18750"/>
              <a:gd name="adj4" fmla="val -16667"/>
              <a:gd name="adj5" fmla="val 100000"/>
              <a:gd name="adj6" fmla="val -16667"/>
              <a:gd name="adj7" fmla="val 53514"/>
              <a:gd name="adj8" fmla="val -3478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“observed”  variables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13493F8-7CC0-477C-8BEB-EBDBC7440494}"/>
              </a:ext>
            </a:extLst>
          </p:cNvPr>
          <p:cNvSpPr/>
          <p:nvPr/>
        </p:nvSpPr>
        <p:spPr>
          <a:xfrm rot="654432">
            <a:off x="3598667" y="2789065"/>
            <a:ext cx="4947287" cy="225902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allout: Bent Line 8">
            <a:extLst>
              <a:ext uri="{FF2B5EF4-FFF2-40B4-BE49-F238E27FC236}">
                <a16:creationId xmlns:a16="http://schemas.microsoft.com/office/drawing/2014/main" id="{1D16D291-1790-4109-A2B1-0B3E752EB673}"/>
              </a:ext>
            </a:extLst>
          </p:cNvPr>
          <p:cNvSpPr/>
          <p:nvPr/>
        </p:nvSpPr>
        <p:spPr>
          <a:xfrm>
            <a:off x="2336801" y="5495743"/>
            <a:ext cx="2129148" cy="612648"/>
          </a:xfrm>
          <a:prstGeom prst="borderCallout2">
            <a:avLst>
              <a:gd name="adj1" fmla="val 47395"/>
              <a:gd name="adj2" fmla="val -524"/>
              <a:gd name="adj3" fmla="val 18750"/>
              <a:gd name="adj4" fmla="val -16667"/>
              <a:gd name="adj5" fmla="val -216159"/>
              <a:gd name="adj6" fmla="val 6875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“latent” variables</a:t>
            </a:r>
          </a:p>
        </p:txBody>
      </p:sp>
      <p:sp>
        <p:nvSpPr>
          <p:cNvPr id="10" name="Callout: Double Bent Line 9">
            <a:extLst>
              <a:ext uri="{FF2B5EF4-FFF2-40B4-BE49-F238E27FC236}">
                <a16:creationId xmlns:a16="http://schemas.microsoft.com/office/drawing/2014/main" id="{93392978-3341-450B-B719-F3514B744ECD}"/>
              </a:ext>
            </a:extLst>
          </p:cNvPr>
          <p:cNvSpPr/>
          <p:nvPr/>
        </p:nvSpPr>
        <p:spPr>
          <a:xfrm>
            <a:off x="2974109" y="2057192"/>
            <a:ext cx="2540000" cy="612648"/>
          </a:xfrm>
          <a:prstGeom prst="borderCallout3">
            <a:avLst>
              <a:gd name="adj1" fmla="val 47395"/>
              <a:gd name="adj2" fmla="val -1060"/>
              <a:gd name="adj3" fmla="val 18750"/>
              <a:gd name="adj4" fmla="val -16667"/>
              <a:gd name="adj5" fmla="val 100000"/>
              <a:gd name="adj6" fmla="val -16667"/>
              <a:gd name="adj7" fmla="val 167237"/>
              <a:gd name="adj8" fmla="val 4548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“predicted” variable</a:t>
            </a:r>
          </a:p>
        </p:txBody>
      </p:sp>
      <p:sp>
        <p:nvSpPr>
          <p:cNvPr id="11" name="Callout: Line 10">
            <a:extLst>
              <a:ext uri="{FF2B5EF4-FFF2-40B4-BE49-F238E27FC236}">
                <a16:creationId xmlns:a16="http://schemas.microsoft.com/office/drawing/2014/main" id="{9D48F433-18F7-4A9B-BD97-85AEF0F56941}"/>
              </a:ext>
            </a:extLst>
          </p:cNvPr>
          <p:cNvSpPr/>
          <p:nvPr/>
        </p:nvSpPr>
        <p:spPr>
          <a:xfrm>
            <a:off x="7377193" y="2057192"/>
            <a:ext cx="4311113" cy="970450"/>
          </a:xfrm>
          <a:prstGeom prst="borderCallout1">
            <a:avLst>
              <a:gd name="adj1" fmla="val 47395"/>
              <a:gd name="adj2" fmla="val -406"/>
              <a:gd name="adj3" fmla="val 67272"/>
              <a:gd name="adj4" fmla="val -72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“hyperparameter” (not random)</a:t>
            </a:r>
          </a:p>
          <a:p>
            <a:pPr algn="ctr"/>
            <a:r>
              <a:rPr lang="en-US" dirty="0"/>
              <a:t>usually estimated by maximum likelihood (</a:t>
            </a:r>
            <a:r>
              <a:rPr lang="en-US" i="1" dirty="0"/>
              <a:t>empirical Bayes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39291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  <p:bldP spid="9" grpId="0" animBg="1"/>
      <p:bldP spid="10" grpId="0" animBg="1"/>
      <p:bldP spid="1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7182E-D9FA-4ECF-ADA4-ADFDA2F7F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PyMC</a:t>
            </a:r>
            <a:r>
              <a:rPr lang="en-US" dirty="0"/>
              <a:t> Modeling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A1448F-124A-4E61-B843-B546640CF6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14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dirty="0">
                <a:latin typeface="Consolas" panose="020B0609020204030204" pitchFamily="49" charset="0"/>
              </a:rPr>
              <a:t>import </a:t>
            </a:r>
            <a:r>
              <a:rPr lang="en-US" sz="1400" dirty="0" err="1">
                <a:latin typeface="Consolas" panose="020B0609020204030204" pitchFamily="49" charset="0"/>
              </a:rPr>
              <a:t>numpy</a:t>
            </a:r>
            <a:r>
              <a:rPr lang="en-US" sz="1400" dirty="0">
                <a:latin typeface="Consolas" panose="020B0609020204030204" pitchFamily="49" charset="0"/>
              </a:rPr>
              <a:t> as np</a:t>
            </a:r>
          </a:p>
          <a:p>
            <a:pPr marL="0" indent="0">
              <a:buNone/>
            </a:pPr>
            <a:r>
              <a:rPr lang="en-US" sz="1400" dirty="0">
                <a:latin typeface="Consolas" panose="020B0609020204030204" pitchFamily="49" charset="0"/>
              </a:rPr>
              <a:t>import </a:t>
            </a:r>
            <a:r>
              <a:rPr lang="en-US" sz="1400" dirty="0" err="1">
                <a:latin typeface="Consolas" panose="020B0609020204030204" pitchFamily="49" charset="0"/>
              </a:rPr>
              <a:t>pymc</a:t>
            </a:r>
            <a:r>
              <a:rPr lang="en-US" sz="1400" dirty="0">
                <a:latin typeface="Consolas" panose="020B0609020204030204" pitchFamily="49" charset="0"/>
              </a:rPr>
              <a:t> as pm</a:t>
            </a:r>
          </a:p>
          <a:p>
            <a:pPr marL="0" indent="0">
              <a:buNone/>
            </a:pPr>
            <a:endParaRPr lang="en-US" sz="14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dirty="0" err="1">
                <a:latin typeface="Consolas" panose="020B0609020204030204" pitchFamily="49" charset="0"/>
              </a:rPr>
              <a:t>count_data</a:t>
            </a:r>
            <a:r>
              <a:rPr lang="en-US" sz="1400" dirty="0">
                <a:latin typeface="Consolas" panose="020B0609020204030204" pitchFamily="49" charset="0"/>
              </a:rPr>
              <a:t> = </a:t>
            </a:r>
            <a:r>
              <a:rPr lang="en-US" sz="1400" dirty="0" err="1">
                <a:latin typeface="Consolas" panose="020B0609020204030204" pitchFamily="49" charset="0"/>
              </a:rPr>
              <a:t>np.loadtxt</a:t>
            </a:r>
            <a:r>
              <a:rPr lang="en-US" sz="1400" dirty="0">
                <a:latin typeface="Consolas" panose="020B0609020204030204" pitchFamily="49" charset="0"/>
              </a:rPr>
              <a:t>("txtdata.csv")</a:t>
            </a:r>
          </a:p>
          <a:p>
            <a:pPr marL="0" indent="0">
              <a:buNone/>
            </a:pPr>
            <a:r>
              <a:rPr lang="en-US" sz="1400" dirty="0" err="1">
                <a:latin typeface="Consolas" panose="020B0609020204030204" pitchFamily="49" charset="0"/>
              </a:rPr>
              <a:t>n_count_data</a:t>
            </a:r>
            <a:r>
              <a:rPr lang="en-US" sz="1400" dirty="0">
                <a:latin typeface="Consolas" panose="020B0609020204030204" pitchFamily="49" charset="0"/>
              </a:rPr>
              <a:t> = </a:t>
            </a:r>
            <a:r>
              <a:rPr lang="en-US" sz="1400" dirty="0" err="1">
                <a:latin typeface="Consolas" panose="020B0609020204030204" pitchFamily="49" charset="0"/>
              </a:rPr>
              <a:t>len</a:t>
            </a:r>
            <a:r>
              <a:rPr lang="en-US" sz="1400" dirty="0">
                <a:latin typeface="Consolas" panose="020B0609020204030204" pitchFamily="49" charset="0"/>
              </a:rPr>
              <a:t>(</a:t>
            </a:r>
            <a:r>
              <a:rPr lang="en-US" sz="1400" dirty="0" err="1">
                <a:latin typeface="Consolas" panose="020B0609020204030204" pitchFamily="49" charset="0"/>
              </a:rPr>
              <a:t>count_data</a:t>
            </a:r>
            <a:r>
              <a:rPr lang="en-US" sz="14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endParaRPr lang="en-US" sz="14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66174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7182E-D9FA-4ECF-ADA4-ADFDA2F7F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PyMC</a:t>
            </a:r>
            <a:r>
              <a:rPr lang="en-US" dirty="0"/>
              <a:t> Modeling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A1448F-124A-4E61-B843-B546640CF6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195" y="1917577"/>
            <a:ext cx="10554574" cy="4940423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1400" dirty="0">
                <a:latin typeface="Consolas" panose="020B0609020204030204" pitchFamily="49" charset="0"/>
              </a:rPr>
              <a:t>with </a:t>
            </a:r>
            <a:r>
              <a:rPr lang="en-US" sz="1400" dirty="0" err="1">
                <a:latin typeface="Consolas" panose="020B0609020204030204" pitchFamily="49" charset="0"/>
              </a:rPr>
              <a:t>pm.Model</a:t>
            </a:r>
            <a:r>
              <a:rPr lang="en-US" sz="1400" dirty="0">
                <a:latin typeface="Consolas" panose="020B0609020204030204" pitchFamily="49" charset="0"/>
              </a:rPr>
              <a:t>() as model:</a:t>
            </a:r>
          </a:p>
          <a:p>
            <a:pPr marL="0" indent="0">
              <a:buNone/>
            </a:pPr>
            <a:r>
              <a:rPr lang="en-US" sz="1400" dirty="0">
                <a:latin typeface="Consolas" panose="020B0609020204030204" pitchFamily="49" charset="0"/>
              </a:rPr>
              <a:t>    alpha = 1.0/</a:t>
            </a:r>
            <a:r>
              <a:rPr lang="en-US" sz="1400" dirty="0" err="1">
                <a:latin typeface="Consolas" panose="020B0609020204030204" pitchFamily="49" charset="0"/>
              </a:rPr>
              <a:t>count_data.mean</a:t>
            </a:r>
            <a:r>
              <a:rPr lang="en-US" sz="1400" dirty="0">
                <a:latin typeface="Consolas" panose="020B0609020204030204" pitchFamily="49" charset="0"/>
              </a:rPr>
              <a:t>()  # Recall </a:t>
            </a:r>
            <a:r>
              <a:rPr lang="en-US" sz="1400" dirty="0" err="1">
                <a:latin typeface="Consolas" panose="020B0609020204030204" pitchFamily="49" charset="0"/>
              </a:rPr>
              <a:t>count_data</a:t>
            </a:r>
            <a:r>
              <a:rPr lang="en-US" sz="1400" dirty="0">
                <a:latin typeface="Consolas" panose="020B0609020204030204" pitchFamily="49" charset="0"/>
              </a:rPr>
              <a:t> is the</a:t>
            </a:r>
          </a:p>
          <a:p>
            <a:pPr marL="0" indent="0">
              <a:buNone/>
            </a:pPr>
            <a:r>
              <a:rPr lang="en-US" sz="1400" dirty="0">
                <a:latin typeface="Consolas" panose="020B0609020204030204" pitchFamily="49" charset="0"/>
              </a:rPr>
              <a:t>                                   # variable that holds our txt counts</a:t>
            </a:r>
          </a:p>
          <a:p>
            <a:pPr marL="0" indent="0">
              <a:buNone/>
            </a:pPr>
            <a:r>
              <a:rPr lang="en-US" sz="1400" dirty="0">
                <a:latin typeface="Consolas" panose="020B0609020204030204" pitchFamily="49" charset="0"/>
              </a:rPr>
              <a:t>    lambda_1 = </a:t>
            </a:r>
            <a:r>
              <a:rPr lang="en-US" sz="1400" dirty="0" err="1">
                <a:latin typeface="Consolas" panose="020B0609020204030204" pitchFamily="49" charset="0"/>
              </a:rPr>
              <a:t>pm.Exponential</a:t>
            </a:r>
            <a:r>
              <a:rPr lang="en-US" sz="1400" dirty="0">
                <a:latin typeface="Consolas" panose="020B0609020204030204" pitchFamily="49" charset="0"/>
              </a:rPr>
              <a:t>("lambda_1", alpha)</a:t>
            </a:r>
          </a:p>
          <a:p>
            <a:pPr marL="0" indent="0">
              <a:buNone/>
            </a:pPr>
            <a:r>
              <a:rPr lang="en-US" sz="1400" dirty="0">
                <a:latin typeface="Consolas" panose="020B0609020204030204" pitchFamily="49" charset="0"/>
              </a:rPr>
              <a:t>    lambda_2 = </a:t>
            </a:r>
            <a:r>
              <a:rPr lang="en-US" sz="1400" dirty="0" err="1">
                <a:latin typeface="Consolas" panose="020B0609020204030204" pitchFamily="49" charset="0"/>
              </a:rPr>
              <a:t>pm.Exponential</a:t>
            </a:r>
            <a:r>
              <a:rPr lang="en-US" sz="1400" dirty="0">
                <a:latin typeface="Consolas" panose="020B0609020204030204" pitchFamily="49" charset="0"/>
              </a:rPr>
              <a:t>("lambda_2", alpha)</a:t>
            </a:r>
          </a:p>
          <a:p>
            <a:pPr marL="0" indent="0">
              <a:buNone/>
            </a:pPr>
            <a:r>
              <a:rPr lang="en-US" sz="1400" dirty="0">
                <a:latin typeface="Consolas" panose="020B0609020204030204" pitchFamily="49" charset="0"/>
              </a:rPr>
              <a:t>    tau = </a:t>
            </a:r>
            <a:r>
              <a:rPr lang="en-US" sz="1400" dirty="0" err="1">
                <a:latin typeface="Consolas" panose="020B0609020204030204" pitchFamily="49" charset="0"/>
              </a:rPr>
              <a:t>pm.DiscreteUniform</a:t>
            </a:r>
            <a:r>
              <a:rPr lang="en-US" sz="1400" dirty="0">
                <a:latin typeface="Consolas" panose="020B0609020204030204" pitchFamily="49" charset="0"/>
              </a:rPr>
              <a:t>("tau", lower=0, upper=</a:t>
            </a:r>
            <a:r>
              <a:rPr lang="en-US" sz="1400" dirty="0" err="1">
                <a:latin typeface="Consolas" panose="020B0609020204030204" pitchFamily="49" charset="0"/>
              </a:rPr>
              <a:t>n_count_data</a:t>
            </a:r>
            <a:r>
              <a:rPr lang="en-US" sz="1400">
                <a:latin typeface="Consolas" panose="020B0609020204030204" pitchFamily="49" charset="0"/>
              </a:rPr>
              <a:t> - 1)</a:t>
            </a:r>
            <a:endParaRPr lang="en-US" sz="14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dirty="0">
                <a:latin typeface="Consolas" panose="020B0609020204030204" pitchFamily="49" charset="0"/>
              </a:rPr>
              <a:t>   </a:t>
            </a:r>
          </a:p>
          <a:p>
            <a:pPr marL="0" indent="0">
              <a:buNone/>
            </a:pPr>
            <a:r>
              <a:rPr lang="en-US" sz="1400" dirty="0">
                <a:latin typeface="Consolas" panose="020B0609020204030204" pitchFamily="49" charset="0"/>
              </a:rPr>
              <a:t>with model:</a:t>
            </a:r>
          </a:p>
          <a:p>
            <a:pPr marL="0" indent="0">
              <a:buNone/>
            </a:pPr>
            <a:r>
              <a:rPr lang="en-US" sz="1400" dirty="0">
                <a:latin typeface="Consolas" panose="020B0609020204030204" pitchFamily="49" charset="0"/>
              </a:rPr>
              <a:t>    </a:t>
            </a:r>
            <a:r>
              <a:rPr lang="en-US" sz="1400" dirty="0" err="1">
                <a:latin typeface="Consolas" panose="020B0609020204030204" pitchFamily="49" charset="0"/>
              </a:rPr>
              <a:t>idx</a:t>
            </a:r>
            <a:r>
              <a:rPr lang="en-US" sz="1400" dirty="0">
                <a:latin typeface="Consolas" panose="020B0609020204030204" pitchFamily="49" charset="0"/>
              </a:rPr>
              <a:t> = </a:t>
            </a:r>
            <a:r>
              <a:rPr lang="en-US" sz="1400" dirty="0" err="1">
                <a:latin typeface="Consolas" panose="020B0609020204030204" pitchFamily="49" charset="0"/>
              </a:rPr>
              <a:t>np.arange</a:t>
            </a:r>
            <a:r>
              <a:rPr lang="en-US" sz="1400" dirty="0">
                <a:latin typeface="Consolas" panose="020B0609020204030204" pitchFamily="49" charset="0"/>
              </a:rPr>
              <a:t>(</a:t>
            </a:r>
            <a:r>
              <a:rPr lang="en-US" sz="1400" dirty="0" err="1">
                <a:latin typeface="Consolas" panose="020B0609020204030204" pitchFamily="49" charset="0"/>
              </a:rPr>
              <a:t>n_count_data</a:t>
            </a:r>
            <a:r>
              <a:rPr lang="en-US" sz="1400" dirty="0">
                <a:latin typeface="Consolas" panose="020B0609020204030204" pitchFamily="49" charset="0"/>
              </a:rPr>
              <a:t>) # Index</a:t>
            </a:r>
          </a:p>
          <a:p>
            <a:pPr marL="0" indent="0">
              <a:buNone/>
            </a:pPr>
            <a:r>
              <a:rPr lang="en-US" sz="1400" dirty="0">
                <a:latin typeface="Consolas" panose="020B0609020204030204" pitchFamily="49" charset="0"/>
              </a:rPr>
              <a:t>    lambda_ = </a:t>
            </a:r>
            <a:r>
              <a:rPr lang="en-US" sz="1400" dirty="0" err="1">
                <a:latin typeface="Consolas" panose="020B0609020204030204" pitchFamily="49" charset="0"/>
              </a:rPr>
              <a:t>pm.math.switch</a:t>
            </a:r>
            <a:r>
              <a:rPr lang="en-US" sz="1400" dirty="0">
                <a:latin typeface="Consolas" panose="020B0609020204030204" pitchFamily="49" charset="0"/>
              </a:rPr>
              <a:t>(tau &gt; </a:t>
            </a:r>
            <a:r>
              <a:rPr lang="en-US" sz="1400" dirty="0" err="1">
                <a:latin typeface="Consolas" panose="020B0609020204030204" pitchFamily="49" charset="0"/>
              </a:rPr>
              <a:t>idx</a:t>
            </a:r>
            <a:r>
              <a:rPr lang="en-US" sz="1400" dirty="0">
                <a:latin typeface="Consolas" panose="020B0609020204030204" pitchFamily="49" charset="0"/>
              </a:rPr>
              <a:t>, lambda_1, lambda_2)</a:t>
            </a:r>
          </a:p>
          <a:p>
            <a:pPr marL="0" indent="0">
              <a:buNone/>
            </a:pPr>
            <a:endParaRPr lang="en-US" sz="14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dirty="0">
                <a:latin typeface="Consolas" panose="020B0609020204030204" pitchFamily="49" charset="0"/>
              </a:rPr>
              <a:t>with model:</a:t>
            </a:r>
          </a:p>
          <a:p>
            <a:pPr marL="0" indent="0">
              <a:buNone/>
            </a:pPr>
            <a:r>
              <a:rPr lang="en-US" sz="1400" dirty="0">
                <a:latin typeface="Consolas" panose="020B0609020204030204" pitchFamily="49" charset="0"/>
              </a:rPr>
              <a:t>    observation = </a:t>
            </a:r>
            <a:r>
              <a:rPr lang="en-US" sz="1400" dirty="0" err="1">
                <a:latin typeface="Consolas" panose="020B0609020204030204" pitchFamily="49" charset="0"/>
              </a:rPr>
              <a:t>pm.Poisson</a:t>
            </a:r>
            <a:r>
              <a:rPr lang="en-US" sz="1400" dirty="0">
                <a:latin typeface="Consolas" panose="020B0609020204030204" pitchFamily="49" charset="0"/>
              </a:rPr>
              <a:t>("</a:t>
            </a:r>
            <a:r>
              <a:rPr lang="en-US" sz="1400" dirty="0" err="1">
                <a:latin typeface="Consolas" panose="020B0609020204030204" pitchFamily="49" charset="0"/>
              </a:rPr>
              <a:t>obs</a:t>
            </a:r>
            <a:r>
              <a:rPr lang="en-US" sz="1400" dirty="0">
                <a:latin typeface="Consolas" panose="020B0609020204030204" pitchFamily="49" charset="0"/>
              </a:rPr>
              <a:t>", lambda_, observed=</a:t>
            </a:r>
            <a:r>
              <a:rPr lang="en-US" sz="1400" dirty="0" err="1">
                <a:latin typeface="Consolas" panose="020B0609020204030204" pitchFamily="49" charset="0"/>
              </a:rPr>
              <a:t>count_data</a:t>
            </a:r>
            <a:r>
              <a:rPr lang="en-US" sz="14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endParaRPr lang="en-US" sz="14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dirty="0">
                <a:latin typeface="Consolas" panose="020B0609020204030204" pitchFamily="49" charset="0"/>
              </a:rPr>
              <a:t>### Mysterious code to be explained in Chapter 3.</a:t>
            </a:r>
          </a:p>
          <a:p>
            <a:pPr marL="0" indent="0">
              <a:buNone/>
            </a:pPr>
            <a:r>
              <a:rPr lang="en-US" sz="1400" dirty="0">
                <a:latin typeface="Consolas" panose="020B0609020204030204" pitchFamily="49" charset="0"/>
              </a:rPr>
              <a:t>with model:</a:t>
            </a:r>
          </a:p>
          <a:p>
            <a:pPr marL="0" indent="0">
              <a:buNone/>
            </a:pPr>
            <a:r>
              <a:rPr lang="en-US" sz="1400" dirty="0">
                <a:latin typeface="Consolas" panose="020B0609020204030204" pitchFamily="49" charset="0"/>
              </a:rPr>
              <a:t>    step = </a:t>
            </a:r>
            <a:r>
              <a:rPr lang="en-US" sz="1400" dirty="0" err="1">
                <a:latin typeface="Consolas" panose="020B0609020204030204" pitchFamily="49" charset="0"/>
              </a:rPr>
              <a:t>pm.Metropolis</a:t>
            </a:r>
            <a:r>
              <a:rPr lang="en-US" sz="1400" dirty="0"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US" sz="1400" dirty="0">
                <a:latin typeface="Consolas" panose="020B0609020204030204" pitchFamily="49" charset="0"/>
              </a:rPr>
              <a:t>    trace = </a:t>
            </a:r>
            <a:r>
              <a:rPr lang="en-US" sz="1400" dirty="0" err="1">
                <a:latin typeface="Consolas" panose="020B0609020204030204" pitchFamily="49" charset="0"/>
              </a:rPr>
              <a:t>pm.sample</a:t>
            </a:r>
            <a:r>
              <a:rPr lang="en-US" sz="1400" dirty="0">
                <a:latin typeface="Consolas" panose="020B0609020204030204" pitchFamily="49" charset="0"/>
              </a:rPr>
              <a:t>(10000, tune=5000, chains=1, step=step, </a:t>
            </a:r>
            <a:r>
              <a:rPr lang="en-US" sz="1400" dirty="0" err="1">
                <a:latin typeface="Consolas" panose="020B0609020204030204" pitchFamily="49" charset="0"/>
              </a:rPr>
              <a:t>return_inferencedata</a:t>
            </a:r>
            <a:r>
              <a:rPr lang="en-US" sz="1400" dirty="0">
                <a:latin typeface="Consolas" panose="020B0609020204030204" pitchFamily="49" charset="0"/>
              </a:rPr>
              <a:t>=False)</a:t>
            </a:r>
          </a:p>
          <a:p>
            <a:pPr marL="0" indent="0">
              <a:buNone/>
            </a:pPr>
            <a:endParaRPr lang="en-US" sz="14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dirty="0">
                <a:latin typeface="Consolas" panose="020B0609020204030204" pitchFamily="49" charset="0"/>
              </a:rPr>
              <a:t>lambda_1_samples = trace['lambda_1']</a:t>
            </a:r>
          </a:p>
          <a:p>
            <a:pPr marL="0" indent="0">
              <a:buNone/>
            </a:pPr>
            <a:r>
              <a:rPr lang="en-US" sz="1400" dirty="0">
                <a:latin typeface="Consolas" panose="020B0609020204030204" pitchFamily="49" charset="0"/>
              </a:rPr>
              <a:t>lambda_2_samples = trace['lambda_2']</a:t>
            </a:r>
          </a:p>
          <a:p>
            <a:pPr marL="0" indent="0">
              <a:buNone/>
            </a:pPr>
            <a:r>
              <a:rPr lang="en-US" sz="1400" dirty="0" err="1">
                <a:latin typeface="Consolas" panose="020B0609020204030204" pitchFamily="49" charset="0"/>
              </a:rPr>
              <a:t>tau_samples</a:t>
            </a:r>
            <a:r>
              <a:rPr lang="en-US" sz="1400" dirty="0">
                <a:latin typeface="Consolas" panose="020B0609020204030204" pitchFamily="49" charset="0"/>
              </a:rPr>
              <a:t> = trace['tau']</a:t>
            </a:r>
          </a:p>
        </p:txBody>
      </p:sp>
    </p:spTree>
    <p:extLst>
      <p:ext uri="{BB962C8B-B14F-4D97-AF65-F5344CB8AC3E}">
        <p14:creationId xmlns:p14="http://schemas.microsoft.com/office/powerpoint/2010/main" val="36398060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C55FDCB-0DF4-4B77-928A-390843DA7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BEA30C-5BD9-4CEB-974A-78F4E014AF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533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06671F6-9E1C-462B-8E1E-639335823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PyMC</a:t>
            </a:r>
            <a:r>
              <a:rPr lang="en-US" dirty="0"/>
              <a:t> Simulation (the wrong way)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32B74B1-3145-4B60-B252-81C1C98362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1873188"/>
            <a:ext cx="10554574" cy="4984812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1400" dirty="0" err="1">
                <a:latin typeface="Consolas" panose="020B0609020204030204" pitchFamily="49" charset="0"/>
              </a:rPr>
              <a:t>n_count_data</a:t>
            </a:r>
            <a:r>
              <a:rPr lang="en-US" sz="1400" dirty="0">
                <a:latin typeface="Consolas" panose="020B0609020204030204" pitchFamily="49" charset="0"/>
              </a:rPr>
              <a:t> = 80</a:t>
            </a:r>
          </a:p>
          <a:p>
            <a:pPr marL="0" indent="0">
              <a:buNone/>
            </a:pPr>
            <a:endParaRPr lang="en-US" sz="14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dirty="0">
                <a:latin typeface="Consolas" panose="020B0609020204030204" pitchFamily="49" charset="0"/>
              </a:rPr>
              <a:t>with </a:t>
            </a:r>
            <a:r>
              <a:rPr lang="en-US" sz="1400" dirty="0" err="1">
                <a:latin typeface="Consolas" panose="020B0609020204030204" pitchFamily="49" charset="0"/>
              </a:rPr>
              <a:t>pm.Model</a:t>
            </a:r>
            <a:r>
              <a:rPr lang="en-US" sz="1400" dirty="0">
                <a:latin typeface="Consolas" panose="020B0609020204030204" pitchFamily="49" charset="0"/>
              </a:rPr>
              <a:t>() as model:</a:t>
            </a:r>
          </a:p>
          <a:p>
            <a:pPr marL="0" indent="0">
              <a:buNone/>
            </a:pPr>
            <a:r>
              <a:rPr lang="en-US" sz="1400" dirty="0">
                <a:latin typeface="Consolas" panose="020B0609020204030204" pitchFamily="49" charset="0"/>
              </a:rPr>
              <a:t>    alpha = 1.0/20 </a:t>
            </a:r>
          </a:p>
          <a:p>
            <a:pPr marL="0" indent="0">
              <a:buNone/>
            </a:pPr>
            <a:r>
              <a:rPr lang="en-US" sz="1400" dirty="0">
                <a:latin typeface="Consolas" panose="020B0609020204030204" pitchFamily="49" charset="0"/>
              </a:rPr>
              <a:t>    lambda_1 = </a:t>
            </a:r>
            <a:r>
              <a:rPr lang="en-US" sz="1400" dirty="0" err="1">
                <a:latin typeface="Consolas" panose="020B0609020204030204" pitchFamily="49" charset="0"/>
              </a:rPr>
              <a:t>pm.Exponential</a:t>
            </a:r>
            <a:r>
              <a:rPr lang="en-US" sz="1400" dirty="0">
                <a:latin typeface="Consolas" panose="020B0609020204030204" pitchFamily="49" charset="0"/>
              </a:rPr>
              <a:t>("lambda_1", alpha)</a:t>
            </a:r>
          </a:p>
          <a:p>
            <a:pPr marL="0" indent="0">
              <a:buNone/>
            </a:pPr>
            <a:r>
              <a:rPr lang="en-US" sz="1400" dirty="0">
                <a:latin typeface="Consolas" panose="020B0609020204030204" pitchFamily="49" charset="0"/>
              </a:rPr>
              <a:t>    lambda_2 = </a:t>
            </a:r>
            <a:r>
              <a:rPr lang="en-US" sz="1400" dirty="0" err="1">
                <a:latin typeface="Consolas" panose="020B0609020204030204" pitchFamily="49" charset="0"/>
              </a:rPr>
              <a:t>pm.Exponential</a:t>
            </a:r>
            <a:r>
              <a:rPr lang="en-US" sz="1400" dirty="0">
                <a:latin typeface="Consolas" panose="020B0609020204030204" pitchFamily="49" charset="0"/>
              </a:rPr>
              <a:t>("lambda_2", alpha)</a:t>
            </a:r>
          </a:p>
          <a:p>
            <a:pPr marL="0" indent="0">
              <a:buNone/>
            </a:pPr>
            <a:r>
              <a:rPr lang="en-US" sz="1400" dirty="0">
                <a:latin typeface="Consolas" panose="020B0609020204030204" pitchFamily="49" charset="0"/>
              </a:rPr>
              <a:t>    tau = </a:t>
            </a:r>
            <a:r>
              <a:rPr lang="en-US" sz="1400" dirty="0" err="1">
                <a:latin typeface="Consolas" panose="020B0609020204030204" pitchFamily="49" charset="0"/>
              </a:rPr>
              <a:t>pm.DiscreteUniform</a:t>
            </a:r>
            <a:r>
              <a:rPr lang="en-US" sz="1400" dirty="0">
                <a:latin typeface="Consolas" panose="020B0609020204030204" pitchFamily="49" charset="0"/>
              </a:rPr>
              <a:t>("tau", lower=0, upper=</a:t>
            </a:r>
            <a:r>
              <a:rPr lang="en-US" sz="1400" dirty="0" err="1">
                <a:latin typeface="Consolas" panose="020B0609020204030204" pitchFamily="49" charset="0"/>
              </a:rPr>
              <a:t>n_count_data</a:t>
            </a:r>
            <a:r>
              <a:rPr lang="en-US" sz="1400" dirty="0">
                <a:latin typeface="Consolas" panose="020B0609020204030204" pitchFamily="49" charset="0"/>
              </a:rPr>
              <a:t> - 1)</a:t>
            </a:r>
          </a:p>
          <a:p>
            <a:pPr marL="0" indent="0">
              <a:buNone/>
            </a:pPr>
            <a:endParaRPr lang="en-US" sz="14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dirty="0">
                <a:latin typeface="Consolas" panose="020B0609020204030204" pitchFamily="49" charset="0"/>
              </a:rPr>
              <a:t>with model:</a:t>
            </a:r>
          </a:p>
          <a:p>
            <a:pPr marL="0" indent="0">
              <a:buNone/>
            </a:pPr>
            <a:r>
              <a:rPr lang="en-US" sz="1400" dirty="0">
                <a:latin typeface="Consolas" panose="020B0609020204030204" pitchFamily="49" charset="0"/>
              </a:rPr>
              <a:t>    </a:t>
            </a:r>
            <a:r>
              <a:rPr lang="en-US" sz="1400" dirty="0" err="1">
                <a:latin typeface="Consolas" panose="020B0609020204030204" pitchFamily="49" charset="0"/>
              </a:rPr>
              <a:t>idx</a:t>
            </a:r>
            <a:r>
              <a:rPr lang="en-US" sz="1400" dirty="0">
                <a:latin typeface="Consolas" panose="020B0609020204030204" pitchFamily="49" charset="0"/>
              </a:rPr>
              <a:t> = </a:t>
            </a:r>
            <a:r>
              <a:rPr lang="en-US" sz="1400" dirty="0" err="1">
                <a:latin typeface="Consolas" panose="020B0609020204030204" pitchFamily="49" charset="0"/>
              </a:rPr>
              <a:t>np.arange</a:t>
            </a:r>
            <a:r>
              <a:rPr lang="en-US" sz="1400" dirty="0">
                <a:latin typeface="Consolas" panose="020B0609020204030204" pitchFamily="49" charset="0"/>
              </a:rPr>
              <a:t>(</a:t>
            </a:r>
            <a:r>
              <a:rPr lang="en-US" sz="1400" dirty="0" err="1">
                <a:latin typeface="Consolas" panose="020B0609020204030204" pitchFamily="49" charset="0"/>
              </a:rPr>
              <a:t>n_count_data</a:t>
            </a:r>
            <a:r>
              <a:rPr lang="en-US" sz="1400" dirty="0">
                <a:latin typeface="Consolas" panose="020B0609020204030204" pitchFamily="49" charset="0"/>
              </a:rPr>
              <a:t>) # Index</a:t>
            </a:r>
          </a:p>
          <a:p>
            <a:pPr marL="0" indent="0">
              <a:buNone/>
            </a:pPr>
            <a:r>
              <a:rPr lang="en-US" sz="1400" dirty="0">
                <a:latin typeface="Consolas" panose="020B0609020204030204" pitchFamily="49" charset="0"/>
              </a:rPr>
              <a:t>    lambda_ = </a:t>
            </a:r>
            <a:r>
              <a:rPr lang="en-US" sz="1400" dirty="0" err="1">
                <a:latin typeface="Consolas" panose="020B0609020204030204" pitchFamily="49" charset="0"/>
              </a:rPr>
              <a:t>pm.math.switch</a:t>
            </a:r>
            <a:r>
              <a:rPr lang="en-US" sz="1400" dirty="0">
                <a:latin typeface="Consolas" panose="020B0609020204030204" pitchFamily="49" charset="0"/>
              </a:rPr>
              <a:t>(tau &gt; </a:t>
            </a:r>
            <a:r>
              <a:rPr lang="en-US" sz="1400" dirty="0" err="1">
                <a:latin typeface="Consolas" panose="020B0609020204030204" pitchFamily="49" charset="0"/>
              </a:rPr>
              <a:t>idx</a:t>
            </a:r>
            <a:r>
              <a:rPr lang="en-US" sz="1400" dirty="0">
                <a:latin typeface="Consolas" panose="020B0609020204030204" pitchFamily="49" charset="0"/>
              </a:rPr>
              <a:t>, lambda_1, lambda_2)</a:t>
            </a:r>
          </a:p>
          <a:p>
            <a:pPr marL="0" indent="0">
              <a:buNone/>
            </a:pPr>
            <a:endParaRPr lang="en-US" sz="14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dirty="0">
                <a:latin typeface="Consolas" panose="020B0609020204030204" pitchFamily="49" charset="0"/>
              </a:rPr>
              <a:t>with model:</a:t>
            </a:r>
          </a:p>
          <a:p>
            <a:pPr marL="0" indent="0">
              <a:buNone/>
            </a:pPr>
            <a:r>
              <a:rPr lang="en-US" sz="1400" dirty="0">
                <a:latin typeface="Consolas" panose="020B0609020204030204" pitchFamily="49" charset="0"/>
              </a:rPr>
              <a:t>    observation = </a:t>
            </a:r>
            <a:r>
              <a:rPr lang="en-US" sz="1400" dirty="0" err="1">
                <a:latin typeface="Consolas" panose="020B0609020204030204" pitchFamily="49" charset="0"/>
              </a:rPr>
              <a:t>pm.Poisson</a:t>
            </a:r>
            <a:r>
              <a:rPr lang="en-US" sz="1400" dirty="0">
                <a:latin typeface="Consolas" panose="020B0609020204030204" pitchFamily="49" charset="0"/>
              </a:rPr>
              <a:t>("</a:t>
            </a:r>
            <a:r>
              <a:rPr lang="en-US" sz="1400" dirty="0" err="1">
                <a:latin typeface="Consolas" panose="020B0609020204030204" pitchFamily="49" charset="0"/>
              </a:rPr>
              <a:t>obs</a:t>
            </a:r>
            <a:r>
              <a:rPr lang="en-US" sz="1400" dirty="0">
                <a:latin typeface="Consolas" panose="020B0609020204030204" pitchFamily="49" charset="0"/>
              </a:rPr>
              <a:t>", lambda_)</a:t>
            </a:r>
          </a:p>
          <a:p>
            <a:pPr marL="0" indent="0">
              <a:buNone/>
            </a:pPr>
            <a:endParaRPr lang="en-US" sz="14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dirty="0">
                <a:latin typeface="Consolas" panose="020B0609020204030204" pitchFamily="49" charset="0"/>
              </a:rPr>
              <a:t>with model:</a:t>
            </a:r>
          </a:p>
          <a:p>
            <a:pPr marL="0" indent="0">
              <a:buNone/>
            </a:pPr>
            <a:r>
              <a:rPr lang="en-US" sz="1400" dirty="0">
                <a:latin typeface="Consolas" panose="020B0609020204030204" pitchFamily="49" charset="0"/>
              </a:rPr>
              <a:t>    step = </a:t>
            </a:r>
            <a:r>
              <a:rPr lang="en-US" sz="1400" dirty="0" err="1">
                <a:latin typeface="Consolas" panose="020B0609020204030204" pitchFamily="49" charset="0"/>
              </a:rPr>
              <a:t>pm.Metropolis</a:t>
            </a:r>
            <a:r>
              <a:rPr lang="en-US" sz="1400" dirty="0"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US" sz="1400" dirty="0">
                <a:latin typeface="Consolas" panose="020B0609020204030204" pitchFamily="49" charset="0"/>
              </a:rPr>
              <a:t>    trace = </a:t>
            </a:r>
            <a:r>
              <a:rPr lang="en-US" sz="1400" dirty="0" err="1">
                <a:latin typeface="Consolas" panose="020B0609020204030204" pitchFamily="49" charset="0"/>
              </a:rPr>
              <a:t>pm.sample</a:t>
            </a:r>
            <a:r>
              <a:rPr lang="en-US" sz="1400" dirty="0">
                <a:latin typeface="Consolas" panose="020B0609020204030204" pitchFamily="49" charset="0"/>
              </a:rPr>
              <a:t>(10, tune=0, chains=1, step=step, </a:t>
            </a:r>
            <a:r>
              <a:rPr lang="en-US" sz="1400" dirty="0" err="1">
                <a:latin typeface="Consolas" panose="020B0609020204030204" pitchFamily="49" charset="0"/>
              </a:rPr>
              <a:t>return_inferencedata</a:t>
            </a:r>
            <a:r>
              <a:rPr lang="en-US" sz="1400" dirty="0">
                <a:latin typeface="Consolas" panose="020B0609020204030204" pitchFamily="49" charset="0"/>
              </a:rPr>
              <a:t>=False)</a:t>
            </a:r>
          </a:p>
          <a:p>
            <a:pPr marL="0" indent="0">
              <a:buNone/>
            </a:pPr>
            <a:endParaRPr lang="en-US" sz="14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dirty="0" err="1">
                <a:latin typeface="Consolas" panose="020B0609020204030204" pitchFamily="49" charset="0"/>
              </a:rPr>
              <a:t>tau_samples</a:t>
            </a:r>
            <a:r>
              <a:rPr lang="en-US" sz="1400" dirty="0">
                <a:latin typeface="Consolas" panose="020B0609020204030204" pitchFamily="49" charset="0"/>
              </a:rPr>
              <a:t> = trace['tau']</a:t>
            </a:r>
          </a:p>
          <a:p>
            <a:pPr marL="0" indent="0">
              <a:buNone/>
            </a:pPr>
            <a:r>
              <a:rPr lang="en-US" sz="1400" dirty="0" err="1">
                <a:latin typeface="Consolas" panose="020B0609020204030204" pitchFamily="49" charset="0"/>
              </a:rPr>
              <a:t>obs_samples</a:t>
            </a:r>
            <a:r>
              <a:rPr lang="en-US" sz="1400" dirty="0">
                <a:latin typeface="Consolas" panose="020B0609020204030204" pitchFamily="49" charset="0"/>
              </a:rPr>
              <a:t> = trace['</a:t>
            </a:r>
            <a:r>
              <a:rPr lang="en-US" sz="1400" dirty="0" err="1">
                <a:latin typeface="Consolas" panose="020B0609020204030204" pitchFamily="49" charset="0"/>
              </a:rPr>
              <a:t>obs</a:t>
            </a:r>
            <a:r>
              <a:rPr lang="en-US" sz="1400" dirty="0">
                <a:latin typeface="Consolas" panose="020B0609020204030204" pitchFamily="49" charset="0"/>
              </a:rPr>
              <a:t>']</a:t>
            </a:r>
          </a:p>
        </p:txBody>
      </p:sp>
    </p:spTree>
    <p:extLst>
      <p:ext uri="{BB962C8B-B14F-4D97-AF65-F5344CB8AC3E}">
        <p14:creationId xmlns:p14="http://schemas.microsoft.com/office/powerpoint/2010/main" val="7691777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06671F6-9E1C-462B-8E1E-639335823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PyMC</a:t>
            </a:r>
            <a:r>
              <a:rPr lang="en-US" dirty="0"/>
              <a:t> Simulation (the correct way)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32B74B1-3145-4B60-B252-81C1C98362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9318" y="1873188"/>
            <a:ext cx="10554574" cy="498481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400" dirty="0" err="1">
                <a:latin typeface="Consolas" panose="020B0609020204030204" pitchFamily="49" charset="0"/>
              </a:rPr>
              <a:t>n_count_data</a:t>
            </a:r>
            <a:r>
              <a:rPr lang="en-US" sz="1400" dirty="0">
                <a:latin typeface="Consolas" panose="020B0609020204030204" pitchFamily="49" charset="0"/>
              </a:rPr>
              <a:t> = 80</a:t>
            </a:r>
          </a:p>
          <a:p>
            <a:pPr marL="0" indent="0">
              <a:buNone/>
            </a:pPr>
            <a:endParaRPr lang="en-US" sz="14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dirty="0">
                <a:latin typeface="Consolas" panose="020B0609020204030204" pitchFamily="49" charset="0"/>
              </a:rPr>
              <a:t>with </a:t>
            </a:r>
            <a:r>
              <a:rPr lang="en-US" sz="1400" dirty="0" err="1">
                <a:latin typeface="Consolas" panose="020B0609020204030204" pitchFamily="49" charset="0"/>
              </a:rPr>
              <a:t>pm.Model</a:t>
            </a:r>
            <a:r>
              <a:rPr lang="en-US" sz="1400" dirty="0">
                <a:latin typeface="Consolas" panose="020B0609020204030204" pitchFamily="49" charset="0"/>
              </a:rPr>
              <a:t>() as model:</a:t>
            </a:r>
          </a:p>
          <a:p>
            <a:pPr marL="0" indent="0">
              <a:buNone/>
            </a:pPr>
            <a:r>
              <a:rPr lang="en-US" sz="1400" dirty="0">
                <a:latin typeface="Consolas" panose="020B0609020204030204" pitchFamily="49" charset="0"/>
              </a:rPr>
              <a:t>    alpha = 1.0/20 </a:t>
            </a:r>
          </a:p>
          <a:p>
            <a:pPr marL="0" indent="0">
              <a:buNone/>
            </a:pPr>
            <a:r>
              <a:rPr lang="en-US" sz="1400" dirty="0">
                <a:latin typeface="Consolas" panose="020B0609020204030204" pitchFamily="49" charset="0"/>
              </a:rPr>
              <a:t>    lambda_1 = </a:t>
            </a:r>
            <a:r>
              <a:rPr lang="en-US" sz="1400" dirty="0" err="1">
                <a:latin typeface="Consolas" panose="020B0609020204030204" pitchFamily="49" charset="0"/>
              </a:rPr>
              <a:t>pm.Exponential</a:t>
            </a:r>
            <a:r>
              <a:rPr lang="en-US" sz="1400" dirty="0">
                <a:latin typeface="Consolas" panose="020B0609020204030204" pitchFamily="49" charset="0"/>
              </a:rPr>
              <a:t>("lambda_1", alpha)</a:t>
            </a:r>
          </a:p>
          <a:p>
            <a:pPr marL="0" indent="0">
              <a:buNone/>
            </a:pPr>
            <a:r>
              <a:rPr lang="en-US" sz="1400" dirty="0">
                <a:latin typeface="Consolas" panose="020B0609020204030204" pitchFamily="49" charset="0"/>
              </a:rPr>
              <a:t>    lambda_2 = </a:t>
            </a:r>
            <a:r>
              <a:rPr lang="en-US" sz="1400" dirty="0" err="1">
                <a:latin typeface="Consolas" panose="020B0609020204030204" pitchFamily="49" charset="0"/>
              </a:rPr>
              <a:t>pm.Exponential</a:t>
            </a:r>
            <a:r>
              <a:rPr lang="en-US" sz="1400" dirty="0">
                <a:latin typeface="Consolas" panose="020B0609020204030204" pitchFamily="49" charset="0"/>
              </a:rPr>
              <a:t>("lambda_2", alpha)</a:t>
            </a:r>
          </a:p>
          <a:p>
            <a:pPr marL="0" indent="0">
              <a:buNone/>
            </a:pPr>
            <a:r>
              <a:rPr lang="en-US" sz="1400" dirty="0">
                <a:latin typeface="Consolas" panose="020B0609020204030204" pitchFamily="49" charset="0"/>
              </a:rPr>
              <a:t>    tau = </a:t>
            </a:r>
            <a:r>
              <a:rPr lang="en-US" sz="1400" dirty="0" err="1">
                <a:latin typeface="Consolas" panose="020B0609020204030204" pitchFamily="49" charset="0"/>
              </a:rPr>
              <a:t>pm.DiscreteUniform</a:t>
            </a:r>
            <a:r>
              <a:rPr lang="en-US" sz="1400" dirty="0">
                <a:latin typeface="Consolas" panose="020B0609020204030204" pitchFamily="49" charset="0"/>
              </a:rPr>
              <a:t>("tau", lower=0, upper=</a:t>
            </a:r>
            <a:r>
              <a:rPr lang="en-US" sz="1400" dirty="0" err="1">
                <a:latin typeface="Consolas" panose="020B0609020204030204" pitchFamily="49" charset="0"/>
              </a:rPr>
              <a:t>n_count_data</a:t>
            </a:r>
            <a:r>
              <a:rPr lang="en-US" sz="1400" dirty="0">
                <a:latin typeface="Consolas" panose="020B0609020204030204" pitchFamily="49" charset="0"/>
              </a:rPr>
              <a:t> - 1)</a:t>
            </a:r>
          </a:p>
          <a:p>
            <a:pPr marL="0" indent="0">
              <a:buNone/>
            </a:pPr>
            <a:endParaRPr lang="en-US" sz="14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dirty="0">
                <a:latin typeface="Consolas" panose="020B0609020204030204" pitchFamily="49" charset="0"/>
              </a:rPr>
              <a:t>with model:</a:t>
            </a:r>
          </a:p>
          <a:p>
            <a:pPr marL="0" indent="0">
              <a:buNone/>
            </a:pPr>
            <a:r>
              <a:rPr lang="en-US" sz="1400" dirty="0">
                <a:latin typeface="Consolas" panose="020B0609020204030204" pitchFamily="49" charset="0"/>
              </a:rPr>
              <a:t>    </a:t>
            </a:r>
            <a:r>
              <a:rPr lang="en-US" sz="1400" dirty="0" err="1">
                <a:latin typeface="Consolas" panose="020B0609020204030204" pitchFamily="49" charset="0"/>
              </a:rPr>
              <a:t>idx</a:t>
            </a:r>
            <a:r>
              <a:rPr lang="en-US" sz="1400" dirty="0">
                <a:latin typeface="Consolas" panose="020B0609020204030204" pitchFamily="49" charset="0"/>
              </a:rPr>
              <a:t> = </a:t>
            </a:r>
            <a:r>
              <a:rPr lang="en-US" sz="1400" dirty="0" err="1">
                <a:latin typeface="Consolas" panose="020B0609020204030204" pitchFamily="49" charset="0"/>
              </a:rPr>
              <a:t>np.arange</a:t>
            </a:r>
            <a:r>
              <a:rPr lang="en-US" sz="1400" dirty="0">
                <a:latin typeface="Consolas" panose="020B0609020204030204" pitchFamily="49" charset="0"/>
              </a:rPr>
              <a:t>(</a:t>
            </a:r>
            <a:r>
              <a:rPr lang="en-US" sz="1400" dirty="0" err="1">
                <a:latin typeface="Consolas" panose="020B0609020204030204" pitchFamily="49" charset="0"/>
              </a:rPr>
              <a:t>n_count_data</a:t>
            </a:r>
            <a:r>
              <a:rPr lang="en-US" sz="1400" dirty="0">
                <a:latin typeface="Consolas" panose="020B0609020204030204" pitchFamily="49" charset="0"/>
              </a:rPr>
              <a:t>) # Index</a:t>
            </a:r>
          </a:p>
          <a:p>
            <a:pPr marL="0" indent="0">
              <a:buNone/>
            </a:pPr>
            <a:r>
              <a:rPr lang="en-US" sz="1400" dirty="0">
                <a:latin typeface="Consolas" panose="020B0609020204030204" pitchFamily="49" charset="0"/>
              </a:rPr>
              <a:t>    lambda_ = </a:t>
            </a:r>
            <a:r>
              <a:rPr lang="en-US" sz="1400" dirty="0" err="1">
                <a:latin typeface="Consolas" panose="020B0609020204030204" pitchFamily="49" charset="0"/>
              </a:rPr>
              <a:t>pm.math.switch</a:t>
            </a:r>
            <a:r>
              <a:rPr lang="en-US" sz="1400" dirty="0">
                <a:latin typeface="Consolas" panose="020B0609020204030204" pitchFamily="49" charset="0"/>
              </a:rPr>
              <a:t>(tau &gt; </a:t>
            </a:r>
            <a:r>
              <a:rPr lang="en-US" sz="1400" dirty="0" err="1">
                <a:latin typeface="Consolas" panose="020B0609020204030204" pitchFamily="49" charset="0"/>
              </a:rPr>
              <a:t>idx</a:t>
            </a:r>
            <a:r>
              <a:rPr lang="en-US" sz="1400" dirty="0">
                <a:latin typeface="Consolas" panose="020B0609020204030204" pitchFamily="49" charset="0"/>
              </a:rPr>
              <a:t>, lambda_1, lambda_2)</a:t>
            </a:r>
          </a:p>
          <a:p>
            <a:pPr marL="0" indent="0">
              <a:buNone/>
            </a:pPr>
            <a:endParaRPr lang="en-US" sz="14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dirty="0">
                <a:latin typeface="Consolas" panose="020B0609020204030204" pitchFamily="49" charset="0"/>
              </a:rPr>
              <a:t>with model:</a:t>
            </a:r>
          </a:p>
          <a:p>
            <a:pPr marL="0" indent="0">
              <a:buNone/>
            </a:pPr>
            <a:r>
              <a:rPr lang="en-US" sz="1400" dirty="0">
                <a:latin typeface="Consolas" panose="020B0609020204030204" pitchFamily="49" charset="0"/>
              </a:rPr>
              <a:t>    data = </a:t>
            </a:r>
            <a:r>
              <a:rPr lang="en-US" sz="1400" dirty="0" err="1">
                <a:latin typeface="Consolas" panose="020B0609020204030204" pitchFamily="49" charset="0"/>
              </a:rPr>
              <a:t>pm.Poisson</a:t>
            </a:r>
            <a:r>
              <a:rPr lang="en-US" sz="1400" dirty="0">
                <a:latin typeface="Consolas" panose="020B0609020204030204" pitchFamily="49" charset="0"/>
              </a:rPr>
              <a:t>(“data", lambda_)</a:t>
            </a:r>
          </a:p>
          <a:p>
            <a:pPr marL="0" indent="0">
              <a:buNone/>
            </a:pPr>
            <a:endParaRPr lang="en-US" sz="14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dirty="0">
                <a:latin typeface="Consolas" panose="020B0609020204030204" pitchFamily="49" charset="0"/>
              </a:rPr>
              <a:t>tau, data = </a:t>
            </a:r>
            <a:r>
              <a:rPr lang="en-US" sz="1400" dirty="0" err="1">
                <a:latin typeface="Consolas" panose="020B0609020204030204" pitchFamily="49" charset="0"/>
              </a:rPr>
              <a:t>pm.draw</a:t>
            </a:r>
            <a:r>
              <a:rPr lang="en-US" sz="1400" dirty="0">
                <a:latin typeface="Consolas" panose="020B0609020204030204" pitchFamily="49" charset="0"/>
              </a:rPr>
              <a:t>([tau, data])</a:t>
            </a:r>
          </a:p>
        </p:txBody>
      </p:sp>
    </p:spTree>
    <p:extLst>
      <p:ext uri="{BB962C8B-B14F-4D97-AF65-F5344CB8AC3E}">
        <p14:creationId xmlns:p14="http://schemas.microsoft.com/office/powerpoint/2010/main" val="13374210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B1A6B-9900-452F-AA13-E20AE058D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without </a:t>
            </a:r>
            <a:r>
              <a:rPr lang="en-US" dirty="0" err="1"/>
              <a:t>PyMC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135585-BB09-4A6B-A881-35C467EBF1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857400" y="1873188"/>
                <a:ext cx="10554574" cy="4984812"/>
              </a:xfrm>
            </p:spPr>
            <p:txBody>
              <a:bodyPr>
                <a:normAutofit fontScale="92500" lnSpcReduction="20000"/>
              </a:bodyPr>
              <a:lstStyle/>
              <a:p>
                <a:pPr marL="800100" lvl="2" indent="0">
                  <a:buNone/>
                </a:pPr>
                <a:r>
                  <a:rPr lang="en-US" dirty="0">
                    <a:latin typeface="Consolas" panose="020B0609020204030204" pitchFamily="49" charset="0"/>
                  </a:rPr>
                  <a:t>import </a:t>
                </a:r>
                <a:r>
                  <a:rPr lang="en-US" dirty="0" err="1">
                    <a:latin typeface="Consolas" panose="020B0609020204030204" pitchFamily="49" charset="0"/>
                  </a:rPr>
                  <a:t>numpy</a:t>
                </a:r>
                <a:r>
                  <a:rPr lang="en-US" dirty="0">
                    <a:latin typeface="Consolas" panose="020B0609020204030204" pitchFamily="49" charset="0"/>
                  </a:rPr>
                  <a:t> as np</a:t>
                </a:r>
              </a:p>
              <a:p>
                <a:pPr marL="800100" lvl="2" indent="0">
                  <a:buNone/>
                </a:pPr>
                <a:r>
                  <a:rPr lang="en-US" dirty="0">
                    <a:latin typeface="Consolas" panose="020B0609020204030204" pitchFamily="49" charset="0"/>
                  </a:rPr>
                  <a:t>import </a:t>
                </a:r>
                <a:r>
                  <a:rPr lang="en-US" dirty="0" err="1">
                    <a:latin typeface="Consolas" panose="020B0609020204030204" pitchFamily="49" charset="0"/>
                  </a:rPr>
                  <a:t>scipy.stats</a:t>
                </a:r>
                <a:r>
                  <a:rPr lang="en-US" dirty="0">
                    <a:latin typeface="Consolas" panose="020B0609020204030204" pitchFamily="49" charset="0"/>
                  </a:rPr>
                  <a:t> as stats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Having the model, we can simulate a possible realization of the dataset: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Specify when the user's </a:t>
                </a:r>
                <a:r>
                  <a:rPr lang="en-US" dirty="0" err="1"/>
                  <a:t>behaviour</a:t>
                </a:r>
                <a:r>
                  <a:rPr lang="en-US" dirty="0"/>
                  <a:t> switches by sampling from </a:t>
                </a:r>
                <a:r>
                  <a:rPr lang="en-US" dirty="0" err="1"/>
                  <a:t>DiscreteUniform</a:t>
                </a:r>
                <a:r>
                  <a:rPr lang="en-US" dirty="0"/>
                  <a:t>(0, 80):</a:t>
                </a:r>
              </a:p>
              <a:p>
                <a:pPr marL="800100" lvl="2" indent="0">
                  <a:buNone/>
                </a:pPr>
                <a:r>
                  <a:rPr lang="en-US" dirty="0">
                    <a:latin typeface="Consolas" panose="020B0609020204030204" pitchFamily="49" charset="0"/>
                  </a:rPr>
                  <a:t>tau = </a:t>
                </a:r>
                <a:r>
                  <a:rPr lang="da-DK" dirty="0" err="1">
                    <a:latin typeface="Consolas" panose="020B0609020204030204" pitchFamily="49" charset="0"/>
                  </a:rPr>
                  <a:t>np.random.randint</a:t>
                </a:r>
                <a:r>
                  <a:rPr lang="da-DK" dirty="0">
                    <a:latin typeface="Consolas" panose="020B0609020204030204" pitchFamily="49" charset="0"/>
                  </a:rPr>
                  <a:t>(0, 80)</a:t>
                </a:r>
                <a:endParaRPr lang="en-US" dirty="0">
                  <a:latin typeface="Consolas" panose="020B0609020204030204" pitchFamily="49" charset="0"/>
                </a:endParaRPr>
              </a:p>
              <a:p>
                <a:pPr marL="800100" lvl="2" indent="0">
                  <a:buNone/>
                </a:pPr>
                <a:r>
                  <a:rPr lang="en-US" dirty="0">
                    <a:latin typeface="Consolas" panose="020B0609020204030204" pitchFamily="49" charset="0"/>
                  </a:rPr>
                  <a:t>print(tau)</a:t>
                </a:r>
              </a:p>
              <a:p>
                <a:pPr marL="800100" lvl="2" indent="0">
                  <a:buNone/>
                </a:pPr>
                <a:endParaRPr lang="en-US" dirty="0">
                  <a:latin typeface="Consolas" panose="020B0609020204030204" pitchFamily="49" charset="0"/>
                </a:endParaRPr>
              </a:p>
              <a:p>
                <a:pPr marL="800100" lvl="2" indent="0">
                  <a:buNone/>
                </a:pPr>
                <a:r>
                  <a:rPr lang="en-US" dirty="0">
                    <a:latin typeface="Consolas" panose="020B0609020204030204" pitchFamily="49" charset="0"/>
                  </a:rPr>
                  <a:t>[Output]:</a:t>
                </a:r>
              </a:p>
              <a:p>
                <a:pPr marL="800100" lvl="2" indent="0">
                  <a:buNone/>
                </a:pPr>
                <a:r>
                  <a:rPr lang="en-US" dirty="0">
                    <a:latin typeface="Consolas" panose="020B0609020204030204" pitchFamily="49" charset="0"/>
                  </a:rPr>
                  <a:t>21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Draw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from an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Exp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distribution:</a:t>
                </a:r>
              </a:p>
              <a:p>
                <a:pPr marL="800100" lvl="2" indent="0">
                  <a:buNone/>
                </a:pPr>
                <a:r>
                  <a:rPr lang="en-US" dirty="0">
                    <a:latin typeface="Consolas" panose="020B0609020204030204" pitchFamily="49" charset="0"/>
                  </a:rPr>
                  <a:t>alpha = 1. / 20.</a:t>
                </a:r>
              </a:p>
              <a:p>
                <a:pPr marL="800100" lvl="2" indent="0">
                  <a:buNone/>
                </a:pPr>
                <a:r>
                  <a:rPr lang="en-US" dirty="0">
                    <a:latin typeface="Consolas" panose="020B0609020204030204" pitchFamily="49" charset="0"/>
                  </a:rPr>
                  <a:t>lambda_1, lambda_2 = </a:t>
                </a:r>
                <a:r>
                  <a:rPr lang="en-US" dirty="0" err="1">
                    <a:latin typeface="Consolas" panose="020B0609020204030204" pitchFamily="49" charset="0"/>
                  </a:rPr>
                  <a:t>np.random.exponential</a:t>
                </a:r>
                <a:r>
                  <a:rPr lang="en-US" dirty="0">
                    <a:latin typeface="Consolas" panose="020B0609020204030204" pitchFamily="49" charset="0"/>
                  </a:rPr>
                  <a:t>(scale=1/alpha, size=2)</a:t>
                </a:r>
              </a:p>
              <a:p>
                <a:pPr marL="800100" lvl="2" indent="0">
                  <a:buNone/>
                </a:pPr>
                <a:r>
                  <a:rPr lang="en-US" dirty="0">
                    <a:latin typeface="Consolas" panose="020B0609020204030204" pitchFamily="49" charset="0"/>
                  </a:rPr>
                  <a:t>print(lambda_1, lambda_2)</a:t>
                </a:r>
              </a:p>
              <a:p>
                <a:pPr marL="800100" lvl="2" indent="0">
                  <a:buNone/>
                </a:pPr>
                <a:endParaRPr lang="en-US" dirty="0">
                  <a:latin typeface="Consolas" panose="020B0609020204030204" pitchFamily="49" charset="0"/>
                </a:endParaRPr>
              </a:p>
              <a:p>
                <a:pPr marL="800100" lvl="2" indent="0">
                  <a:buNone/>
                </a:pPr>
                <a:r>
                  <a:rPr lang="en-US" dirty="0">
                    <a:latin typeface="Consolas" panose="020B0609020204030204" pitchFamily="49" charset="0"/>
                  </a:rPr>
                  <a:t>[Output]:</a:t>
                </a:r>
              </a:p>
              <a:p>
                <a:pPr marL="800100" lvl="2" indent="0">
                  <a:buNone/>
                </a:pPr>
                <a:r>
                  <a:rPr lang="en-US" dirty="0">
                    <a:latin typeface="Consolas" panose="020B0609020204030204" pitchFamily="49" charset="0"/>
                  </a:rPr>
                  <a:t>20.7789591495 62.1938883352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135585-BB09-4A6B-A881-35C467EBF1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57400" y="1873188"/>
                <a:ext cx="10554574" cy="4984812"/>
              </a:xfrm>
              <a:blipFill>
                <a:blip r:embed="rId2"/>
                <a:stretch>
                  <a:fillRect l="-404" b="-1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8878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B1A6B-9900-452F-AA13-E20AE058D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PyMC</a:t>
            </a:r>
            <a:r>
              <a:rPr lang="en-US" dirty="0"/>
              <a:t> Simulation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135585-BB09-4A6B-A881-35C467EBF1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3683" y="2138766"/>
                <a:ext cx="11159230" cy="4664989"/>
              </a:xfrm>
            </p:spPr>
            <p:txBody>
              <a:bodyPr>
                <a:normAutofit/>
              </a:bodyPr>
              <a:lstStyle/>
              <a:p>
                <a:pPr>
                  <a:buFont typeface="+mj-lt"/>
                  <a:buAutoNum type="arabicPeriod" startAt="3"/>
                </a:pPr>
                <a:r>
                  <a:rPr lang="en-US" dirty="0"/>
                  <a:t>For days before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dirty="0"/>
                  <a:t>, represent the user's received SMS count by sampling from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Poi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and sample from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>
                        <a:latin typeface="Cambria Math" panose="02040503050406030204" pitchFamily="18" charset="0"/>
                      </a:rPr>
                      <m:t>Poi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for days after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:</a:t>
                </a:r>
              </a:p>
              <a:p>
                <a:pPr marL="800100" lvl="2" indent="0">
                  <a:buNone/>
                </a:pPr>
                <a:r>
                  <a:rPr lang="en-US" dirty="0">
                    <a:latin typeface="Consolas" panose="020B0609020204030204" pitchFamily="49" charset="0"/>
                  </a:rPr>
                  <a:t>data = </a:t>
                </a:r>
                <a:r>
                  <a:rPr lang="en-US" dirty="0" err="1">
                    <a:latin typeface="Consolas" panose="020B0609020204030204" pitchFamily="49" charset="0"/>
                  </a:rPr>
                  <a:t>np.r</a:t>
                </a:r>
                <a:r>
                  <a:rPr lang="en-US" dirty="0">
                    <a:latin typeface="Consolas" panose="020B0609020204030204" pitchFamily="49" charset="0"/>
                  </a:rPr>
                  <a:t>_[</a:t>
                </a:r>
                <a:r>
                  <a:rPr lang="en-US" dirty="0" err="1">
                    <a:latin typeface="Consolas" panose="020B0609020204030204" pitchFamily="49" charset="0"/>
                  </a:rPr>
                  <a:t>stats.poisson.rvs</a:t>
                </a:r>
                <a:r>
                  <a:rPr lang="en-US" dirty="0">
                    <a:latin typeface="Consolas" panose="020B0609020204030204" pitchFamily="49" charset="0"/>
                  </a:rPr>
                  <a:t>(mu=lambda_1, size=tau), </a:t>
                </a:r>
                <a:r>
                  <a:rPr lang="en-US" dirty="0" err="1">
                    <a:latin typeface="Consolas" panose="020B0609020204030204" pitchFamily="49" charset="0"/>
                  </a:rPr>
                  <a:t>stats.poisson.rvs</a:t>
                </a:r>
                <a:r>
                  <a:rPr lang="en-US" dirty="0">
                    <a:latin typeface="Consolas" panose="020B0609020204030204" pitchFamily="49" charset="0"/>
                  </a:rPr>
                  <a:t>(mu=lambda_2, size = 80 - tau)]</a:t>
                </a:r>
              </a:p>
              <a:p>
                <a:pPr>
                  <a:buFont typeface="+mj-lt"/>
                  <a:buAutoNum type="arabicPeriod" startAt="3"/>
                </a:pPr>
                <a:r>
                  <a:rPr lang="en-US" dirty="0"/>
                  <a:t>Plot the artificial dataset:</a:t>
                </a:r>
              </a:p>
              <a:p>
                <a:pPr marL="800100" lvl="2" indent="0">
                  <a:buNone/>
                </a:pPr>
                <a:r>
                  <a:rPr lang="en-US" dirty="0" err="1">
                    <a:latin typeface="Consolas" panose="020B0609020204030204" pitchFamily="49" charset="0"/>
                  </a:rPr>
                  <a:t>plt.bar</a:t>
                </a:r>
                <a:r>
                  <a:rPr lang="en-US" dirty="0">
                    <a:latin typeface="Consolas" panose="020B0609020204030204" pitchFamily="49" charset="0"/>
                  </a:rPr>
                  <a:t>(</a:t>
                </a:r>
                <a:r>
                  <a:rPr lang="en-US" dirty="0" err="1">
                    <a:latin typeface="Consolas" panose="020B0609020204030204" pitchFamily="49" charset="0"/>
                  </a:rPr>
                  <a:t>np.arange</a:t>
                </a:r>
                <a:r>
                  <a:rPr lang="en-US" dirty="0">
                    <a:latin typeface="Consolas" panose="020B0609020204030204" pitchFamily="49" charset="0"/>
                  </a:rPr>
                  <a:t>(80), data, color="#348ABD")</a:t>
                </a:r>
              </a:p>
              <a:p>
                <a:pPr marL="800100" lvl="2" indent="0">
                  <a:buNone/>
                </a:pPr>
                <a:r>
                  <a:rPr lang="en-US" dirty="0" err="1">
                    <a:latin typeface="Consolas" panose="020B0609020204030204" pitchFamily="49" charset="0"/>
                  </a:rPr>
                  <a:t>plt.bar</a:t>
                </a:r>
                <a:r>
                  <a:rPr lang="en-US" dirty="0">
                    <a:latin typeface="Consolas" panose="020B0609020204030204" pitchFamily="49" charset="0"/>
                  </a:rPr>
                  <a:t>(tau - 1, data[tau - 1], color="r", label="user </a:t>
                </a:r>
                <a:r>
                  <a:rPr lang="en-US" dirty="0" err="1">
                    <a:latin typeface="Consolas" panose="020B0609020204030204" pitchFamily="49" charset="0"/>
                  </a:rPr>
                  <a:t>behaviour</a:t>
                </a:r>
                <a:r>
                  <a:rPr lang="en-US" dirty="0">
                    <a:latin typeface="Consolas" panose="020B0609020204030204" pitchFamily="49" charset="0"/>
                  </a:rPr>
                  <a:t> changed")</a:t>
                </a:r>
              </a:p>
              <a:p>
                <a:pPr marL="800100" lvl="2" indent="0">
                  <a:buNone/>
                </a:pPr>
                <a:r>
                  <a:rPr lang="en-US" dirty="0" err="1">
                    <a:latin typeface="Consolas" panose="020B0609020204030204" pitchFamily="49" charset="0"/>
                  </a:rPr>
                  <a:t>plt.xlabel</a:t>
                </a:r>
                <a:r>
                  <a:rPr lang="en-US" dirty="0">
                    <a:latin typeface="Consolas" panose="020B0609020204030204" pitchFamily="49" charset="0"/>
                  </a:rPr>
                  <a:t>("Time (days)")</a:t>
                </a:r>
              </a:p>
              <a:p>
                <a:pPr marL="800100" lvl="2" indent="0">
                  <a:buNone/>
                </a:pPr>
                <a:r>
                  <a:rPr lang="en-US" dirty="0" err="1">
                    <a:latin typeface="Consolas" panose="020B0609020204030204" pitchFamily="49" charset="0"/>
                  </a:rPr>
                  <a:t>plt.ylabel</a:t>
                </a:r>
                <a:r>
                  <a:rPr lang="en-US" dirty="0">
                    <a:latin typeface="Consolas" panose="020B0609020204030204" pitchFamily="49" charset="0"/>
                  </a:rPr>
                  <a:t>("count of text-</a:t>
                </a:r>
                <a:r>
                  <a:rPr lang="en-US" dirty="0" err="1">
                    <a:latin typeface="Consolas" panose="020B0609020204030204" pitchFamily="49" charset="0"/>
                  </a:rPr>
                  <a:t>msgs</a:t>
                </a:r>
                <a:r>
                  <a:rPr lang="en-US" dirty="0">
                    <a:latin typeface="Consolas" panose="020B0609020204030204" pitchFamily="49" charset="0"/>
                  </a:rPr>
                  <a:t> received")</a:t>
                </a:r>
              </a:p>
              <a:p>
                <a:pPr marL="800100" lvl="2" indent="0">
                  <a:buNone/>
                </a:pPr>
                <a:r>
                  <a:rPr lang="en-US" dirty="0" err="1">
                    <a:latin typeface="Consolas" panose="020B0609020204030204" pitchFamily="49" charset="0"/>
                  </a:rPr>
                  <a:t>plt.title</a:t>
                </a:r>
                <a:r>
                  <a:rPr lang="en-US" dirty="0">
                    <a:latin typeface="Consolas" panose="020B0609020204030204" pitchFamily="49" charset="0"/>
                  </a:rPr>
                  <a:t>("Artificial dataset")</a:t>
                </a:r>
              </a:p>
              <a:p>
                <a:pPr marL="800100" lvl="2" indent="0">
                  <a:buNone/>
                </a:pPr>
                <a:r>
                  <a:rPr lang="en-US" dirty="0" err="1">
                    <a:latin typeface="Consolas" panose="020B0609020204030204" pitchFamily="49" charset="0"/>
                  </a:rPr>
                  <a:t>plt.xlim</a:t>
                </a:r>
                <a:r>
                  <a:rPr lang="en-US" dirty="0">
                    <a:latin typeface="Consolas" panose="020B0609020204030204" pitchFamily="49" charset="0"/>
                  </a:rPr>
                  <a:t>(0, 80)</a:t>
                </a:r>
              </a:p>
              <a:p>
                <a:pPr marL="800100" lvl="2" indent="0">
                  <a:buNone/>
                </a:pPr>
                <a:r>
                  <a:rPr lang="en-US" dirty="0" err="1">
                    <a:latin typeface="Consolas" panose="020B0609020204030204" pitchFamily="49" charset="0"/>
                  </a:rPr>
                  <a:t>plt.legend</a:t>
                </a:r>
                <a:r>
                  <a:rPr lang="en-US" dirty="0">
                    <a:latin typeface="Consolas" panose="020B0609020204030204" pitchFamily="49" charset="0"/>
                  </a:rPr>
                  <a:t>();</a:t>
                </a:r>
              </a:p>
              <a:p>
                <a:pPr marL="800100" lvl="2" indent="0">
                  <a:buNone/>
                </a:pPr>
                <a:endParaRPr lang="en-US" dirty="0">
                  <a:latin typeface="Consolas" panose="020B0609020204030204" pitchFamily="49" charset="0"/>
                </a:endParaRPr>
              </a:p>
              <a:p>
                <a:pPr marL="800100" lvl="2" indent="0">
                  <a:buNone/>
                </a:pPr>
                <a:r>
                  <a:rPr lang="en-US" dirty="0" err="1">
                    <a:latin typeface="Consolas" panose="020B0609020204030204" pitchFamily="49" charset="0"/>
                  </a:rPr>
                  <a:t>plt.show</a:t>
                </a:r>
                <a:r>
                  <a:rPr lang="en-US" dirty="0">
                    <a:latin typeface="Consolas" panose="020B0609020204030204" pitchFamily="49" charset="0"/>
                  </a:rPr>
                  <a:t>()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135585-BB09-4A6B-A881-35C467EBF1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3683" y="2138766"/>
                <a:ext cx="11159230" cy="4664989"/>
              </a:xfrm>
              <a:blipFill>
                <a:blip r:embed="rId2"/>
                <a:stretch>
                  <a:fillRect l="-164" r="-8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4195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DF431-4CD8-4675-8895-92CF77400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Artificial Dataset</a:t>
            </a:r>
          </a:p>
        </p:txBody>
      </p:sp>
      <p:pic>
        <p:nvPicPr>
          <p:cNvPr id="5" name="Picture 4" descr="A screenshot of a cell phone&#10;&#10;Description generated with high confidence">
            <a:extLst>
              <a:ext uri="{FF2B5EF4-FFF2-40B4-BE49-F238E27FC236}">
                <a16:creationId xmlns:a16="http://schemas.microsoft.com/office/drawing/2014/main" id="{5F3C0CDB-4789-4CB5-AB90-CFA032F303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6977" y="2951377"/>
            <a:ext cx="7248525" cy="2505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4704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CCF3B-5547-4FD1-9CB2-0D4C9D003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Examples of Artificial Datasets</a:t>
            </a:r>
          </a:p>
        </p:txBody>
      </p:sp>
      <p:pic>
        <p:nvPicPr>
          <p:cNvPr id="5" name="Picture 4" descr="A picture containing indoor&#10;&#10;Description generated with high confidence">
            <a:extLst>
              <a:ext uri="{FF2B5EF4-FFF2-40B4-BE49-F238E27FC236}">
                <a16:creationId xmlns:a16="http://schemas.microsoft.com/office/drawing/2014/main" id="{227FA312-2A42-421A-AC22-0A5C3BADE6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6471" y="2886721"/>
            <a:ext cx="7058025" cy="299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0825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B548674-79EE-412C-AFD7-B75321393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Inference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E18D86-A69F-4D92-B3C4-4606900408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1613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7182E-D9FA-4ECF-ADA4-ADFDA2F7F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PyMC</a:t>
            </a:r>
            <a:r>
              <a:rPr lang="en-US" dirty="0"/>
              <a:t> Inference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A1448F-124A-4E61-B843-B546640CF6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14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4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dirty="0">
                <a:latin typeface="Consolas" panose="020B0609020204030204" pitchFamily="49" charset="0"/>
              </a:rPr>
              <a:t>### Mysterious code to be explained in Chapter 3.</a:t>
            </a:r>
          </a:p>
          <a:p>
            <a:pPr marL="0" indent="0">
              <a:buNone/>
            </a:pPr>
            <a:r>
              <a:rPr lang="en-US" sz="1400" dirty="0">
                <a:latin typeface="Consolas" panose="020B0609020204030204" pitchFamily="49" charset="0"/>
              </a:rPr>
              <a:t>with model:</a:t>
            </a:r>
          </a:p>
          <a:p>
            <a:pPr marL="0" indent="0">
              <a:buNone/>
            </a:pPr>
            <a:r>
              <a:rPr lang="en-US" sz="1400" dirty="0">
                <a:latin typeface="Consolas" panose="020B0609020204030204" pitchFamily="49" charset="0"/>
              </a:rPr>
              <a:t>    step = </a:t>
            </a:r>
            <a:r>
              <a:rPr lang="en-US" sz="1400" dirty="0" err="1">
                <a:latin typeface="Consolas" panose="020B0609020204030204" pitchFamily="49" charset="0"/>
              </a:rPr>
              <a:t>pm.Metropolis</a:t>
            </a:r>
            <a:r>
              <a:rPr lang="en-US" sz="1400" dirty="0"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US" sz="1400" dirty="0">
                <a:latin typeface="Consolas" panose="020B0609020204030204" pitchFamily="49" charset="0"/>
              </a:rPr>
              <a:t>    trace = </a:t>
            </a:r>
            <a:r>
              <a:rPr lang="en-US" sz="1400" dirty="0" err="1">
                <a:latin typeface="Consolas" panose="020B0609020204030204" pitchFamily="49" charset="0"/>
              </a:rPr>
              <a:t>pm.sample</a:t>
            </a:r>
            <a:r>
              <a:rPr lang="en-US" sz="1400" dirty="0">
                <a:latin typeface="Consolas" panose="020B0609020204030204" pitchFamily="49" charset="0"/>
              </a:rPr>
              <a:t>(10000, tune=5000, chains=1, step=step, </a:t>
            </a:r>
            <a:r>
              <a:rPr lang="en-US" sz="1400" dirty="0" err="1">
                <a:latin typeface="Consolas" panose="020B0609020204030204" pitchFamily="49" charset="0"/>
              </a:rPr>
              <a:t>return_inferencedata</a:t>
            </a:r>
            <a:r>
              <a:rPr lang="en-US" sz="1400" dirty="0">
                <a:latin typeface="Consolas" panose="020B0609020204030204" pitchFamily="49" charset="0"/>
              </a:rPr>
              <a:t>=False)</a:t>
            </a:r>
          </a:p>
          <a:p>
            <a:pPr marL="0" indent="0">
              <a:buNone/>
            </a:pPr>
            <a:endParaRPr lang="en-US" sz="14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dirty="0">
                <a:latin typeface="Consolas" panose="020B0609020204030204" pitchFamily="49" charset="0"/>
              </a:rPr>
              <a:t>lambda_1_samples = trace['lambda_1']</a:t>
            </a:r>
          </a:p>
          <a:p>
            <a:pPr marL="0" indent="0">
              <a:buNone/>
            </a:pPr>
            <a:r>
              <a:rPr lang="en-US" sz="1400" dirty="0">
                <a:latin typeface="Consolas" panose="020B0609020204030204" pitchFamily="49" charset="0"/>
              </a:rPr>
              <a:t>lambda_2_samples = trace['lambda_2']</a:t>
            </a:r>
          </a:p>
          <a:p>
            <a:pPr marL="0" indent="0">
              <a:buNone/>
            </a:pPr>
            <a:r>
              <a:rPr lang="en-US" sz="1400" dirty="0" err="1">
                <a:latin typeface="Consolas" panose="020B0609020204030204" pitchFamily="49" charset="0"/>
              </a:rPr>
              <a:t>tau_samples</a:t>
            </a:r>
            <a:r>
              <a:rPr lang="en-US" sz="1400" dirty="0">
                <a:latin typeface="Consolas" panose="020B0609020204030204" pitchFamily="49" charset="0"/>
              </a:rPr>
              <a:t> = trace['tau']</a:t>
            </a:r>
          </a:p>
          <a:p>
            <a:pPr marL="0" indent="0">
              <a:buNone/>
            </a:pPr>
            <a:endParaRPr lang="en-US" sz="14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4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77750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F850633-25CA-40AB-BB2B-2F8821144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Criticism of the Model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E89EB1-EE5D-481B-A728-6537762462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46688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A5030-9711-43BF-9314-58DEDCC47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Inferring </a:t>
            </a:r>
            <a:r>
              <a:rPr lang="en-US" dirty="0" err="1"/>
              <a:t>behaviour</a:t>
            </a:r>
            <a:r>
              <a:rPr lang="en-US" dirty="0"/>
              <a:t> from text-message data: posterior distributions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B7F97B-0C2F-4CCF-B922-4F9E546BBA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0" y="1913638"/>
            <a:ext cx="5651069" cy="4769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24004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C9EC223-A674-4834-BE7C-D4505D09F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2576512"/>
          </a:xfrm>
        </p:spPr>
        <p:txBody>
          <a:bodyPr/>
          <a:lstStyle/>
          <a:p>
            <a:r>
              <a:rPr lang="en-US" sz="3200" dirty="0"/>
              <a:t>Expected number of texts per day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E389EA5-8C71-4212-9730-FA8D2FA120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0684" y="446088"/>
            <a:ext cx="7467993" cy="6295675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1400" dirty="0">
                <a:latin typeface="Consolas" panose="020B0609020204030204" pitchFamily="49" charset="0"/>
              </a:rPr>
              <a:t># </a:t>
            </a:r>
            <a:r>
              <a:rPr lang="en-US" sz="1400" dirty="0" err="1">
                <a:latin typeface="Consolas" panose="020B0609020204030204" pitchFamily="49" charset="0"/>
              </a:rPr>
              <a:t>tau_samples</a:t>
            </a:r>
            <a:r>
              <a:rPr lang="en-US" sz="1400" dirty="0">
                <a:latin typeface="Consolas" panose="020B0609020204030204" pitchFamily="49" charset="0"/>
              </a:rPr>
              <a:t>, lambda_1_samples, lambda_2_samples contain</a:t>
            </a:r>
          </a:p>
          <a:p>
            <a:pPr marL="0" indent="0">
              <a:buNone/>
            </a:pPr>
            <a:r>
              <a:rPr lang="en-US" sz="1400" dirty="0">
                <a:latin typeface="Consolas" panose="020B0609020204030204" pitchFamily="49" charset="0"/>
              </a:rPr>
              <a:t># N samples from the corresponding posterior distribution</a:t>
            </a:r>
          </a:p>
          <a:p>
            <a:pPr marL="0" indent="0">
              <a:buNone/>
            </a:pPr>
            <a:r>
              <a:rPr lang="en-US" sz="1400" dirty="0">
                <a:latin typeface="Consolas" panose="020B0609020204030204" pitchFamily="49" charset="0"/>
              </a:rPr>
              <a:t>N = </a:t>
            </a:r>
            <a:r>
              <a:rPr lang="en-US" sz="1400" dirty="0" err="1">
                <a:latin typeface="Consolas" panose="020B0609020204030204" pitchFamily="49" charset="0"/>
              </a:rPr>
              <a:t>tau_samples.shape</a:t>
            </a:r>
            <a:r>
              <a:rPr lang="en-US" sz="1400" dirty="0">
                <a:latin typeface="Consolas" panose="020B0609020204030204" pitchFamily="49" charset="0"/>
              </a:rPr>
              <a:t>[0]</a:t>
            </a:r>
          </a:p>
          <a:p>
            <a:pPr marL="0" indent="0">
              <a:buNone/>
            </a:pPr>
            <a:r>
              <a:rPr lang="en-US" sz="1400" dirty="0" err="1">
                <a:latin typeface="Consolas" panose="020B0609020204030204" pitchFamily="49" charset="0"/>
              </a:rPr>
              <a:t>expected_texts_per_day</a:t>
            </a:r>
            <a:r>
              <a:rPr lang="en-US" sz="1400" dirty="0">
                <a:latin typeface="Consolas" panose="020B0609020204030204" pitchFamily="49" charset="0"/>
              </a:rPr>
              <a:t> = </a:t>
            </a:r>
            <a:r>
              <a:rPr lang="en-US" sz="1400" dirty="0" err="1">
                <a:latin typeface="Consolas" panose="020B0609020204030204" pitchFamily="49" charset="0"/>
              </a:rPr>
              <a:t>np.zeros</a:t>
            </a:r>
            <a:r>
              <a:rPr lang="en-US" sz="1400" dirty="0">
                <a:latin typeface="Consolas" panose="020B0609020204030204" pitchFamily="49" charset="0"/>
              </a:rPr>
              <a:t>(</a:t>
            </a:r>
            <a:r>
              <a:rPr lang="en-US" sz="1400" dirty="0" err="1">
                <a:latin typeface="Consolas" panose="020B0609020204030204" pitchFamily="49" charset="0"/>
              </a:rPr>
              <a:t>n_count_data</a:t>
            </a:r>
            <a:r>
              <a:rPr lang="en-US" sz="14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400" dirty="0">
                <a:latin typeface="Consolas" panose="020B0609020204030204" pitchFamily="49" charset="0"/>
              </a:rPr>
              <a:t>for day in range(0, </a:t>
            </a:r>
            <a:r>
              <a:rPr lang="en-US" sz="1400" dirty="0" err="1">
                <a:latin typeface="Consolas" panose="020B0609020204030204" pitchFamily="49" charset="0"/>
              </a:rPr>
              <a:t>n_count_data</a:t>
            </a:r>
            <a:r>
              <a:rPr lang="en-US" sz="1400" dirty="0">
                <a:latin typeface="Consolas" panose="020B0609020204030204" pitchFamily="49" charset="0"/>
              </a:rPr>
              <a:t>):</a:t>
            </a:r>
          </a:p>
          <a:p>
            <a:pPr marL="0" indent="0">
              <a:buNone/>
            </a:pPr>
            <a:r>
              <a:rPr lang="en-US" sz="1400" dirty="0">
                <a:latin typeface="Consolas" panose="020B0609020204030204" pitchFamily="49" charset="0"/>
              </a:rPr>
              <a:t>    # ix is a bool index of all tau samples corresponding to</a:t>
            </a:r>
          </a:p>
          <a:p>
            <a:pPr marL="0" indent="0">
              <a:buNone/>
            </a:pPr>
            <a:r>
              <a:rPr lang="en-US" sz="1400" dirty="0">
                <a:latin typeface="Consolas" panose="020B0609020204030204" pitchFamily="49" charset="0"/>
              </a:rPr>
              <a:t>    # the </a:t>
            </a:r>
            <a:r>
              <a:rPr lang="en-US" sz="1400" dirty="0" err="1">
                <a:latin typeface="Consolas" panose="020B0609020204030204" pitchFamily="49" charset="0"/>
              </a:rPr>
              <a:t>switchpoint</a:t>
            </a:r>
            <a:r>
              <a:rPr lang="en-US" sz="1400" dirty="0">
                <a:latin typeface="Consolas" panose="020B0609020204030204" pitchFamily="49" charset="0"/>
              </a:rPr>
              <a:t> occurring prior to value of 'day'</a:t>
            </a:r>
          </a:p>
          <a:p>
            <a:pPr marL="0" indent="0">
              <a:buNone/>
            </a:pPr>
            <a:r>
              <a:rPr lang="en-US" sz="1400" dirty="0">
                <a:latin typeface="Consolas" panose="020B0609020204030204" pitchFamily="49" charset="0"/>
              </a:rPr>
              <a:t>    ix = day &lt; </a:t>
            </a:r>
            <a:r>
              <a:rPr lang="en-US" sz="1400" dirty="0" err="1">
                <a:latin typeface="Consolas" panose="020B0609020204030204" pitchFamily="49" charset="0"/>
              </a:rPr>
              <a:t>tau_samples</a:t>
            </a:r>
            <a:endParaRPr lang="en-US" sz="14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dirty="0">
                <a:latin typeface="Consolas" panose="020B0609020204030204" pitchFamily="49" charset="0"/>
              </a:rPr>
              <a:t>    # Each posterior sample corresponds to a value for tau.</a:t>
            </a:r>
          </a:p>
          <a:p>
            <a:pPr marL="0" indent="0">
              <a:buNone/>
            </a:pPr>
            <a:r>
              <a:rPr lang="en-US" sz="1400" dirty="0">
                <a:latin typeface="Consolas" panose="020B0609020204030204" pitchFamily="49" charset="0"/>
              </a:rPr>
              <a:t>    # for each day, that value of tau indicates whether we're "before"</a:t>
            </a:r>
          </a:p>
          <a:p>
            <a:pPr marL="0" indent="0">
              <a:buNone/>
            </a:pPr>
            <a:r>
              <a:rPr lang="en-US" sz="1400" dirty="0">
                <a:latin typeface="Consolas" panose="020B0609020204030204" pitchFamily="49" charset="0"/>
              </a:rPr>
              <a:t>    # (in the lambda1 "regime") or</a:t>
            </a:r>
          </a:p>
          <a:p>
            <a:pPr marL="0" indent="0">
              <a:buNone/>
            </a:pPr>
            <a:r>
              <a:rPr lang="en-US" sz="1400" dirty="0">
                <a:latin typeface="Consolas" panose="020B0609020204030204" pitchFamily="49" charset="0"/>
              </a:rPr>
              <a:t>    #  "after" (in the lambda2 "regime") the </a:t>
            </a:r>
            <a:r>
              <a:rPr lang="en-US" sz="1400" dirty="0" err="1">
                <a:latin typeface="Consolas" panose="020B0609020204030204" pitchFamily="49" charset="0"/>
              </a:rPr>
              <a:t>switchpoint</a:t>
            </a:r>
            <a:r>
              <a:rPr lang="en-US" sz="1400" dirty="0">
                <a:latin typeface="Consolas" panose="020B0609020204030204" pitchFamily="49" charset="0"/>
              </a:rPr>
              <a:t>.</a:t>
            </a:r>
          </a:p>
          <a:p>
            <a:pPr marL="0" indent="0">
              <a:buNone/>
            </a:pPr>
            <a:r>
              <a:rPr lang="en-US" sz="1400" dirty="0">
                <a:latin typeface="Consolas" panose="020B0609020204030204" pitchFamily="49" charset="0"/>
              </a:rPr>
              <a:t>    # by taking the posterior sample of lambda1/2 accordingly, we can average</a:t>
            </a:r>
          </a:p>
          <a:p>
            <a:pPr marL="0" indent="0">
              <a:buNone/>
            </a:pPr>
            <a:r>
              <a:rPr lang="en-US" sz="1400" dirty="0">
                <a:latin typeface="Consolas" panose="020B0609020204030204" pitchFamily="49" charset="0"/>
              </a:rPr>
              <a:t>    # over all samples to get an expected value for lambda on that day.</a:t>
            </a:r>
          </a:p>
          <a:p>
            <a:pPr marL="0" indent="0">
              <a:buNone/>
            </a:pPr>
            <a:r>
              <a:rPr lang="en-US" sz="1400" dirty="0">
                <a:latin typeface="Consolas" panose="020B0609020204030204" pitchFamily="49" charset="0"/>
              </a:rPr>
              <a:t>    # As explained, the "message count" random variable is Poisson distributed,</a:t>
            </a:r>
          </a:p>
          <a:p>
            <a:pPr marL="0" indent="0">
              <a:buNone/>
            </a:pPr>
            <a:r>
              <a:rPr lang="en-US" sz="1400" dirty="0">
                <a:latin typeface="Consolas" panose="020B0609020204030204" pitchFamily="49" charset="0"/>
              </a:rPr>
              <a:t>    # and therefore lambda (the </a:t>
            </a:r>
            <a:r>
              <a:rPr lang="en-US" sz="1400" dirty="0" err="1">
                <a:latin typeface="Consolas" panose="020B0609020204030204" pitchFamily="49" charset="0"/>
              </a:rPr>
              <a:t>poisson</a:t>
            </a:r>
            <a:r>
              <a:rPr lang="en-US" sz="1400" dirty="0">
                <a:latin typeface="Consolas" panose="020B0609020204030204" pitchFamily="49" charset="0"/>
              </a:rPr>
              <a:t> parameter) is the expected value of</a:t>
            </a:r>
          </a:p>
          <a:p>
            <a:pPr marL="0" indent="0">
              <a:buNone/>
            </a:pPr>
            <a:r>
              <a:rPr lang="en-US" sz="1400" dirty="0">
                <a:latin typeface="Consolas" panose="020B0609020204030204" pitchFamily="49" charset="0"/>
              </a:rPr>
              <a:t>    # "message count".</a:t>
            </a:r>
          </a:p>
          <a:p>
            <a:pPr marL="0" indent="0">
              <a:buNone/>
            </a:pPr>
            <a:r>
              <a:rPr lang="en-US" sz="1400" dirty="0">
                <a:latin typeface="Consolas" panose="020B0609020204030204" pitchFamily="49" charset="0"/>
              </a:rPr>
              <a:t>    </a:t>
            </a:r>
            <a:r>
              <a:rPr lang="en-US" sz="1400" dirty="0" err="1">
                <a:latin typeface="Consolas" panose="020B0609020204030204" pitchFamily="49" charset="0"/>
              </a:rPr>
              <a:t>expected_texts_per_day</a:t>
            </a:r>
            <a:r>
              <a:rPr lang="en-US" sz="1400" dirty="0">
                <a:latin typeface="Consolas" panose="020B0609020204030204" pitchFamily="49" charset="0"/>
              </a:rPr>
              <a:t>[day] = (lambda_1_samples[ix].sum()</a:t>
            </a:r>
          </a:p>
          <a:p>
            <a:pPr marL="0" indent="0">
              <a:buNone/>
            </a:pPr>
            <a:r>
              <a:rPr lang="en-US" sz="1400" dirty="0">
                <a:latin typeface="Consolas" panose="020B0609020204030204" pitchFamily="49" charset="0"/>
              </a:rPr>
              <a:t>                                   + lambda_2_samples[~ix].sum()) / N</a:t>
            </a:r>
          </a:p>
        </p:txBody>
      </p:sp>
    </p:spTree>
    <p:extLst>
      <p:ext uri="{BB962C8B-B14F-4D97-AF65-F5344CB8AC3E}">
        <p14:creationId xmlns:p14="http://schemas.microsoft.com/office/powerpoint/2010/main" val="217485873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DC0E468-4500-4B45-9910-6C7BE596C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Expected number of texts per day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A9AA0EC-2B11-4943-847F-15AC325B13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0092" y="2742634"/>
            <a:ext cx="7343775" cy="324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2751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DE117-AFB7-4FC2-AA48-456920AD6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Determining statistically if the two </a:t>
            </a:r>
            <a:r>
              <a:rPr lang="el-GR" i="1" dirty="0"/>
              <a:t>λ</a:t>
            </a:r>
            <a:r>
              <a:rPr lang="en-US" dirty="0"/>
              <a:t>s are indeed different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8D2D21-37BF-42F4-9A46-0221727CE1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18712" y="2222288"/>
                <a:ext cx="10554574" cy="2194730"/>
              </a:xfrm>
            </p:spPr>
            <p:txBody>
              <a:bodyPr/>
              <a:lstStyle/>
              <a:p>
                <a:pPr algn="just"/>
                <a:r>
                  <a:rPr lang="en-US" dirty="0"/>
                  <a:t>We visually inspected the posteriors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to declare them different. How can we make this decision more formal?</a:t>
                </a:r>
              </a:p>
              <a:p>
                <a:pPr algn="just"/>
                <a:r>
                  <a:rPr lang="en-US" dirty="0"/>
                  <a:t>One way is to 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data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; that is, what is the probability that the true value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is smaller than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given the data we observed. Using samples from the posteriors, this computation is very simple – we compute the fraction of times that a sample from the posterior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is less than one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: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8D2D21-37BF-42F4-9A46-0221727CE1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8712" y="2222288"/>
                <a:ext cx="10554574" cy="2194730"/>
              </a:xfrm>
              <a:blipFill>
                <a:blip r:embed="rId2"/>
                <a:stretch>
                  <a:fillRect l="-58" r="-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444F100E-ACA0-4AB9-A17E-B91B51BDBDBF}"/>
              </a:ext>
            </a:extLst>
          </p:cNvPr>
          <p:cNvSpPr txBox="1"/>
          <p:nvPr/>
        </p:nvSpPr>
        <p:spPr>
          <a:xfrm>
            <a:off x="1926840" y="4604035"/>
            <a:ext cx="5253361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print((lambda_1_samples &lt; lambda_2_samples).mean())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[Output]: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0.9998</a:t>
            </a:r>
          </a:p>
        </p:txBody>
      </p:sp>
    </p:spTree>
    <p:extLst>
      <p:ext uri="{BB962C8B-B14F-4D97-AF65-F5344CB8AC3E}">
        <p14:creationId xmlns:p14="http://schemas.microsoft.com/office/powerpoint/2010/main" val="8020529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EDD4D-F2DC-4A77-8B18-E3492C4C1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Artificial Dataset</a:t>
            </a:r>
          </a:p>
        </p:txBody>
      </p:sp>
      <p:pic>
        <p:nvPicPr>
          <p:cNvPr id="5" name="Picture 4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EF6F9C76-C800-43C4-AB95-83F16471CB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7684" y="1981143"/>
            <a:ext cx="5852172" cy="435255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4E4261E-2133-4F9A-A8EF-E2C9B00D359B}"/>
                  </a:ext>
                </a:extLst>
              </p:cNvPr>
              <p:cNvSpPr txBox="1"/>
              <p:nvPr/>
            </p:nvSpPr>
            <p:spPr>
              <a:xfrm>
                <a:off x="263472" y="3913322"/>
                <a:ext cx="4482317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Artificial data set was generated from </a:t>
                </a:r>
              </a:p>
              <a:p>
                <a:r>
                  <a:rPr lang="en-US" dirty="0"/>
                  <a:t>a Poisson distribution with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=19.255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4E4261E-2133-4F9A-A8EF-E2C9B00D35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472" y="3913322"/>
                <a:ext cx="4482317" cy="646331"/>
              </a:xfrm>
              <a:prstGeom prst="rect">
                <a:avLst/>
              </a:prstGeom>
              <a:blipFill>
                <a:blip r:embed="rId3"/>
                <a:stretch>
                  <a:fillRect l="-1087" t="-5660" r="-136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537897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A5030-9711-43BF-9314-58DEDCC47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Inferring </a:t>
            </a:r>
            <a:r>
              <a:rPr lang="en-US" dirty="0" err="1"/>
              <a:t>behaviour</a:t>
            </a:r>
            <a:r>
              <a:rPr lang="en-US" dirty="0"/>
              <a:t> from artificial data: posterior distributions</a:t>
            </a:r>
          </a:p>
        </p:txBody>
      </p:sp>
      <p:pic>
        <p:nvPicPr>
          <p:cNvPr id="4" name="Picture 3" descr="A screenshot of a cell phone&#10;&#10;Description generated with high confidence">
            <a:extLst>
              <a:ext uri="{FF2B5EF4-FFF2-40B4-BE49-F238E27FC236}">
                <a16:creationId xmlns:a16="http://schemas.microsoft.com/office/drawing/2014/main" id="{04A013F8-D1DC-4AA4-AEAB-49F3414960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4897" y="2046635"/>
            <a:ext cx="5852172" cy="4352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78675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DC0E468-4500-4B45-9910-6C7BE596C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Expected number of texts per day</a:t>
            </a:r>
          </a:p>
        </p:txBody>
      </p:sp>
      <p:pic>
        <p:nvPicPr>
          <p:cNvPr id="3" name="Picture 2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2ED537A7-3240-4E54-96FE-399069944C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6890" y="2136126"/>
            <a:ext cx="5852172" cy="4352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25712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DE117-AFB7-4FC2-AA48-456920AD6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Determining statistically if the two </a:t>
            </a:r>
            <a:r>
              <a:rPr lang="el-GR" i="1" dirty="0"/>
              <a:t>λ</a:t>
            </a:r>
            <a:r>
              <a:rPr lang="en-US" dirty="0"/>
              <a:t>s are indeed different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4F100E-ACA0-4AB9-A17E-B91B51BDBDBF}"/>
              </a:ext>
            </a:extLst>
          </p:cNvPr>
          <p:cNvSpPr txBox="1"/>
          <p:nvPr/>
        </p:nvSpPr>
        <p:spPr>
          <a:xfrm>
            <a:off x="2306548" y="3178190"/>
            <a:ext cx="5253361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print((lambda_1_samples &lt; lambda_2_samples).mean())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[Output]: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0.3962</a:t>
            </a:r>
          </a:p>
        </p:txBody>
      </p:sp>
    </p:spTree>
    <p:extLst>
      <p:ext uri="{BB962C8B-B14F-4D97-AF65-F5344CB8AC3E}">
        <p14:creationId xmlns:p14="http://schemas.microsoft.com/office/powerpoint/2010/main" val="134037500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EB3D6-0EC8-40C5-B9EF-94830181E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Probabilistic Modeling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8B8F8-DB50-47A8-8AD8-1EEE419433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222288"/>
            <a:ext cx="10554574" cy="1590296"/>
          </a:xfrm>
        </p:spPr>
        <p:txBody>
          <a:bodyPr/>
          <a:lstStyle/>
          <a:p>
            <a:r>
              <a:rPr lang="en-US" dirty="0"/>
              <a:t>Build a probabilistic model of the phenomena.</a:t>
            </a:r>
          </a:p>
          <a:p>
            <a:r>
              <a:rPr lang="en-US" dirty="0"/>
              <a:t>Reason about the phenomena given model and data.</a:t>
            </a:r>
          </a:p>
          <a:p>
            <a:r>
              <a:rPr lang="en-US" dirty="0"/>
              <a:t>Criticize the model, revise and repeat.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1AEE05-03FC-49B6-83A8-5072DE9F25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2890" y="3918730"/>
            <a:ext cx="6762750" cy="235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84349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Default">
      <a:dk1>
        <a:srgbClr val="000000"/>
      </a:dk1>
      <a:lt1>
        <a:sysClr val="window" lastClr="FFFFFF"/>
      </a:lt1>
      <a:dk2>
        <a:srgbClr val="3F3F3F"/>
      </a:dk2>
      <a:lt2>
        <a:srgbClr val="E7E6E6"/>
      </a:lt2>
      <a:accent1>
        <a:srgbClr val="700000"/>
      </a:accent1>
      <a:accent2>
        <a:srgbClr val="ED7D31"/>
      </a:accent2>
      <a:accent3>
        <a:srgbClr val="A5A5A5"/>
      </a:accent3>
      <a:accent4>
        <a:srgbClr val="FFC000"/>
      </a:accent4>
      <a:accent5>
        <a:srgbClr val="700000"/>
      </a:accent5>
      <a:accent6>
        <a:srgbClr val="978869"/>
      </a:accent6>
      <a:hlink>
        <a:srgbClr val="FFC000"/>
      </a:hlink>
      <a:folHlink>
        <a:srgbClr val="7F7F7F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ersuasive Speech Outline_SL_v5" id="{5581881B-4813-400F-8DBA-5A98066FCECE}" vid="{804D9012-1EE1-49D9-B1AB-A146B02984B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16B40607B74BC429BA29107EE76F9BC" ma:contentTypeVersion="3" ma:contentTypeDescription="Create a new document." ma:contentTypeScope="" ma:versionID="75b2bfbf6140faaf27348f4bf7ee01cd">
  <xsd:schema xmlns:xsd="http://www.w3.org/2001/XMLSchema" xmlns:xs="http://www.w3.org/2001/XMLSchema" xmlns:p="http://schemas.microsoft.com/office/2006/metadata/properties" xmlns:ns2="3fdd4eb4-493c-48cf-bddf-25f1a88be6fa" targetNamespace="http://schemas.microsoft.com/office/2006/metadata/properties" ma:root="true" ma:fieldsID="188573b7242ae39d8f4654b327a0ab81" ns2:_="">
    <xsd:import namespace="3fdd4eb4-493c-48cf-bddf-25f1a88be6f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dd4eb4-493c-48cf-bddf-25f1a88be6f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A1DE3E1-BE43-4468-8986-14BA0CF36A3F}">
  <ds:schemaRefs>
    <ds:schemaRef ds:uri="http://schemas.microsoft.com/office/2006/documentManagement/types"/>
    <ds:schemaRef ds:uri="http://purl.org/dc/elements/1.1/"/>
    <ds:schemaRef ds:uri="6dc4bcd6-49db-4c07-9060-8acfc67cef9f"/>
    <ds:schemaRef ds:uri="http://schemas.microsoft.com/office/2006/metadata/properties"/>
    <ds:schemaRef ds:uri="http://purl.org/dc/terms/"/>
    <ds:schemaRef ds:uri="http://purl.org/dc/dcmitype/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fb0879af-3eba-417a-a55a-ffe6dcd6ca77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FF7C2A3A-E609-44AA-8AFE-8377659BD029}"/>
</file>

<file path=customXml/itemProps3.xml><?xml version="1.0" encoding="utf-8"?>
<ds:datastoreItem xmlns:ds="http://schemas.openxmlformats.org/officeDocument/2006/customXml" ds:itemID="{0DC75368-59C6-47C9-94A5-81D396CCE5D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Persuasive speech outline </Template>
  <TotalTime>0</TotalTime>
  <Words>2843</Words>
  <Application>Microsoft Office PowerPoint</Application>
  <PresentationFormat>Widescreen</PresentationFormat>
  <Paragraphs>260</Paragraphs>
  <Slides>41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7" baseType="lpstr">
      <vt:lpstr>Calibri</vt:lpstr>
      <vt:lpstr>Cambria Math</vt:lpstr>
      <vt:lpstr>Century Gothic</vt:lpstr>
      <vt:lpstr>Consolas</vt:lpstr>
      <vt:lpstr>Wingdings 2</vt:lpstr>
      <vt:lpstr>Quotable</vt:lpstr>
      <vt:lpstr>Probabilistic Programming</vt:lpstr>
      <vt:lpstr>A More Elaborate “Hello World!”</vt:lpstr>
      <vt:lpstr>Inferring behaviour from text-message data</vt:lpstr>
      <vt:lpstr>How can we start to model this?</vt:lpstr>
      <vt:lpstr>Probability Distributions (Memento)</vt:lpstr>
      <vt:lpstr>Poisson Distribution (Memento)</vt:lpstr>
      <vt:lpstr>Exponential Distribution (Memento)</vt:lpstr>
      <vt:lpstr>Modeling</vt:lpstr>
      <vt:lpstr>How can we start to model this?</vt:lpstr>
      <vt:lpstr>Inferring behaviour from text-message data: prior distributions</vt:lpstr>
      <vt:lpstr>Inferring behaviour from text-message data: prior distributions</vt:lpstr>
      <vt:lpstr>Inferring behaviour from text-message data: prior distributions</vt:lpstr>
      <vt:lpstr>Inferring behaviour from text-message data: prior distributions</vt:lpstr>
      <vt:lpstr>Inferring behaviour from text-message data: prior distributions</vt:lpstr>
      <vt:lpstr>Bayesian modeling is to think about how your data might have been generated</vt:lpstr>
      <vt:lpstr>Bayesian modeling is to think about how your data might have been generated</vt:lpstr>
      <vt:lpstr>The Model</vt:lpstr>
      <vt:lpstr>Generative Models</vt:lpstr>
      <vt:lpstr>Generative Stories</vt:lpstr>
      <vt:lpstr>The Model</vt:lpstr>
      <vt:lpstr>PyMC Modeling</vt:lpstr>
      <vt:lpstr>PyMC Modeling</vt:lpstr>
      <vt:lpstr>Simulation</vt:lpstr>
      <vt:lpstr>PyMC Simulation (the wrong way)</vt:lpstr>
      <vt:lpstr>PyMC Simulation (the correct way)</vt:lpstr>
      <vt:lpstr>Simulation without PyMC</vt:lpstr>
      <vt:lpstr>PyMC Simulation</vt:lpstr>
      <vt:lpstr>Artificial Dataset</vt:lpstr>
      <vt:lpstr>More Examples of Artificial Datasets</vt:lpstr>
      <vt:lpstr>Inference</vt:lpstr>
      <vt:lpstr>PyMC Inference</vt:lpstr>
      <vt:lpstr>Criticism of the Model</vt:lpstr>
      <vt:lpstr>Inferring behaviour from text-message data: posterior distributions</vt:lpstr>
      <vt:lpstr>Expected number of texts per day</vt:lpstr>
      <vt:lpstr>Expected number of texts per day</vt:lpstr>
      <vt:lpstr>Determining statistically if the two λs are indeed different</vt:lpstr>
      <vt:lpstr>Artificial Dataset</vt:lpstr>
      <vt:lpstr>Inferring behaviour from artificial data: posterior distributions</vt:lpstr>
      <vt:lpstr>Expected number of texts per day</vt:lpstr>
      <vt:lpstr>Determining statistically if the two λs are indeed different</vt:lpstr>
      <vt:lpstr>Probabilistic Modeling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2018-09-08T07:39:54Z</dcterms:created>
  <dcterms:modified xsi:type="dcterms:W3CDTF">2025-10-16T05:15:05Z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0x010100416B40607B74BC429BA29107EE76F9BC</vt:lpwstr>
  </property>
</Properties>
</file>